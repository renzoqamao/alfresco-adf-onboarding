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1c4ef33e-4df3-adee-866c-2d1a226acc2b}">
          <p14:sldIdLst>
            <p14:sldId id="256"/>
            <p14:sldId id="257"/>
            <p14:sldId id="258"/>
            <p14:sldId id="259"/>
            <p14:sldId id="260"/>
          </p14:sldIdLst>
        </p14:section>
        <p14:section name="1 · Yeoman" id="{388329bb-430d-ed65-ed30-7d3770f8e69d}">
          <p14:sldIdLst>
            <p14:sldId id="261"/>
            <p14:sldId id="262"/>
            <p14:sldId id="263"/>
            <p14:sldId id="264"/>
          </p14:sldIdLst>
        </p14:section>
        <p14:section name="2 · Generador Nx" id="{5730a39e-f8be-a4c5-2860-7ad355eb5f4d}">
          <p14:sldIdLst>
            <p14:sldId id="265"/>
            <p14:sldId id="266"/>
            <p14:sldId id="267"/>
            <p14:sldId id="268"/>
          </p14:sldIdLst>
        </p14:section>
        <p14:section name="3 · ACA" id="{1b236781-3daa-a062-69bb-24c05893ef9d}">
          <p14:sldIdLst>
            <p14:sldId id="269"/>
            <p14:sldId id="270"/>
            <p14:sldId id="271"/>
            <p14:sldId id="272"/>
          </p14:sldIdLst>
        </p14:section>
        <p14:section name="4 · ADF a mano" id="{474adf14-6ce1-7c44-520e-e452cd3568b6}">
          <p14:sldIdLst>
            <p14:sldId id="273"/>
            <p14:sldId id="274"/>
            <p14:sldId id="275"/>
            <p14:sldId id="276"/>
            <p14:sldId id="277"/>
          </p14:sldIdLst>
        </p14:section>
        <p14:section name="Cierre" id="{9f0a1f35-db35-5948-f912-f431c714533f}">
          <p14:sldIdLst>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Objetivo: que al terminar cada participante sepa elegir y ejecutar la forma correcta de iniciar un proyecto ADF según la versión de Angular que tenga. Todo lo que se muestra se probó en Windows 11 entre el 10 y el 11 de octubre de 2026. El material completo está en el repositorio alfresco-adf-onboarding.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 cuatro formas de arrancar. Mostramos el ejemplo más actual de cada una. Yeoman quedó en Angular 14. El generador Nx es la forma oficial actual pero siempre genera Angular 19. ACA 8.0.0 es la última estable (Angular 20) y master ya está en Angular 21. Para la última versión de Angular (22) solo existe el camino manual.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ADF son librerías Angular que hablan con la API REST de Alfresco Content Services. En desarrollo, la app llama a su propio origen (localhost:4200/alfresco) y el proxy de Angular reenvía a ACS en el 8080. Por eso en app.config.json el ecmHost apunta a la propia app. Sin ACS levantado la app abre, pero el login responde 504.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instalar nada, mirar la versión de Angular del proyecto. Cada fila de esta tabla se probó en el curso: se creó el proyecto, se instaló esa versión de ADF y se abrió el login sin errores. La guía docs/02-matriz-de-versiones.md tiene el detalle.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Node 24 sirve para el generador Nx, ACA 8 y master y ADF a mano con Angular 18, 20 y 22; Node 18 para ACA 4 y 5; Node 16 para Yeoman y ADF a mano con Angular 14 y 16. Los paquetes globales son por versión de Node. Los comandos de Docker no se ejecutaron en las pruebas del curso: todo se probó hasta la pantalla de login, sin backend. ACS tarda varios minutos en arrancar la primera vez; comprobar con curl http://localhost:8080/alfresco/api/-default-/public/alfresco/versions/1/probes/-ready-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Yeoman fue el template clásico. Su última versión es la 6.1.1 y genera Angular 14 con ADF 6.1. No existe para Angular 16, 18, 20 ni 22. Lo vemos para entender proyectos heredados.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punto crítico es deasync. En Windows hace falta Visual Studio Build Tools 2022 con 'Desarrollo para el escritorio con C++'. Con Python 3.12 o superior hay que instalar setuptools. Si no se puede instalar Visual Studio, en dos diapositivas vemos la alternativa que no compila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Comprobado: yo generó el proyecto, npm install terminó y ng serve compiló. En modo semi-automático: yo alfresco-adf-app --name=mi-app --blueprint=adf-cli-acs-template --no-install. El subgenerador de licencia igual pregunta nombre, email y web. El archivo LICENSE queda en la carpeta padre: moverlo con Move-Item ..\LICENSE . si se quiere dentro del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atajo da el mismo resultado que yo, porque el generador no reemplaza nada en la plantilla. Comprobado con Node 16.20.2: npm install y ng build terminan bien. Si aparece 'Could not locate the bindings file' es porque deasync no se compiló: corregir Build Tools o setuptools y reinstalar.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generador Nx reemplaza a Yeoman. Todas sus versiones (1.0.0 a 1.0.4) generan Angular 19.2.6 con ADF 8.0.0 y js-api 9. No tiene opción para elegir otra versión de Angular.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Comprobado con Node 24.19.0 y npm 11.17.0. Sin flags, create-nx-workspace pregunta: Workspace empty, Stack none, Prettier No, CI skip, Remote caching skip. Para una app sin componentes: npx nx g @alfresco/adf-generators:empty-app.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template sale con ecmHost y bpmHost vacíos en proxy.conf.js: hay que completar ecmHost. Con el template automate también se completan las variables OAuth en src/app.config.json. Comprobado: npm install y npm run build terminaron bien.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blog de Hyland Connect y en docs.hyland.com el comando aparece como 'nx generate /adf-generators:...': se perdió @alfresco al publicar. También indican 'npm i -D @angular-devkit/build-angular' antes de instalar: no hace falta y, sin versión, instala la última de Angular y rompe el template. Aquí están los comandos que sí funcionan, todos probados.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ACA es un gestor documental completo hecho con ADF. Se usa como template oficial y se extiende sin modificar su código. Para Angular 14 existe ACA 4.4.1 y para Angular 16 ACA 5.3.0, ambos con Node 18; no hay ACA para Angular 18 ni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Comprobado: ACA 8.0.0 instaló en 40 segundos, compiló en 40 segundos y abrió el login con Angular 20.3.25. Master usa pnpm: con npm el preinstall lo bloquea, por eso se activa pnpm con corepack.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guía 'Deploy Alfresco Content App' de docs.hyland.com indica Node 18, npm y variables APP_CONFIG_*. Probamos cuatro versiones de ACA y todas usan solo BASE_URL. El error de discovery document se comprobó: al quitar el bloque oauth2 de app/src/app.config.json desaparece y el login sigue funcionando. Comando para borrarlo desde la raíz de ACA (probado en PowerShell): node -e "const f='app/src/app.config.json',fs=require('fs'),c=JSON.parse(fs.readFileSync(f));delete c.oauth2;fs.writeFileSync(f,JSON.stringify(c,null,2))" . Si después se quiere usar OAuth (Keycloak), hay que volver a poner ese bloque con los datos del servidor.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Comprobado en ACA 8.0.0: nx add instaló el plugin, el generador creó projects/ext y actualizó app/src/app/extensions.module.ts, app/project.json y tsconfig.json; luego npm install y npx nx build content-ce terminaron bien. El ítem de menú se ve después de iniciar sesión, con ACS levantado. La documentación de ACA (carpeta docs/ y alfresco-content-app.netlify.app) tiene tutoriales de extensiones.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Angular 22 no hay generador ni ACA. Usamos ADF 9.0.0 y funciona sin errores: se probó con Angular 22.2. La guía del repositorio tiene la misma receta para Angular 14, 16, 18 y 20, y el script scripts/probar-angular-adf.sh 22 hace todos estos pasos de una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Comandos completos, tal como se probaron con Angular 22.2 y Node 24.19. Para usar documentos, visor y búsqueda se agrega: npm install @alfresco/adf-content-services@9.0.0.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ADF 9 se configura con provide*() y los componentes son standalone: se importa cada uno (LoginComponent, DocumentListComponent...). provideZoneChangeDetection() es necesario porque Angular 22 crea el proyecto sin zone.js. Probado: el login se abre en Chrome sin errores.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Solo se agregan o cambian esas claves; el resto de angular.json queda como lo generó ng new. Después: npm start y abrir http://localhost:4200. El budget se sube porque ADF supera el límite de 1 MB que trae ng new y sin el cambio ng build falla.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Todos aparecieron en las pruebas. El primero es el más engañoso: si app.config.json queda en src/assets, el servidor devuelve index.html y ADF muestra 'validation errors'. En Angular 14 a 17 el archivo va en src/app.config.json y hay que agregar "src/app.config.json" a assets en angular.json. Si ng add no agrega Material Icons, poner en src/index.html: &lt;link href="https://fonts.googleapis.com/icon?family=Material+Icons" rel="stylesheet"&gt;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Resumen para decidir. Aula moderna: generador Nx o ACA 8.0.0 con Node 24. Proyecto existente: ADF a mano según su Angular. Proyecto heredado en Angular 14: Yeoman o ACA 4.4.1.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Próximos pasos sugeridos: levantar ACS con Docker y hacer el tutorial completo con datos reales; crear una extensión de ACA; practicar agregar ADF a un proyecto Angular propio.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920240"/>
            <a:ext cx="10698480" cy="14630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566160"/>
            <a:ext cx="10698480" cy="1097280"/>
          </a:xfrm>
          <a:prstGeom prst="rect">
            <a:avLst/>
          </a:prstGeom>
          <a:noFill/>
          <a:ln/>
        </p:spPr>
        <p:txBody>
          <a:bodyPr wrap="square" rtlCol="0"/>
          <a:lstStyle>
            <a:lvl1pPr algn="l" indent="0" marL="0">
              <a:buNone/>
              <a:defRPr lang="en-US" sz="2200" dirty="0">
                <a:solidFill>
                  <a:schemeClr val="bg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286000"/>
            <a:ext cx="6035040" cy="11887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611880"/>
            <a:ext cx="603504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Onboarding Alfresco ADF · octubre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4.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4.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4.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3.xml"/><Relationship Id="rId6"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920240"/>
            <a:ext cx="10698480" cy="1463040"/>
          </a:xfrm>
          <a:prstGeom prst="rect">
            <a:avLst/>
          </a:prstGeom>
          <a:noFill/>
          <a:ln/>
        </p:spPr>
        <p:txBody>
          <a:bodyPr wrap="square" lIns="0" tIns="0" rIns="0" bIns="0" rtlCol="0" anchor="b"/>
          <a:lstStyle/>
          <a:p>
            <a:pPr algn="l" indent="0" marL="0">
              <a:buNone/>
            </a:pPr>
            <a:r>
              <a:rPr lang="en-US" sz="4400" b="1" dirty="0">
                <a:solidFill>
                  <a:schemeClr val="bg1"/>
                </a:solidFill>
              </a:rPr>
              <a:t>Cómo iniciar un proyecto Alfresco ADF</a:t>
            </a:r>
            <a:endParaRPr lang="en-US" sz="4400" dirty="0"/>
          </a:p>
        </p:txBody>
      </p:sp>
      <p:sp>
        <p:nvSpPr>
          <p:cNvPr id="3" name="Text 0"/>
          <p:cNvSpPr/>
          <p:nvPr>
            <p:ph idx="101" type="body" hasCustomPrompt="1"/>
          </p:nvPr>
        </p:nvSpPr>
        <p:spPr>
          <a:xfrm>
            <a:off x="731520" y="3566160"/>
            <a:ext cx="10698480" cy="1097280"/>
          </a:xfrm>
          <a:prstGeom prst="rect">
            <a:avLst/>
          </a:prstGeom>
          <a:noFill/>
          <a:ln/>
        </p:spPr>
        <p:txBody>
          <a:bodyPr wrap="square" lIns="0" tIns="0" rIns="0" bIns="0" rtlCol="0" anchor="t"/>
          <a:lstStyle/>
          <a:p>
            <a:pPr algn="l" indent="0" marL="0">
              <a:buNone/>
            </a:pPr>
            <a:r>
              <a:rPr lang="en-US" sz="2200" dirty="0">
                <a:solidFill>
                  <a:schemeClr val="bg2"/>
                </a:solidFill>
              </a:rPr>
              <a:t>Yeoman · Generador Nx · ACA · ADF a mano — el ejemplo más actual de cada camino, paso a paso</a:t>
            </a:r>
            <a:endParaRPr lang="en-US" sz="2200" dirty="0"/>
          </a:p>
        </p:txBody>
      </p:sp>
      <p:sp>
        <p:nvSpPr>
          <p:cNvPr id="4" name="portada-yeoman-circulo"/>
          <p:cNvSpPr/>
          <p:nvPr/>
        </p:nvSpPr>
        <p:spPr>
          <a:xfrm>
            <a:off x="731520" y="5120640"/>
            <a:ext cx="685800" cy="685800"/>
          </a:xfrm>
          <a:prstGeom prst="ellipse">
            <a:avLst/>
          </a:prstGeom>
          <a:solidFill>
            <a:schemeClr val="accent4"/>
          </a:solidFill>
          <a:ln/>
        </p:spPr>
      </p:sp>
      <p:pic>
        <p:nvPicPr>
          <p:cNvPr id="5" name="portada-yeoman-icono" descr="preencoded.png">    </p:cNvPr>
          <p:cNvPicPr>
            <a:picLocks noChangeAspect="1"/>
          </p:cNvPicPr>
          <p:nvPr/>
        </p:nvPicPr>
        <p:blipFill>
          <a:blip r:embed="rId1"/>
          <a:stretch>
            <a:fillRect/>
          </a:stretch>
        </p:blipFill>
        <p:spPr>
          <a:xfrm>
            <a:off x="902970" y="5292090"/>
            <a:ext cx="342900" cy="342900"/>
          </a:xfrm>
          <a:prstGeom prst="rect">
            <a:avLst/>
          </a:prstGeom>
        </p:spPr>
      </p:pic>
      <p:sp>
        <p:nvSpPr>
          <p:cNvPr id="6" name="portada-nx-circulo"/>
          <p:cNvSpPr/>
          <p:nvPr/>
        </p:nvSpPr>
        <p:spPr>
          <a:xfrm>
            <a:off x="1645920" y="5120640"/>
            <a:ext cx="685800" cy="685800"/>
          </a:xfrm>
          <a:prstGeom prst="ellipse">
            <a:avLst/>
          </a:prstGeom>
          <a:solidFill>
            <a:schemeClr val="accent3"/>
          </a:solidFill>
          <a:ln/>
        </p:spPr>
      </p:sp>
      <p:pic>
        <p:nvPicPr>
          <p:cNvPr id="7" name="portada-nx-icono" descr="preencoded.png">    </p:cNvPr>
          <p:cNvPicPr>
            <a:picLocks noChangeAspect="1"/>
          </p:cNvPicPr>
          <p:nvPr/>
        </p:nvPicPr>
        <p:blipFill>
          <a:blip r:embed="rId2"/>
          <a:stretch>
            <a:fillRect/>
          </a:stretch>
        </p:blipFill>
        <p:spPr>
          <a:xfrm>
            <a:off x="1817370" y="5292090"/>
            <a:ext cx="342900" cy="342900"/>
          </a:xfrm>
          <a:prstGeom prst="rect">
            <a:avLst/>
          </a:prstGeom>
        </p:spPr>
      </p:pic>
      <p:sp>
        <p:nvSpPr>
          <p:cNvPr id="8" name="portada-aca-circulo"/>
          <p:cNvSpPr/>
          <p:nvPr/>
        </p:nvSpPr>
        <p:spPr>
          <a:xfrm>
            <a:off x="2560320" y="5120640"/>
            <a:ext cx="685800" cy="685800"/>
          </a:xfrm>
          <a:prstGeom prst="ellipse">
            <a:avLst/>
          </a:prstGeom>
          <a:solidFill>
            <a:schemeClr val="accent2"/>
          </a:solidFill>
          <a:ln/>
        </p:spPr>
      </p:sp>
      <p:pic>
        <p:nvPicPr>
          <p:cNvPr id="9" name="portada-aca-icono" descr="preencoded.png">    </p:cNvPr>
          <p:cNvPicPr>
            <a:picLocks noChangeAspect="1"/>
          </p:cNvPicPr>
          <p:nvPr/>
        </p:nvPicPr>
        <p:blipFill>
          <a:blip r:embed="rId3"/>
          <a:stretch>
            <a:fillRect/>
          </a:stretch>
        </p:blipFill>
        <p:spPr>
          <a:xfrm>
            <a:off x="2731770" y="5292090"/>
            <a:ext cx="342900" cy="342900"/>
          </a:xfrm>
          <a:prstGeom prst="rect">
            <a:avLst/>
          </a:prstGeom>
        </p:spPr>
      </p:pic>
      <p:sp>
        <p:nvSpPr>
          <p:cNvPr id="10" name="portada-manual-circulo"/>
          <p:cNvSpPr/>
          <p:nvPr/>
        </p:nvSpPr>
        <p:spPr>
          <a:xfrm>
            <a:off x="3474720" y="5120640"/>
            <a:ext cx="685800" cy="685800"/>
          </a:xfrm>
          <a:prstGeom prst="ellipse">
            <a:avLst/>
          </a:prstGeom>
          <a:solidFill>
            <a:schemeClr val="accent1"/>
          </a:solidFill>
          <a:ln/>
        </p:spPr>
      </p:sp>
      <p:pic>
        <p:nvPicPr>
          <p:cNvPr id="11" name="portada-manual-icono" descr="preencoded.png">    </p:cNvPr>
          <p:cNvPicPr>
            <a:picLocks noChangeAspect="1"/>
          </p:cNvPicPr>
          <p:nvPr/>
        </p:nvPicPr>
        <p:blipFill>
          <a:blip r:embed="rId4"/>
          <a:stretch>
            <a:fillRect/>
          </a:stretch>
        </p:blipFill>
        <p:spPr>
          <a:xfrm>
            <a:off x="3646170" y="5292090"/>
            <a:ext cx="342900" cy="342900"/>
          </a:xfrm>
          <a:prstGeom prst="rect">
            <a:avLst/>
          </a:prstGeom>
        </p:spPr>
      </p:pic>
      <p:sp>
        <p:nvSpPr>
          <p:cNvPr id="12" name="Text 6"/>
          <p:cNvSpPr txBox="1"/>
          <p:nvPr/>
        </p:nvSpPr>
        <p:spPr>
          <a:xfrm>
            <a:off x="4572000" y="5257800"/>
            <a:ext cx="6858000" cy="411480"/>
          </a:xfrm>
          <a:prstGeom prst="rect">
            <a:avLst/>
          </a:prstGeom>
          <a:noFill/>
          <a:ln/>
        </p:spPr>
        <p:txBody>
          <a:bodyPr wrap="square" lIns="0" tIns="0" rIns="0" bIns="0" rtlCol="0" anchor="ctr"/>
          <a:lstStyle/>
          <a:p>
            <a:pPr algn="r" indent="0" marL="0">
              <a:buNone/>
            </a:pPr>
            <a:r>
              <a:rPr lang="en-US" sz="1600" dirty="0">
                <a:solidFill>
                  <a:schemeClr val="bg2"/>
                </a:solidFill>
              </a:rPr>
              <a:t>Onboarding · octubre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Cuatro caminos para empezar un proyecto ADF</a:t>
            </a:r>
            <a:endParaRPr lang="en-US" sz="3400" dirty="0"/>
          </a:p>
        </p:txBody>
      </p:sp>
      <p:sp>
        <p:nvSpPr>
          <p:cNvPr id="3" name="camino-yeoman"/>
          <p:cNvSpPr/>
          <p:nvPr/>
        </p:nvSpPr>
        <p:spPr>
          <a:xfrm>
            <a:off x="548640" y="1417320"/>
            <a:ext cx="2628900" cy="4663440"/>
          </a:xfrm>
          <a:prstGeom prst="roundRect">
            <a:avLst>
              <a:gd name="adj" fmla="val 3478"/>
            </a:avLst>
          </a:prstGeom>
          <a:solidFill>
            <a:schemeClr val="bg2"/>
          </a:solidFill>
          <a:ln/>
        </p:spPr>
      </p:sp>
      <p:sp>
        <p:nvSpPr>
          <p:cNvPr id="4" name="camino-yeoman-circulo"/>
          <p:cNvSpPr/>
          <p:nvPr/>
        </p:nvSpPr>
        <p:spPr>
          <a:xfrm>
            <a:off x="822960" y="1691640"/>
            <a:ext cx="777240" cy="777240"/>
          </a:xfrm>
          <a:prstGeom prst="ellipse">
            <a:avLst/>
          </a:prstGeom>
          <a:solidFill>
            <a:schemeClr val="accent4"/>
          </a:solidFill>
          <a:ln/>
        </p:spPr>
      </p:sp>
      <p:pic>
        <p:nvPicPr>
          <p:cNvPr id="5" name="camino-yeoman-icono" descr="preencoded.png">    </p:cNvPr>
          <p:cNvPicPr>
            <a:picLocks noChangeAspect="1"/>
          </p:cNvPicPr>
          <p:nvPr/>
        </p:nvPicPr>
        <p:blipFill>
          <a:blip r:embed="rId1"/>
          <a:stretch>
            <a:fillRect/>
          </a:stretch>
        </p:blipFill>
        <p:spPr>
          <a:xfrm>
            <a:off x="1017270" y="1885950"/>
            <a:ext cx="388620" cy="388620"/>
          </a:xfrm>
          <a:prstGeom prst="rect">
            <a:avLst/>
          </a:prstGeom>
        </p:spPr>
      </p:pic>
      <p:sp>
        <p:nvSpPr>
          <p:cNvPr id="6" name="Text 3"/>
          <p:cNvSpPr txBox="1"/>
          <p:nvPr/>
        </p:nvSpPr>
        <p:spPr>
          <a:xfrm>
            <a:off x="822960" y="2651760"/>
            <a:ext cx="2148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Yeoman</a:t>
            </a:r>
            <a:endParaRPr lang="en-US" sz="2200" dirty="0"/>
          </a:p>
        </p:txBody>
      </p:sp>
      <p:sp>
        <p:nvSpPr>
          <p:cNvPr id="7" name="Text 4"/>
          <p:cNvSpPr txBox="1"/>
          <p:nvPr/>
        </p:nvSpPr>
        <p:spPr>
          <a:xfrm>
            <a:off x="822960" y="3154680"/>
            <a:ext cx="2148840" cy="731520"/>
          </a:xfrm>
          <a:prstGeom prst="rect">
            <a:avLst/>
          </a:prstGeom>
          <a:noFill/>
          <a:ln/>
        </p:spPr>
        <p:txBody>
          <a:bodyPr wrap="square" lIns="0" tIns="0" rIns="0" bIns="0" rtlCol="0" anchor="t"/>
          <a:lstStyle/>
          <a:p>
            <a:pPr indent="0" marL="0">
              <a:buNone/>
            </a:pPr>
            <a:r>
              <a:rPr lang="en-US" sz="1400" dirty="0">
                <a:solidFill>
                  <a:schemeClr val="accent6"/>
                </a:solidFill>
              </a:rPr>
              <a:t>generator-alfresco-adf-app 6.1.1</a:t>
            </a:r>
            <a:endParaRPr lang="en-US" sz="1400" dirty="0"/>
          </a:p>
        </p:txBody>
      </p:sp>
      <p:sp>
        <p:nvSpPr>
          <p:cNvPr id="8" name="Text 5"/>
          <p:cNvSpPr txBox="1"/>
          <p:nvPr/>
        </p:nvSpPr>
        <p:spPr>
          <a:xfrm>
            <a:off x="822960" y="3931920"/>
            <a:ext cx="2148840" cy="411480"/>
          </a:xfrm>
          <a:prstGeom prst="rect">
            <a:avLst/>
          </a:prstGeom>
          <a:noFill/>
          <a:ln/>
        </p:spPr>
        <p:txBody>
          <a:bodyPr wrap="square" lIns="0" tIns="0" rIns="0" bIns="0" rtlCol="0" anchor="ctr"/>
          <a:lstStyle/>
          <a:p>
            <a:pPr indent="0" marL="0">
              <a:buNone/>
            </a:pPr>
            <a:r>
              <a:rPr lang="en-US" sz="1600" b="1" dirty="0">
                <a:solidFill>
                  <a:schemeClr val="accent4"/>
                </a:solidFill>
              </a:rPr>
              <a:t>Angular 14 · ADF 6.1</a:t>
            </a:r>
            <a:endParaRPr lang="en-US" sz="1600" dirty="0"/>
          </a:p>
        </p:txBody>
      </p:sp>
      <p:sp>
        <p:nvSpPr>
          <p:cNvPr id="9" name="Text 6"/>
          <p:cNvSpPr txBox="1"/>
          <p:nvPr/>
        </p:nvSpPr>
        <p:spPr>
          <a:xfrm>
            <a:off x="822960" y="4389120"/>
            <a:ext cx="2148840" cy="731520"/>
          </a:xfrm>
          <a:prstGeom prst="rect">
            <a:avLst/>
          </a:prstGeom>
          <a:noFill/>
          <a:ln/>
        </p:spPr>
        <p:txBody>
          <a:bodyPr wrap="square" lIns="0" tIns="0" rIns="0" bIns="0" rtlCol="0" anchor="t"/>
          <a:lstStyle/>
          <a:p>
            <a:pPr indent="0" marL="0">
              <a:buNone/>
            </a:pPr>
            <a:r>
              <a:rPr lang="en-US" sz="1400" dirty="0">
                <a:solidFill>
                  <a:schemeClr val="tx1"/>
                </a:solidFill>
              </a:rPr>
              <a:t>Node 16.20.2</a:t>
            </a:r>
            <a:endParaRPr lang="en-US" sz="1400" dirty="0"/>
          </a:p>
        </p:txBody>
      </p:sp>
      <p:sp>
        <p:nvSpPr>
          <p:cNvPr id="10" name="camino-yeoman-chip"/>
          <p:cNvSpPr/>
          <p:nvPr/>
        </p:nvSpPr>
        <p:spPr>
          <a:xfrm>
            <a:off x="822960" y="5394960"/>
            <a:ext cx="2080260" cy="347472"/>
          </a:xfrm>
          <a:prstGeom prst="roundRect">
            <a:avLst>
              <a:gd name="adj" fmla="val 50000"/>
            </a:avLst>
          </a:prstGeom>
          <a:solidFill>
            <a:schemeClr val="accent6"/>
          </a:solidFill>
          <a:ln/>
        </p:spPr>
      </p:sp>
      <p:sp>
        <p:nvSpPr>
          <p:cNvPr id="11" name="camino-yeoman-chip-texto"/>
          <p:cNvSpPr txBox="1"/>
          <p:nvPr/>
        </p:nvSpPr>
        <p:spPr>
          <a:xfrm>
            <a:off x="822960" y="5394960"/>
            <a:ext cx="2080260" cy="347472"/>
          </a:xfrm>
          <a:prstGeom prst="rect">
            <a:avLst/>
          </a:prstGeom>
          <a:noFill/>
          <a:ln/>
        </p:spPr>
        <p:txBody>
          <a:bodyPr wrap="square" lIns="0" tIns="0" rIns="0" bIns="0" rtlCol="0" anchor="ctr"/>
          <a:lstStyle/>
          <a:p>
            <a:pPr algn="ctr" indent="0" marL="0">
              <a:buNone/>
            </a:pPr>
            <a:r>
              <a:rPr lang="en-US" sz="1200" b="1" dirty="0">
                <a:solidFill>
                  <a:schemeClr val="bg1"/>
                </a:solidFill>
              </a:rPr>
              <a:t>Obsoleto</a:t>
            </a:r>
            <a:endParaRPr lang="en-US" sz="1200" dirty="0"/>
          </a:p>
        </p:txBody>
      </p:sp>
      <p:sp>
        <p:nvSpPr>
          <p:cNvPr id="12" name="camino-nx"/>
          <p:cNvSpPr/>
          <p:nvPr/>
        </p:nvSpPr>
        <p:spPr>
          <a:xfrm>
            <a:off x="3360420" y="1417320"/>
            <a:ext cx="2628900" cy="4663440"/>
          </a:xfrm>
          <a:prstGeom prst="roundRect">
            <a:avLst>
              <a:gd name="adj" fmla="val 3478"/>
            </a:avLst>
          </a:prstGeom>
          <a:solidFill>
            <a:schemeClr val="bg2"/>
          </a:solidFill>
          <a:ln/>
        </p:spPr>
      </p:sp>
      <p:sp>
        <p:nvSpPr>
          <p:cNvPr id="13" name="camino-nx-circulo"/>
          <p:cNvSpPr/>
          <p:nvPr/>
        </p:nvSpPr>
        <p:spPr>
          <a:xfrm>
            <a:off x="3634740" y="1691640"/>
            <a:ext cx="777240" cy="777240"/>
          </a:xfrm>
          <a:prstGeom prst="ellipse">
            <a:avLst/>
          </a:prstGeom>
          <a:solidFill>
            <a:schemeClr val="accent3"/>
          </a:solidFill>
          <a:ln/>
        </p:spPr>
      </p:sp>
      <p:pic>
        <p:nvPicPr>
          <p:cNvPr id="14" name="camino-nx-icono" descr="preencoded.png">    </p:cNvPr>
          <p:cNvPicPr>
            <a:picLocks noChangeAspect="1"/>
          </p:cNvPicPr>
          <p:nvPr/>
        </p:nvPicPr>
        <p:blipFill>
          <a:blip r:embed="rId2"/>
          <a:stretch>
            <a:fillRect/>
          </a:stretch>
        </p:blipFill>
        <p:spPr>
          <a:xfrm>
            <a:off x="3829050" y="1885950"/>
            <a:ext cx="388620" cy="388620"/>
          </a:xfrm>
          <a:prstGeom prst="rect">
            <a:avLst/>
          </a:prstGeom>
        </p:spPr>
      </p:pic>
      <p:sp>
        <p:nvSpPr>
          <p:cNvPr id="15" name="Text 11"/>
          <p:cNvSpPr txBox="1"/>
          <p:nvPr/>
        </p:nvSpPr>
        <p:spPr>
          <a:xfrm>
            <a:off x="3634740" y="2651760"/>
            <a:ext cx="2148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Generador Nx</a:t>
            </a:r>
            <a:endParaRPr lang="en-US" sz="2200" dirty="0"/>
          </a:p>
        </p:txBody>
      </p:sp>
      <p:sp>
        <p:nvSpPr>
          <p:cNvPr id="16" name="Text 12"/>
          <p:cNvSpPr txBox="1"/>
          <p:nvPr/>
        </p:nvSpPr>
        <p:spPr>
          <a:xfrm>
            <a:off x="3634740" y="3154680"/>
            <a:ext cx="2148840" cy="731520"/>
          </a:xfrm>
          <a:prstGeom prst="rect">
            <a:avLst/>
          </a:prstGeom>
          <a:noFill/>
          <a:ln/>
        </p:spPr>
        <p:txBody>
          <a:bodyPr wrap="square" lIns="0" tIns="0" rIns="0" bIns="0" rtlCol="0" anchor="t"/>
          <a:lstStyle/>
          <a:p>
            <a:pPr indent="0" marL="0">
              <a:buNone/>
            </a:pPr>
            <a:r>
              <a:rPr lang="en-US" sz="1400" dirty="0">
                <a:solidFill>
                  <a:schemeClr val="accent6"/>
                </a:solidFill>
              </a:rPr>
              <a:t>@alfresco/adf-generators 1.0.4</a:t>
            </a:r>
            <a:endParaRPr lang="en-US" sz="1400" dirty="0"/>
          </a:p>
        </p:txBody>
      </p:sp>
      <p:sp>
        <p:nvSpPr>
          <p:cNvPr id="17" name="Text 13"/>
          <p:cNvSpPr txBox="1"/>
          <p:nvPr/>
        </p:nvSpPr>
        <p:spPr>
          <a:xfrm>
            <a:off x="3634740" y="3931920"/>
            <a:ext cx="2148840" cy="411480"/>
          </a:xfrm>
          <a:prstGeom prst="rect">
            <a:avLst/>
          </a:prstGeom>
          <a:noFill/>
          <a:ln/>
        </p:spPr>
        <p:txBody>
          <a:bodyPr wrap="square" lIns="0" tIns="0" rIns="0" bIns="0" rtlCol="0" anchor="ctr"/>
          <a:lstStyle/>
          <a:p>
            <a:pPr indent="0" marL="0">
              <a:buNone/>
            </a:pPr>
            <a:r>
              <a:rPr lang="en-US" sz="1600" b="1" dirty="0">
                <a:solidFill>
                  <a:schemeClr val="accent3"/>
                </a:solidFill>
              </a:rPr>
              <a:t>Angular 19 · ADF 8.0</a:t>
            </a:r>
            <a:endParaRPr lang="en-US" sz="1600" dirty="0"/>
          </a:p>
        </p:txBody>
      </p:sp>
      <p:sp>
        <p:nvSpPr>
          <p:cNvPr id="18" name="Text 14"/>
          <p:cNvSpPr txBox="1"/>
          <p:nvPr/>
        </p:nvSpPr>
        <p:spPr>
          <a:xfrm>
            <a:off x="3634740" y="4389120"/>
            <a:ext cx="2148840" cy="731520"/>
          </a:xfrm>
          <a:prstGeom prst="rect">
            <a:avLst/>
          </a:prstGeom>
          <a:noFill/>
          <a:ln/>
        </p:spPr>
        <p:txBody>
          <a:bodyPr wrap="square" lIns="0" tIns="0" rIns="0" bIns="0" rtlCol="0" anchor="t"/>
          <a:lstStyle/>
          <a:p>
            <a:pPr indent="0" marL="0">
              <a:buNone/>
            </a:pPr>
            <a:r>
              <a:rPr lang="en-US" sz="1400" dirty="0">
                <a:solidFill>
                  <a:schemeClr val="tx1"/>
                </a:solidFill>
              </a:rPr>
              <a:t>Node 24</a:t>
            </a:r>
            <a:endParaRPr lang="en-US" sz="1400" dirty="0"/>
          </a:p>
        </p:txBody>
      </p:sp>
      <p:sp>
        <p:nvSpPr>
          <p:cNvPr id="19" name="camino-nx-chip"/>
          <p:cNvSpPr/>
          <p:nvPr/>
        </p:nvSpPr>
        <p:spPr>
          <a:xfrm>
            <a:off x="3634740" y="5394960"/>
            <a:ext cx="2080260" cy="347472"/>
          </a:xfrm>
          <a:prstGeom prst="roundRect">
            <a:avLst>
              <a:gd name="adj" fmla="val 50000"/>
            </a:avLst>
          </a:prstGeom>
          <a:solidFill>
            <a:schemeClr val="accent3"/>
          </a:solidFill>
          <a:ln/>
        </p:spPr>
      </p:sp>
      <p:sp>
        <p:nvSpPr>
          <p:cNvPr id="20" name="camino-nx-chip-texto"/>
          <p:cNvSpPr txBox="1"/>
          <p:nvPr/>
        </p:nvSpPr>
        <p:spPr>
          <a:xfrm>
            <a:off x="3634740" y="5394960"/>
            <a:ext cx="2080260" cy="347472"/>
          </a:xfrm>
          <a:prstGeom prst="rect">
            <a:avLst/>
          </a:prstGeom>
          <a:noFill/>
          <a:ln/>
        </p:spPr>
        <p:txBody>
          <a:bodyPr wrap="square" lIns="0" tIns="0" rIns="0" bIns="0" rtlCol="0" anchor="ctr"/>
          <a:lstStyle/>
          <a:p>
            <a:pPr algn="ctr" indent="0" marL="0">
              <a:buNone/>
            </a:pPr>
            <a:r>
              <a:rPr lang="en-US" sz="1200" b="1" dirty="0">
                <a:solidFill>
                  <a:schemeClr val="bg1"/>
                </a:solidFill>
              </a:rPr>
              <a:t>Oficial actual</a:t>
            </a:r>
            <a:endParaRPr lang="en-US" sz="1200" dirty="0"/>
          </a:p>
        </p:txBody>
      </p:sp>
      <p:sp>
        <p:nvSpPr>
          <p:cNvPr id="21" name="camino-aca"/>
          <p:cNvSpPr/>
          <p:nvPr/>
        </p:nvSpPr>
        <p:spPr>
          <a:xfrm>
            <a:off x="6172200" y="1417320"/>
            <a:ext cx="2628900" cy="4663440"/>
          </a:xfrm>
          <a:prstGeom prst="roundRect">
            <a:avLst>
              <a:gd name="adj" fmla="val 3478"/>
            </a:avLst>
          </a:prstGeom>
          <a:solidFill>
            <a:schemeClr val="bg2"/>
          </a:solidFill>
          <a:ln/>
        </p:spPr>
      </p:sp>
      <p:sp>
        <p:nvSpPr>
          <p:cNvPr id="22" name="camino-aca-circulo"/>
          <p:cNvSpPr/>
          <p:nvPr/>
        </p:nvSpPr>
        <p:spPr>
          <a:xfrm>
            <a:off x="6446520" y="1691640"/>
            <a:ext cx="777240" cy="777240"/>
          </a:xfrm>
          <a:prstGeom prst="ellipse">
            <a:avLst/>
          </a:prstGeom>
          <a:solidFill>
            <a:schemeClr val="accent2"/>
          </a:solidFill>
          <a:ln/>
        </p:spPr>
      </p:sp>
      <p:pic>
        <p:nvPicPr>
          <p:cNvPr id="23" name="camino-aca-icono" descr="preencoded.png">    </p:cNvPr>
          <p:cNvPicPr>
            <a:picLocks noChangeAspect="1"/>
          </p:cNvPicPr>
          <p:nvPr/>
        </p:nvPicPr>
        <p:blipFill>
          <a:blip r:embed="rId3"/>
          <a:stretch>
            <a:fillRect/>
          </a:stretch>
        </p:blipFill>
        <p:spPr>
          <a:xfrm>
            <a:off x="6640830" y="1885950"/>
            <a:ext cx="388620" cy="388620"/>
          </a:xfrm>
          <a:prstGeom prst="rect">
            <a:avLst/>
          </a:prstGeom>
        </p:spPr>
      </p:pic>
      <p:sp>
        <p:nvSpPr>
          <p:cNvPr id="24" name="Text 19"/>
          <p:cNvSpPr txBox="1"/>
          <p:nvPr/>
        </p:nvSpPr>
        <p:spPr>
          <a:xfrm>
            <a:off x="6446520" y="2651760"/>
            <a:ext cx="2148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ACA</a:t>
            </a:r>
            <a:endParaRPr lang="en-US" sz="2200" dirty="0"/>
          </a:p>
        </p:txBody>
      </p:sp>
      <p:sp>
        <p:nvSpPr>
          <p:cNvPr id="25" name="Text 20"/>
          <p:cNvSpPr txBox="1"/>
          <p:nvPr/>
        </p:nvSpPr>
        <p:spPr>
          <a:xfrm>
            <a:off x="6446520" y="3154680"/>
            <a:ext cx="2148840" cy="731520"/>
          </a:xfrm>
          <a:prstGeom prst="rect">
            <a:avLst/>
          </a:prstGeom>
          <a:noFill/>
          <a:ln/>
        </p:spPr>
        <p:txBody>
          <a:bodyPr wrap="square" lIns="0" tIns="0" rIns="0" bIns="0" rtlCol="0" anchor="t"/>
          <a:lstStyle/>
          <a:p>
            <a:pPr indent="0" marL="0">
              <a:buNone/>
            </a:pPr>
            <a:r>
              <a:rPr lang="en-US" sz="1400" dirty="0">
                <a:solidFill>
                  <a:schemeClr val="accent6"/>
                </a:solidFill>
              </a:rPr>
              <a:t>Alfresco Content App 8.0.0</a:t>
            </a:r>
            <a:endParaRPr lang="en-US" sz="1400" dirty="0"/>
          </a:p>
        </p:txBody>
      </p:sp>
      <p:sp>
        <p:nvSpPr>
          <p:cNvPr id="26" name="Text 21"/>
          <p:cNvSpPr txBox="1"/>
          <p:nvPr/>
        </p:nvSpPr>
        <p:spPr>
          <a:xfrm>
            <a:off x="6446520" y="3931920"/>
            <a:ext cx="2148840" cy="411480"/>
          </a:xfrm>
          <a:prstGeom prst="rect">
            <a:avLst/>
          </a:prstGeom>
          <a:noFill/>
          <a:ln/>
        </p:spPr>
        <p:txBody>
          <a:bodyPr wrap="square" lIns="0" tIns="0" rIns="0" bIns="0" rtlCol="0" anchor="ctr"/>
          <a:lstStyle/>
          <a:p>
            <a:pPr indent="0" marL="0">
              <a:buNone/>
            </a:pPr>
            <a:r>
              <a:rPr lang="en-US" sz="1600" b="1" dirty="0">
                <a:solidFill>
                  <a:schemeClr val="accent2"/>
                </a:solidFill>
              </a:rPr>
              <a:t>Angular 20 · ADF 9.0</a:t>
            </a:r>
            <a:endParaRPr lang="en-US" sz="1600" dirty="0"/>
          </a:p>
        </p:txBody>
      </p:sp>
      <p:sp>
        <p:nvSpPr>
          <p:cNvPr id="27" name="Text 22"/>
          <p:cNvSpPr txBox="1"/>
          <p:nvPr/>
        </p:nvSpPr>
        <p:spPr>
          <a:xfrm>
            <a:off x="6446520" y="4389120"/>
            <a:ext cx="2148840" cy="731520"/>
          </a:xfrm>
          <a:prstGeom prst="rect">
            <a:avLst/>
          </a:prstGeom>
          <a:noFill/>
          <a:ln/>
        </p:spPr>
        <p:txBody>
          <a:bodyPr wrap="square" lIns="0" tIns="0" rIns="0" bIns="0" rtlCol="0" anchor="t"/>
          <a:lstStyle/>
          <a:p>
            <a:pPr indent="0" marL="0">
              <a:buNone/>
            </a:pPr>
            <a:r>
              <a:rPr lang="en-US" sz="1400" dirty="0">
                <a:solidFill>
                  <a:schemeClr val="tx1"/>
                </a:solidFill>
              </a:rPr>
              <a:t>Node 24 (master: Angular 21)</a:t>
            </a:r>
            <a:endParaRPr lang="en-US" sz="1400" dirty="0"/>
          </a:p>
        </p:txBody>
      </p:sp>
      <p:sp>
        <p:nvSpPr>
          <p:cNvPr id="28" name="camino-aca-chip"/>
          <p:cNvSpPr/>
          <p:nvPr/>
        </p:nvSpPr>
        <p:spPr>
          <a:xfrm>
            <a:off x="6446520" y="5394960"/>
            <a:ext cx="2080260" cy="347472"/>
          </a:xfrm>
          <a:prstGeom prst="roundRect">
            <a:avLst>
              <a:gd name="adj" fmla="val 50000"/>
            </a:avLst>
          </a:prstGeom>
          <a:solidFill>
            <a:schemeClr val="accent2"/>
          </a:solidFill>
          <a:ln/>
        </p:spPr>
      </p:sp>
      <p:sp>
        <p:nvSpPr>
          <p:cNvPr id="29" name="camino-aca-chip-texto"/>
          <p:cNvSpPr txBox="1"/>
          <p:nvPr/>
        </p:nvSpPr>
        <p:spPr>
          <a:xfrm>
            <a:off x="6446520" y="5394960"/>
            <a:ext cx="2080260" cy="347472"/>
          </a:xfrm>
          <a:prstGeom prst="rect">
            <a:avLst/>
          </a:prstGeom>
          <a:noFill/>
          <a:ln/>
        </p:spPr>
        <p:txBody>
          <a:bodyPr wrap="square" lIns="0" tIns="0" rIns="0" bIns="0" rtlCol="0" anchor="ctr"/>
          <a:lstStyle/>
          <a:p>
            <a:pPr algn="ctr" indent="0" marL="0">
              <a:buNone/>
            </a:pPr>
            <a:r>
              <a:rPr lang="en-US" sz="1200" b="1" dirty="0">
                <a:solidFill>
                  <a:schemeClr val="bg1"/>
                </a:solidFill>
              </a:rPr>
              <a:t>App de referencia</a:t>
            </a:r>
            <a:endParaRPr lang="en-US" sz="1200" dirty="0"/>
          </a:p>
        </p:txBody>
      </p:sp>
      <p:sp>
        <p:nvSpPr>
          <p:cNvPr id="30" name="camino-manual"/>
          <p:cNvSpPr/>
          <p:nvPr/>
        </p:nvSpPr>
        <p:spPr>
          <a:xfrm>
            <a:off x="8983980" y="1417320"/>
            <a:ext cx="2628900" cy="4663440"/>
          </a:xfrm>
          <a:prstGeom prst="roundRect">
            <a:avLst>
              <a:gd name="adj" fmla="val 3478"/>
            </a:avLst>
          </a:prstGeom>
          <a:solidFill>
            <a:schemeClr val="bg2"/>
          </a:solidFill>
          <a:ln/>
        </p:spPr>
      </p:sp>
      <p:sp>
        <p:nvSpPr>
          <p:cNvPr id="31" name="camino-manual-circulo"/>
          <p:cNvSpPr/>
          <p:nvPr/>
        </p:nvSpPr>
        <p:spPr>
          <a:xfrm>
            <a:off x="9258300" y="1691640"/>
            <a:ext cx="777240" cy="777240"/>
          </a:xfrm>
          <a:prstGeom prst="ellipse">
            <a:avLst/>
          </a:prstGeom>
          <a:solidFill>
            <a:schemeClr val="accent1"/>
          </a:solidFill>
          <a:ln/>
        </p:spPr>
      </p:sp>
      <p:pic>
        <p:nvPicPr>
          <p:cNvPr id="32" name="camino-manual-icono" descr="preencoded.png">    </p:cNvPr>
          <p:cNvPicPr>
            <a:picLocks noChangeAspect="1"/>
          </p:cNvPicPr>
          <p:nvPr/>
        </p:nvPicPr>
        <p:blipFill>
          <a:blip r:embed="rId4"/>
          <a:stretch>
            <a:fillRect/>
          </a:stretch>
        </p:blipFill>
        <p:spPr>
          <a:xfrm>
            <a:off x="9452610" y="1885950"/>
            <a:ext cx="388620" cy="388620"/>
          </a:xfrm>
          <a:prstGeom prst="rect">
            <a:avLst/>
          </a:prstGeom>
        </p:spPr>
      </p:pic>
      <p:sp>
        <p:nvSpPr>
          <p:cNvPr id="33" name="Text 27"/>
          <p:cNvSpPr txBox="1"/>
          <p:nvPr/>
        </p:nvSpPr>
        <p:spPr>
          <a:xfrm>
            <a:off x="9258300" y="2651760"/>
            <a:ext cx="2148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ADF a mano</a:t>
            </a:r>
            <a:endParaRPr lang="en-US" sz="2200" dirty="0"/>
          </a:p>
        </p:txBody>
      </p:sp>
      <p:sp>
        <p:nvSpPr>
          <p:cNvPr id="34" name="Text 28"/>
          <p:cNvSpPr txBox="1"/>
          <p:nvPr/>
        </p:nvSpPr>
        <p:spPr>
          <a:xfrm>
            <a:off x="9258300" y="3154680"/>
            <a:ext cx="2148840" cy="731520"/>
          </a:xfrm>
          <a:prstGeom prst="rect">
            <a:avLst/>
          </a:prstGeom>
          <a:noFill/>
          <a:ln/>
        </p:spPr>
        <p:txBody>
          <a:bodyPr wrap="square" lIns="0" tIns="0" rIns="0" bIns="0" rtlCol="0" anchor="t"/>
          <a:lstStyle/>
          <a:p>
            <a:pPr indent="0" marL="0">
              <a:buNone/>
            </a:pPr>
            <a:r>
              <a:rPr lang="en-US" sz="1400" dirty="0">
                <a:solidFill>
                  <a:schemeClr val="accent6"/>
                </a:solidFill>
              </a:rPr>
              <a:t>Angular CLI + paquetes ADF</a:t>
            </a:r>
            <a:endParaRPr lang="en-US" sz="1400" dirty="0"/>
          </a:p>
        </p:txBody>
      </p:sp>
      <p:sp>
        <p:nvSpPr>
          <p:cNvPr id="35" name="Text 29"/>
          <p:cNvSpPr txBox="1"/>
          <p:nvPr/>
        </p:nvSpPr>
        <p:spPr>
          <a:xfrm>
            <a:off x="9258300" y="3931920"/>
            <a:ext cx="2148840" cy="411480"/>
          </a:xfrm>
          <a:prstGeom prst="rect">
            <a:avLst/>
          </a:prstGeom>
          <a:noFill/>
          <a:ln/>
        </p:spPr>
        <p:txBody>
          <a:bodyPr wrap="square" lIns="0" tIns="0" rIns="0" bIns="0" rtlCol="0" anchor="ctr"/>
          <a:lstStyle/>
          <a:p>
            <a:pPr indent="0" marL="0">
              <a:buNone/>
            </a:pPr>
            <a:r>
              <a:rPr lang="en-US" sz="1600" b="1" dirty="0">
                <a:solidFill>
                  <a:schemeClr val="accent1"/>
                </a:solidFill>
              </a:rPr>
              <a:t>Angular 22 · ADF 9.0.0</a:t>
            </a:r>
            <a:endParaRPr lang="en-US" sz="1600" dirty="0"/>
          </a:p>
        </p:txBody>
      </p:sp>
      <p:sp>
        <p:nvSpPr>
          <p:cNvPr id="36" name="Text 30"/>
          <p:cNvSpPr txBox="1"/>
          <p:nvPr/>
        </p:nvSpPr>
        <p:spPr>
          <a:xfrm>
            <a:off x="9258300" y="4389120"/>
            <a:ext cx="2148840" cy="731520"/>
          </a:xfrm>
          <a:prstGeom prst="rect">
            <a:avLst/>
          </a:prstGeom>
          <a:noFill/>
          <a:ln/>
        </p:spPr>
        <p:txBody>
          <a:bodyPr wrap="square" lIns="0" tIns="0" rIns="0" bIns="0" rtlCol="0" anchor="t"/>
          <a:lstStyle/>
          <a:p>
            <a:pPr indent="0" marL="0">
              <a:buNone/>
            </a:pPr>
            <a:r>
              <a:rPr lang="en-US" sz="1400" dirty="0">
                <a:solidFill>
                  <a:schemeClr val="tx1"/>
                </a:solidFill>
              </a:rPr>
              <a:t>Node 24.15+</a:t>
            </a:r>
            <a:endParaRPr lang="en-US" sz="1400" dirty="0"/>
          </a:p>
        </p:txBody>
      </p:sp>
      <p:sp>
        <p:nvSpPr>
          <p:cNvPr id="37" name="camino-manual-chip"/>
          <p:cNvSpPr/>
          <p:nvPr/>
        </p:nvSpPr>
        <p:spPr>
          <a:xfrm>
            <a:off x="9258300" y="5394960"/>
            <a:ext cx="2080260" cy="347472"/>
          </a:xfrm>
          <a:prstGeom prst="roundRect">
            <a:avLst>
              <a:gd name="adj" fmla="val 50000"/>
            </a:avLst>
          </a:prstGeom>
          <a:solidFill>
            <a:schemeClr val="accent1"/>
          </a:solidFill>
          <a:ln/>
        </p:spPr>
      </p:sp>
      <p:sp>
        <p:nvSpPr>
          <p:cNvPr id="38" name="camino-manual-chip-texto"/>
          <p:cNvSpPr txBox="1"/>
          <p:nvPr/>
        </p:nvSpPr>
        <p:spPr>
          <a:xfrm>
            <a:off x="9258300" y="5394960"/>
            <a:ext cx="2080260" cy="347472"/>
          </a:xfrm>
          <a:prstGeom prst="rect">
            <a:avLst/>
          </a:prstGeom>
          <a:noFill/>
          <a:ln/>
        </p:spPr>
        <p:txBody>
          <a:bodyPr wrap="square" lIns="0" tIns="0" rIns="0" bIns="0" rtlCol="0" anchor="ctr"/>
          <a:lstStyle/>
          <a:p>
            <a:pPr algn="ctr" indent="0" marL="0">
              <a:buNone/>
            </a:pPr>
            <a:r>
              <a:rPr lang="en-US" sz="1200" b="1" dirty="0">
                <a:solidFill>
                  <a:schemeClr val="bg1"/>
                </a:solidFill>
              </a:rPr>
              <a:t>Proyectos existentes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Cómo encaja una app ADF con Alfresco</a:t>
            </a:r>
            <a:endParaRPr lang="en-US" sz="3400" dirty="0"/>
          </a:p>
        </p:txBody>
      </p:sp>
      <p:sp>
        <p:nvSpPr>
          <p:cNvPr id="3" name="arq-Navegador"/>
          <p:cNvSpPr/>
          <p:nvPr/>
        </p:nvSpPr>
        <p:spPr>
          <a:xfrm>
            <a:off x="548640" y="1554480"/>
            <a:ext cx="3291840" cy="2377440"/>
          </a:xfrm>
          <a:prstGeom prst="roundRect">
            <a:avLst>
              <a:gd name="adj" fmla="val 3846"/>
            </a:avLst>
          </a:prstGeom>
          <a:solidFill>
            <a:schemeClr val="bg2"/>
          </a:solidFill>
          <a:ln/>
        </p:spPr>
      </p:sp>
      <p:sp>
        <p:nvSpPr>
          <p:cNvPr id="4" name="arq-Navegador-circulo"/>
          <p:cNvSpPr/>
          <p:nvPr/>
        </p:nvSpPr>
        <p:spPr>
          <a:xfrm>
            <a:off x="1828800" y="1783080"/>
            <a:ext cx="731520" cy="731520"/>
          </a:xfrm>
          <a:prstGeom prst="ellipse">
            <a:avLst/>
          </a:prstGeom>
          <a:solidFill>
            <a:schemeClr val="accent1"/>
          </a:solidFill>
          <a:ln/>
        </p:spPr>
      </p:sp>
      <p:pic>
        <p:nvPicPr>
          <p:cNvPr id="5" name="arq-Navegador-icono" descr="preencoded.png">    </p:cNvPr>
          <p:cNvPicPr>
            <a:picLocks noChangeAspect="1"/>
          </p:cNvPicPr>
          <p:nvPr/>
        </p:nvPicPr>
        <p:blipFill>
          <a:blip r:embed="rId1"/>
          <a:stretch>
            <a:fillRect/>
          </a:stretch>
        </p:blipFill>
        <p:spPr>
          <a:xfrm>
            <a:off x="2011680" y="1965960"/>
            <a:ext cx="365760" cy="365760"/>
          </a:xfrm>
          <a:prstGeom prst="rect">
            <a:avLst/>
          </a:prstGeom>
        </p:spPr>
      </p:pic>
      <p:sp>
        <p:nvSpPr>
          <p:cNvPr id="6" name="Text 3"/>
          <p:cNvSpPr txBox="1"/>
          <p:nvPr/>
        </p:nvSpPr>
        <p:spPr>
          <a:xfrm>
            <a:off x="731520" y="2651760"/>
            <a:ext cx="2926080" cy="457200"/>
          </a:xfrm>
          <a:prstGeom prst="rect">
            <a:avLst/>
          </a:prstGeom>
          <a:noFill/>
          <a:ln/>
        </p:spPr>
        <p:txBody>
          <a:bodyPr wrap="square" lIns="0" tIns="0" rIns="0" bIns="0" rtlCol="0" anchor="ctr"/>
          <a:lstStyle/>
          <a:p>
            <a:pPr algn="ctr" indent="0" marL="0">
              <a:buNone/>
            </a:pPr>
            <a:r>
              <a:rPr lang="en-US" sz="2000" b="1" dirty="0">
                <a:solidFill>
                  <a:schemeClr val="tx2"/>
                </a:solidFill>
              </a:rPr>
              <a:t>Navegador</a:t>
            </a:r>
            <a:endParaRPr lang="en-US" sz="2000" dirty="0"/>
          </a:p>
        </p:txBody>
      </p:sp>
      <p:sp>
        <p:nvSpPr>
          <p:cNvPr id="7" name="Text 4"/>
          <p:cNvSpPr txBox="1"/>
          <p:nvPr/>
        </p:nvSpPr>
        <p:spPr>
          <a:xfrm>
            <a:off x="731520" y="3108960"/>
            <a:ext cx="2926080" cy="640080"/>
          </a:xfrm>
          <a:prstGeom prst="rect">
            <a:avLst/>
          </a:prstGeom>
          <a:noFill/>
          <a:ln/>
        </p:spPr>
        <p:txBody>
          <a:bodyPr wrap="square" lIns="0" tIns="0" rIns="0" bIns="0" rtlCol="0" anchor="t"/>
          <a:lstStyle/>
          <a:p>
            <a:pPr algn="ctr" indent="0" marL="0">
              <a:buNone/>
            </a:pPr>
            <a:r>
              <a:rPr lang="en-US" sz="1400" dirty="0">
                <a:solidFill>
                  <a:schemeClr val="tx1"/>
                </a:solidFill>
              </a:rPr>
              <a:t>App Angular + componentes ADF</a:t>
            </a:r>
            <a:endParaRPr lang="en-US" sz="1400" dirty="0"/>
          </a:p>
        </p:txBody>
      </p:sp>
      <p:sp>
        <p:nvSpPr>
          <p:cNvPr id="8" name="arq-ng serve :4200"/>
          <p:cNvSpPr/>
          <p:nvPr/>
        </p:nvSpPr>
        <p:spPr>
          <a:xfrm>
            <a:off x="4434840" y="1554480"/>
            <a:ext cx="3291840" cy="2377440"/>
          </a:xfrm>
          <a:prstGeom prst="roundRect">
            <a:avLst>
              <a:gd name="adj" fmla="val 3846"/>
            </a:avLst>
          </a:prstGeom>
          <a:solidFill>
            <a:schemeClr val="bg2"/>
          </a:solidFill>
          <a:ln/>
        </p:spPr>
      </p:sp>
      <p:sp>
        <p:nvSpPr>
          <p:cNvPr id="9" name="arq-ng serve :4200-circulo"/>
          <p:cNvSpPr/>
          <p:nvPr/>
        </p:nvSpPr>
        <p:spPr>
          <a:xfrm>
            <a:off x="5715000" y="1783080"/>
            <a:ext cx="731520" cy="731520"/>
          </a:xfrm>
          <a:prstGeom prst="ellipse">
            <a:avLst/>
          </a:prstGeom>
          <a:solidFill>
            <a:schemeClr val="accent3"/>
          </a:solidFill>
          <a:ln/>
        </p:spPr>
      </p:sp>
      <p:pic>
        <p:nvPicPr>
          <p:cNvPr id="10" name="arq-ng serve :4200-icono" descr="preencoded.png">    </p:cNvPr>
          <p:cNvPicPr>
            <a:picLocks noChangeAspect="1"/>
          </p:cNvPicPr>
          <p:nvPr/>
        </p:nvPicPr>
        <p:blipFill>
          <a:blip r:embed="rId2"/>
          <a:stretch>
            <a:fillRect/>
          </a:stretch>
        </p:blipFill>
        <p:spPr>
          <a:xfrm>
            <a:off x="5897880" y="1965960"/>
            <a:ext cx="365760" cy="365760"/>
          </a:xfrm>
          <a:prstGeom prst="rect">
            <a:avLst/>
          </a:prstGeom>
        </p:spPr>
      </p:pic>
      <p:sp>
        <p:nvSpPr>
          <p:cNvPr id="11" name="Text 7"/>
          <p:cNvSpPr txBox="1"/>
          <p:nvPr/>
        </p:nvSpPr>
        <p:spPr>
          <a:xfrm>
            <a:off x="4617720" y="2651760"/>
            <a:ext cx="2926080" cy="457200"/>
          </a:xfrm>
          <a:prstGeom prst="rect">
            <a:avLst/>
          </a:prstGeom>
          <a:noFill/>
          <a:ln/>
        </p:spPr>
        <p:txBody>
          <a:bodyPr wrap="square" lIns="0" tIns="0" rIns="0" bIns="0" rtlCol="0" anchor="ctr"/>
          <a:lstStyle/>
          <a:p>
            <a:pPr algn="ctr" indent="0" marL="0">
              <a:buNone/>
            </a:pPr>
            <a:r>
              <a:rPr lang="en-US" sz="2000" b="1" dirty="0">
                <a:solidFill>
                  <a:schemeClr val="tx2"/>
                </a:solidFill>
              </a:rPr>
              <a:t>ng serve :4200</a:t>
            </a:r>
            <a:endParaRPr lang="en-US" sz="2000" dirty="0"/>
          </a:p>
        </p:txBody>
      </p:sp>
      <p:sp>
        <p:nvSpPr>
          <p:cNvPr id="12" name="Text 8"/>
          <p:cNvSpPr txBox="1"/>
          <p:nvPr/>
        </p:nvSpPr>
        <p:spPr>
          <a:xfrm>
            <a:off x="4617720" y="3108960"/>
            <a:ext cx="2926080" cy="640080"/>
          </a:xfrm>
          <a:prstGeom prst="rect">
            <a:avLst/>
          </a:prstGeom>
          <a:noFill/>
          <a:ln/>
        </p:spPr>
        <p:txBody>
          <a:bodyPr wrap="square" lIns="0" tIns="0" rIns="0" bIns="0" rtlCol="0" anchor="t"/>
          <a:lstStyle/>
          <a:p>
            <a:pPr algn="ctr" indent="0" marL="0">
              <a:buNone/>
            </a:pPr>
            <a:r>
              <a:rPr lang="en-US" sz="1400" dirty="0">
                <a:solidFill>
                  <a:schemeClr val="tx1"/>
                </a:solidFill>
              </a:rPr>
              <a:t>Proxy de desarrollo /alfresco</a:t>
            </a:r>
            <a:endParaRPr lang="en-US" sz="1400" dirty="0"/>
          </a:p>
        </p:txBody>
      </p:sp>
      <p:sp>
        <p:nvSpPr>
          <p:cNvPr id="13" name="arq-ACS :8080"/>
          <p:cNvSpPr/>
          <p:nvPr/>
        </p:nvSpPr>
        <p:spPr>
          <a:xfrm>
            <a:off x="8321040" y="1554480"/>
            <a:ext cx="3291840" cy="2377440"/>
          </a:xfrm>
          <a:prstGeom prst="roundRect">
            <a:avLst>
              <a:gd name="adj" fmla="val 3846"/>
            </a:avLst>
          </a:prstGeom>
          <a:solidFill>
            <a:schemeClr val="bg2"/>
          </a:solidFill>
          <a:ln/>
        </p:spPr>
      </p:sp>
      <p:sp>
        <p:nvSpPr>
          <p:cNvPr id="14" name="arq-ACS :8080-circulo"/>
          <p:cNvSpPr/>
          <p:nvPr/>
        </p:nvSpPr>
        <p:spPr>
          <a:xfrm>
            <a:off x="9601200" y="1783080"/>
            <a:ext cx="731520" cy="731520"/>
          </a:xfrm>
          <a:prstGeom prst="ellipse">
            <a:avLst/>
          </a:prstGeom>
          <a:solidFill>
            <a:schemeClr val="accent2"/>
          </a:solidFill>
          <a:ln/>
        </p:spPr>
      </p:sp>
      <p:pic>
        <p:nvPicPr>
          <p:cNvPr id="15" name="arq-ACS :8080-icono" descr="preencoded.png">    </p:cNvPr>
          <p:cNvPicPr>
            <a:picLocks noChangeAspect="1"/>
          </p:cNvPicPr>
          <p:nvPr/>
        </p:nvPicPr>
        <p:blipFill>
          <a:blip r:embed="rId3"/>
          <a:stretch>
            <a:fillRect/>
          </a:stretch>
        </p:blipFill>
        <p:spPr>
          <a:xfrm>
            <a:off x="9784080" y="1965960"/>
            <a:ext cx="365760" cy="365760"/>
          </a:xfrm>
          <a:prstGeom prst="rect">
            <a:avLst/>
          </a:prstGeom>
        </p:spPr>
      </p:pic>
      <p:sp>
        <p:nvSpPr>
          <p:cNvPr id="16" name="Text 11"/>
          <p:cNvSpPr txBox="1"/>
          <p:nvPr/>
        </p:nvSpPr>
        <p:spPr>
          <a:xfrm>
            <a:off x="8503920" y="2651760"/>
            <a:ext cx="2926080" cy="457200"/>
          </a:xfrm>
          <a:prstGeom prst="rect">
            <a:avLst/>
          </a:prstGeom>
          <a:noFill/>
          <a:ln/>
        </p:spPr>
        <p:txBody>
          <a:bodyPr wrap="square" lIns="0" tIns="0" rIns="0" bIns="0" rtlCol="0" anchor="ctr"/>
          <a:lstStyle/>
          <a:p>
            <a:pPr algn="ctr" indent="0" marL="0">
              <a:buNone/>
            </a:pPr>
            <a:r>
              <a:rPr lang="en-US" sz="2000" b="1" dirty="0">
                <a:solidFill>
                  <a:schemeClr val="tx2"/>
                </a:solidFill>
              </a:rPr>
              <a:t>ACS :8080</a:t>
            </a:r>
            <a:endParaRPr lang="en-US" sz="2000" dirty="0"/>
          </a:p>
        </p:txBody>
      </p:sp>
      <p:sp>
        <p:nvSpPr>
          <p:cNvPr id="17" name="Text 12"/>
          <p:cNvSpPr txBox="1"/>
          <p:nvPr/>
        </p:nvSpPr>
        <p:spPr>
          <a:xfrm>
            <a:off x="8503920" y="3108960"/>
            <a:ext cx="2926080" cy="640080"/>
          </a:xfrm>
          <a:prstGeom prst="rect">
            <a:avLst/>
          </a:prstGeom>
          <a:noFill/>
          <a:ln/>
        </p:spPr>
        <p:txBody>
          <a:bodyPr wrap="square" lIns="0" tIns="0" rIns="0" bIns="0" rtlCol="0" anchor="t"/>
          <a:lstStyle/>
          <a:p>
            <a:pPr algn="ctr" indent="0" marL="0">
              <a:buNone/>
            </a:pPr>
            <a:r>
              <a:rPr lang="en-US" sz="1400" dirty="0">
                <a:solidFill>
                  <a:schemeClr val="tx1"/>
                </a:solidFill>
              </a:rPr>
              <a:t>Alfresco Content Services (Docker)</a:t>
            </a:r>
            <a:endParaRPr lang="en-US" sz="1400" dirty="0"/>
          </a:p>
        </p:txBody>
      </p:sp>
      <p:sp>
        <p:nvSpPr>
          <p:cNvPr id="18" name="arq-flecha-4.25"/>
          <p:cNvSpPr/>
          <p:nvPr/>
        </p:nvSpPr>
        <p:spPr>
          <a:xfrm>
            <a:off x="3886200" y="2514600"/>
            <a:ext cx="502920" cy="457200"/>
          </a:xfrm>
          <a:prstGeom prst="rightArrow">
            <a:avLst/>
          </a:prstGeom>
          <a:solidFill>
            <a:schemeClr val="accent6"/>
          </a:solidFill>
          <a:ln/>
        </p:spPr>
      </p:sp>
      <p:sp>
        <p:nvSpPr>
          <p:cNvPr id="19" name="arq-flecha-8.5"/>
          <p:cNvSpPr/>
          <p:nvPr/>
        </p:nvSpPr>
        <p:spPr>
          <a:xfrm>
            <a:off x="7772400" y="2514600"/>
            <a:ext cx="502920" cy="457200"/>
          </a:xfrm>
          <a:prstGeom prst="rightArrow">
            <a:avLst/>
          </a:prstGeom>
          <a:solidFill>
            <a:schemeClr val="accent6"/>
          </a:solidFill>
          <a:ln/>
        </p:spPr>
      </p:sp>
      <p:sp>
        <p:nvSpPr>
          <p:cNvPr id="20" name="Text 15"/>
          <p:cNvSpPr txBox="1"/>
          <p:nvPr/>
        </p:nvSpPr>
        <p:spPr>
          <a:xfrm>
            <a:off x="548640" y="4343400"/>
            <a:ext cx="11064240" cy="457200"/>
          </a:xfrm>
          <a:prstGeom prst="rect">
            <a:avLst/>
          </a:prstGeom>
          <a:noFill/>
          <a:ln/>
        </p:spPr>
        <p:txBody>
          <a:bodyPr wrap="square" lIns="0" tIns="0" rIns="0" bIns="0" rtlCol="0" anchor="ctr"/>
          <a:lstStyle/>
          <a:p>
            <a:pPr indent="0" marL="0">
              <a:buNone/>
            </a:pPr>
            <a:r>
              <a:rPr lang="en-US" sz="1600" b="1" dirty="0">
                <a:solidFill>
                  <a:schemeClr val="tx2"/>
                </a:solidFill>
              </a:rPr>
              <a:t>app.config.json: </a:t>
            </a:r>
            <a:pPr indent="0" marL="0">
              <a:buNone/>
            </a:pPr>
            <a:r>
              <a:rPr lang="en-US" sz="1600" dirty="0">
                <a:solidFill>
                  <a:schemeClr val="tx1"/>
                </a:solidFill>
              </a:rPr>
              <a:t>se lee al arrancar: ecmHost, authType (BASIC/OAUTH), providers (ECM/BPM/ALL)</a:t>
            </a:r>
            <a:endParaRPr lang="en-US" sz="1600" dirty="0"/>
          </a:p>
        </p:txBody>
      </p:sp>
      <p:sp>
        <p:nvSpPr>
          <p:cNvPr id="21" name="Text 16"/>
          <p:cNvSpPr txBox="1"/>
          <p:nvPr/>
        </p:nvSpPr>
        <p:spPr>
          <a:xfrm>
            <a:off x="548640" y="4892040"/>
            <a:ext cx="11064240" cy="457200"/>
          </a:xfrm>
          <a:prstGeom prst="rect">
            <a:avLst/>
          </a:prstGeom>
          <a:noFill/>
          <a:ln/>
        </p:spPr>
        <p:txBody>
          <a:bodyPr wrap="square" lIns="0" tIns="0" rIns="0" bIns="0" rtlCol="0" anchor="ctr"/>
          <a:lstStyle/>
          <a:p>
            <a:pPr indent="0" marL="0">
              <a:buNone/>
            </a:pPr>
            <a:r>
              <a:rPr lang="en-US" sz="1600" b="1" dirty="0">
                <a:solidFill>
                  <a:schemeClr val="tx2"/>
                </a:solidFill>
              </a:rPr>
              <a:t>Proxy: </a:t>
            </a:r>
            <a:pPr indent="0" marL="0">
              <a:buNone/>
            </a:pPr>
            <a:r>
              <a:rPr lang="en-US" sz="1600" dirty="0">
                <a:solidFill>
                  <a:schemeClr val="tx1"/>
                </a:solidFill>
              </a:rPr>
              <a:t>evita CORS en desarrollo; ACA lo configura con BASE_URL en .env</a:t>
            </a:r>
            <a:endParaRPr lang="en-US" sz="1600" dirty="0"/>
          </a:p>
        </p:txBody>
      </p:sp>
      <p:sp>
        <p:nvSpPr>
          <p:cNvPr id="22" name="Text 17"/>
          <p:cNvSpPr txBox="1"/>
          <p:nvPr/>
        </p:nvSpPr>
        <p:spPr>
          <a:xfrm>
            <a:off x="548640" y="5440680"/>
            <a:ext cx="11064240" cy="457200"/>
          </a:xfrm>
          <a:prstGeom prst="rect">
            <a:avLst/>
          </a:prstGeom>
          <a:noFill/>
          <a:ln/>
        </p:spPr>
        <p:txBody>
          <a:bodyPr wrap="square" lIns="0" tIns="0" rIns="0" bIns="0" rtlCol="0" anchor="ctr"/>
          <a:lstStyle/>
          <a:p>
            <a:pPr indent="0" marL="0">
              <a:buNone/>
            </a:pPr>
            <a:r>
              <a:rPr lang="en-US" sz="1600" b="1" dirty="0">
                <a:solidFill>
                  <a:schemeClr val="tx2"/>
                </a:solidFill>
              </a:rPr>
              <a:t>Producción: </a:t>
            </a:r>
            <a:pPr indent="0" marL="0">
              <a:buNone/>
            </a:pPr>
            <a:r>
              <a:rPr lang="en-US" sz="1600" dirty="0">
                <a:solidFill>
                  <a:schemeClr val="tx1"/>
                </a:solidFill>
              </a:rPr>
              <a:t>app y ACS bajo el mismo dominio (Nginx/Traefik) o CORS habilitado en ACS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Regla de oro: el ADF debe corresponder al Angular</a:t>
            </a:r>
            <a:endParaRPr lang="en-US" sz="3400" dirty="0"/>
          </a:p>
        </p:txBody>
      </p:sp>
      <p:sp>
        <p:nvSpPr>
          <p:cNvPr id="3" name="regla-callout"/>
          <p:cNvSpPr/>
          <p:nvPr/>
        </p:nvSpPr>
        <p:spPr>
          <a:xfrm>
            <a:off x="548640" y="1417320"/>
            <a:ext cx="4206240" cy="4663440"/>
          </a:xfrm>
          <a:prstGeom prst="roundRect">
            <a:avLst>
              <a:gd name="adj" fmla="val 2174"/>
            </a:avLst>
          </a:prstGeom>
          <a:solidFill>
            <a:schemeClr val="tx2"/>
          </a:solidFill>
          <a:ln/>
        </p:spPr>
      </p:sp>
      <p:sp>
        <p:nvSpPr>
          <p:cNvPr id="4" name="Text 2"/>
          <p:cNvSpPr txBox="1"/>
          <p:nvPr/>
        </p:nvSpPr>
        <p:spPr>
          <a:xfrm>
            <a:off x="822960" y="1645920"/>
            <a:ext cx="3657600" cy="457200"/>
          </a:xfrm>
          <a:prstGeom prst="rect">
            <a:avLst/>
          </a:prstGeom>
          <a:noFill/>
          <a:ln/>
        </p:spPr>
        <p:txBody>
          <a:bodyPr wrap="square" lIns="0" tIns="0" rIns="0" bIns="0" rtlCol="0" anchor="ctr"/>
          <a:lstStyle/>
          <a:p>
            <a:pPr indent="0" marL="0">
              <a:buNone/>
            </a:pPr>
            <a:r>
              <a:rPr lang="en-US" sz="2000" b="1" dirty="0">
                <a:solidFill>
                  <a:schemeClr val="accent1"/>
                </a:solidFill>
              </a:rPr>
              <a:t>1. ¿Qué Angular tengo?</a:t>
            </a:r>
            <a:endParaRPr lang="en-US" sz="2000" dirty="0"/>
          </a:p>
        </p:txBody>
      </p:sp>
      <p:sp>
        <p:nvSpPr>
          <p:cNvPr id="5" name="Text 3"/>
          <p:cNvSpPr txBox="1"/>
          <p:nvPr/>
        </p:nvSpPr>
        <p:spPr>
          <a:xfrm>
            <a:off x="822960" y="2148840"/>
            <a:ext cx="3657600" cy="822960"/>
          </a:xfrm>
          <a:prstGeom prst="rect">
            <a:avLst/>
          </a:prstGeom>
          <a:noFill/>
          <a:ln/>
        </p:spPr>
        <p:txBody>
          <a:bodyPr wrap="square" lIns="0" tIns="0" rIns="0" bIns="0" rtlCol="0" anchor="t"/>
          <a:lstStyle/>
          <a:p>
            <a:pPr indent="0" marL="0">
              <a:buNone/>
            </a:pPr>
            <a:r>
              <a:rPr lang="en-US" sz="1500" dirty="0">
                <a:solidFill>
                  <a:schemeClr val="bg1"/>
                </a:solidFill>
                <a:latin typeface="Courier New" pitchFamily="34" charset="0"/>
                <a:ea typeface="Courier New" pitchFamily="34" charset="-122"/>
                <a:cs typeface="Courier New" pitchFamily="34" charset="-120"/>
              </a:rPr>
              <a:t>npx ng version</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npm ls @angular/core</a:t>
            </a:r>
            <a:endParaRPr lang="en-US" sz="1500" dirty="0"/>
          </a:p>
        </p:txBody>
      </p:sp>
      <p:sp>
        <p:nvSpPr>
          <p:cNvPr id="6" name="Text 4"/>
          <p:cNvSpPr txBox="1"/>
          <p:nvPr/>
        </p:nvSpPr>
        <p:spPr>
          <a:xfrm>
            <a:off x="822960" y="3154680"/>
            <a:ext cx="3657600" cy="457200"/>
          </a:xfrm>
          <a:prstGeom prst="rect">
            <a:avLst/>
          </a:prstGeom>
          <a:noFill/>
          <a:ln/>
        </p:spPr>
        <p:txBody>
          <a:bodyPr wrap="square" lIns="0" tIns="0" rIns="0" bIns="0" rtlCol="0" anchor="ctr"/>
          <a:lstStyle/>
          <a:p>
            <a:pPr indent="0" marL="0">
              <a:buNone/>
            </a:pPr>
            <a:r>
              <a:rPr lang="en-US" sz="2000" b="1" dirty="0">
                <a:solidFill>
                  <a:schemeClr val="accent1"/>
                </a:solidFill>
              </a:rPr>
              <a:t>2. Busco su fila en la tabla</a:t>
            </a:r>
            <a:endParaRPr lang="en-US" sz="2000" dirty="0"/>
          </a:p>
        </p:txBody>
      </p:sp>
      <p:sp>
        <p:nvSpPr>
          <p:cNvPr id="7" name="Text 5"/>
          <p:cNvSpPr txBox="1"/>
          <p:nvPr/>
        </p:nvSpPr>
        <p:spPr>
          <a:xfrm>
            <a:off x="822960" y="3794760"/>
            <a:ext cx="3657600" cy="822960"/>
          </a:xfrm>
          <a:prstGeom prst="rect">
            <a:avLst/>
          </a:prstGeom>
          <a:noFill/>
          <a:ln/>
        </p:spPr>
        <p:txBody>
          <a:bodyPr wrap="square" lIns="0" tIns="0" rIns="0" bIns="0" rtlCol="0" anchor="t"/>
          <a:lstStyle/>
          <a:p>
            <a:pPr indent="0" marL="0">
              <a:buNone/>
            </a:pPr>
            <a:r>
              <a:rPr lang="en-US" sz="2000" b="1" dirty="0">
                <a:solidFill>
                  <a:schemeClr val="accent1"/>
                </a:solidFill>
              </a:rPr>
              <a:t>3. Instalo exactamente ese ADF y esa js-api</a:t>
            </a:r>
            <a:endParaRPr lang="en-US" sz="2000" dirty="0"/>
          </a:p>
        </p:txBody>
      </p:sp>
      <p:sp>
        <p:nvSpPr>
          <p:cNvPr id="8" name="Text 6"/>
          <p:cNvSpPr txBox="1"/>
          <p:nvPr/>
        </p:nvSpPr>
        <p:spPr>
          <a:xfrm>
            <a:off x="822960" y="4892040"/>
            <a:ext cx="3657600" cy="914400"/>
          </a:xfrm>
          <a:prstGeom prst="rect">
            <a:avLst/>
          </a:prstGeom>
          <a:noFill/>
          <a:ln/>
        </p:spPr>
        <p:txBody>
          <a:bodyPr wrap="square" lIns="0" tIns="0" rIns="0" bIns="0" rtlCol="0" anchor="t"/>
          <a:lstStyle/>
          <a:p>
            <a:pPr indent="0" marL="0">
              <a:buNone/>
            </a:pPr>
            <a:r>
              <a:rPr lang="en-US" sz="1500" i="1" dirty="0">
                <a:solidFill>
                  <a:schemeClr val="bg2"/>
                </a:solidFill>
              </a:rPr>
              <a:t>Si se mezclan versiones: ERESOLVE al instalar o errores al compilar.</a:t>
            </a:r>
            <a:endParaRPr lang="en-US" sz="1500" dirty="0"/>
          </a:p>
        </p:txBody>
      </p:sp>
      <p:graphicFrame>
        <p:nvGraphicFramePr>
          <p:cNvPr id="5" name="regla-tabla"/>
          <p:cNvGraphicFramePr>
            <a:graphicFrameLocks noGrp="1"/>
          </p:cNvGraphicFramePr>
          <p:nvPr>
            <p:extLst>
              <p:ext uri="{D42A27DB-BD31-4B8C-83A1-F6EECF244321}">
                <p14:modId xmlns:p14="http://schemas.microsoft.com/office/powerpoint/2010/main" val="1579011935"/>
              </p:ext>
            </p:extLst>
          </p:nvPr>
        </p:nvGraphicFramePr>
        <p:xfrm>
          <a:off x="5120640" y="1417320"/>
          <a:ext cx="6492240" cy="914400"/>
        </p:xfrm>
        <a:graphic>
          <a:graphicData uri="http://schemas.openxmlformats.org/drawingml/2006/table">
            <a:tbl>
              <a:tblPr/>
              <a:tblGrid>
                <a:gridCol w="1097280"/>
                <a:gridCol w="2286000"/>
                <a:gridCol w="1554480"/>
                <a:gridCol w="1554480"/>
              </a:tblGrid>
              <a:tr h="566928">
                <a:tc>
                  <a:txBody>
                    <a:bodyPr/>
                    <a:lstStyle/>
                    <a:p>
                      <a:pPr indent="0" marL="0">
                        <a:buNone/>
                      </a:pPr>
                      <a:r>
                        <a:rPr lang="en-US" sz="1500" b="1" dirty="0">
                          <a:solidFill>
                            <a:srgbClr val="FFFFFF"/>
                          </a:solidFill>
                        </a:rPr>
                        <a:t>Angular</a:t>
                      </a:r>
                      <a:endParaRPr lang="en-US" sz="15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solidFill>
                      <a:srgbClr val="0B3142"/>
                    </a:solidFill>
                  </a:tcPr>
                </a:tc>
                <a:tc>
                  <a:txBody>
                    <a:bodyPr/>
                    <a:lstStyle/>
                    <a:p>
                      <a:pPr indent="0" marL="0">
                        <a:buNone/>
                      </a:pPr>
                      <a:r>
                        <a:rPr lang="en-US" sz="1500" b="1" dirty="0">
                          <a:solidFill>
                            <a:srgbClr val="FFFFFF"/>
                          </a:solidFill>
                        </a:rPr>
                        <a:t>ADF</a:t>
                      </a:r>
                      <a:endParaRPr lang="en-US" sz="15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solidFill>
                      <a:srgbClr val="0B3142"/>
                    </a:solidFill>
                  </a:tcPr>
                </a:tc>
                <a:tc>
                  <a:txBody>
                    <a:bodyPr/>
                    <a:lstStyle/>
                    <a:p>
                      <a:pPr indent="0" marL="0">
                        <a:buNone/>
                      </a:pPr>
                      <a:r>
                        <a:rPr lang="en-US" sz="1500" b="1" dirty="0">
                          <a:solidFill>
                            <a:srgbClr val="FFFFFF"/>
                          </a:solidFill>
                        </a:rPr>
                        <a:t>js-api</a:t>
                      </a:r>
                      <a:endParaRPr lang="en-US" sz="15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solidFill>
                      <a:srgbClr val="0B3142"/>
                    </a:solidFill>
                  </a:tcPr>
                </a:tc>
                <a:tc>
                  <a:txBody>
                    <a:bodyPr/>
                    <a:lstStyle/>
                    <a:p>
                      <a:pPr indent="0" marL="0">
                        <a:buNone/>
                      </a:pPr>
                      <a:r>
                        <a:rPr lang="en-US" sz="1500" b="1" dirty="0">
                          <a:solidFill>
                            <a:srgbClr val="FFFFFF"/>
                          </a:solidFill>
                        </a:rPr>
                        <a:t>Node probado</a:t>
                      </a:r>
                      <a:endParaRPr lang="en-US" sz="15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solidFill>
                      <a:srgbClr val="0B3142"/>
                    </a:solidFill>
                  </a:tcPr>
                </a:tc>
              </a:tr>
              <a:tr h="566928">
                <a:tc>
                  <a:txBody>
                    <a:bodyPr/>
                    <a:lstStyle/>
                    <a:p>
                      <a:pPr indent="0" marL="0">
                        <a:buNone/>
                      </a:pPr>
                      <a:r>
                        <a:rPr lang="en-US" sz="1500" dirty="0">
                          <a:solidFill>
                            <a:srgbClr val="1B2631"/>
                          </a:solidFill>
                        </a:rPr>
                        <a:t>14</a:t>
                      </a:r>
                      <a:endParaRPr lang="en-US" sz="15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500" dirty="0">
                          <a:solidFill>
                            <a:srgbClr val="1B2631"/>
                          </a:solidFill>
                        </a:rPr>
                        <a:t>6.9.1</a:t>
                      </a:r>
                      <a:endParaRPr lang="en-US" sz="15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500" dirty="0">
                          <a:solidFill>
                            <a:srgbClr val="1B2631"/>
                          </a:solidFill>
                        </a:rPr>
                        <a:t>7.8.1</a:t>
                      </a:r>
                      <a:endParaRPr lang="en-US" sz="15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500" dirty="0">
                          <a:solidFill>
                            <a:srgbClr val="1B2631"/>
                          </a:solidFill>
                        </a:rPr>
                        <a:t>16.20.2</a:t>
                      </a:r>
                      <a:endParaRPr lang="en-US" sz="15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r>
              <a:tr h="566928">
                <a:tc>
                  <a:txBody>
                    <a:bodyPr/>
                    <a:lstStyle/>
                    <a:p>
                      <a:pPr indent="0" marL="0">
                        <a:buNone/>
                      </a:pPr>
                      <a:r>
                        <a:rPr lang="en-US" sz="1500" dirty="0">
                          <a:solidFill>
                            <a:srgbClr val="1B2631"/>
                          </a:solidFill>
                        </a:rPr>
                        <a:t>16</a:t>
                      </a:r>
                      <a:endParaRPr lang="en-US" sz="15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500" dirty="0">
                          <a:solidFill>
                            <a:srgbClr val="1B2631"/>
                          </a:solidFill>
                        </a:rPr>
                        <a:t>7.0.0-alpha.7</a:t>
                      </a:r>
                      <a:endParaRPr lang="en-US" sz="15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500" dirty="0">
                          <a:solidFill>
                            <a:srgbClr val="1B2631"/>
                          </a:solidFill>
                        </a:rPr>
                        <a:t>8.0.0-alpha.7</a:t>
                      </a:r>
                      <a:endParaRPr lang="en-US" sz="15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500" dirty="0">
                          <a:solidFill>
                            <a:srgbClr val="1B2631"/>
                          </a:solidFill>
                        </a:rPr>
                        <a:t>16.20.2</a:t>
                      </a:r>
                      <a:endParaRPr lang="en-US" sz="15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r>
              <a:tr h="566928">
                <a:tc>
                  <a:txBody>
                    <a:bodyPr/>
                    <a:lstStyle/>
                    <a:p>
                      <a:pPr indent="0" marL="0">
                        <a:buNone/>
                      </a:pPr>
                      <a:r>
                        <a:rPr lang="en-US" sz="1500" dirty="0">
                          <a:solidFill>
                            <a:srgbClr val="1B2631"/>
                          </a:solidFill>
                        </a:rPr>
                        <a:t>18</a:t>
                      </a:r>
                      <a:endParaRPr lang="en-US" sz="15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500" dirty="0">
                          <a:solidFill>
                            <a:srgbClr val="1B2631"/>
                          </a:solidFill>
                        </a:rPr>
                        <a:t>7.0.1</a:t>
                      </a:r>
                      <a:endParaRPr lang="en-US" sz="15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500" dirty="0">
                          <a:solidFill>
                            <a:srgbClr val="1B2631"/>
                          </a:solidFill>
                        </a:rPr>
                        <a:t>8.0.1</a:t>
                      </a:r>
                      <a:endParaRPr lang="en-US" sz="15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500" dirty="0">
                          <a:solidFill>
                            <a:srgbClr val="1B2631"/>
                          </a:solidFill>
                        </a:rPr>
                        <a:t>24.19.0</a:t>
                      </a:r>
                      <a:endParaRPr lang="en-US" sz="15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r>
              <a:tr h="566928">
                <a:tc>
                  <a:txBody>
                    <a:bodyPr/>
                    <a:lstStyle/>
                    <a:p>
                      <a:pPr indent="0" marL="0">
                        <a:buNone/>
                      </a:pPr>
                      <a:r>
                        <a:rPr lang="en-US" sz="1500" dirty="0">
                          <a:solidFill>
                            <a:srgbClr val="1B2631"/>
                          </a:solidFill>
                        </a:rPr>
                        <a:t>19</a:t>
                      </a:r>
                      <a:endParaRPr lang="en-US" sz="15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500" dirty="0">
                          <a:solidFill>
                            <a:srgbClr val="1B2631"/>
                          </a:solidFill>
                        </a:rPr>
                        <a:t>8.0.0 (generador Nx)</a:t>
                      </a:r>
                      <a:endParaRPr lang="en-US" sz="15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500" dirty="0">
                          <a:solidFill>
                            <a:srgbClr val="1B2631"/>
                          </a:solidFill>
                        </a:rPr>
                        <a:t>9.0.0</a:t>
                      </a:r>
                      <a:endParaRPr lang="en-US" sz="15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500" dirty="0">
                          <a:solidFill>
                            <a:srgbClr val="1B2631"/>
                          </a:solidFill>
                        </a:rPr>
                        <a:t>24.19.0</a:t>
                      </a:r>
                      <a:endParaRPr lang="en-US" sz="15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r>
              <a:tr h="566928">
                <a:tc>
                  <a:txBody>
                    <a:bodyPr/>
                    <a:lstStyle/>
                    <a:p>
                      <a:pPr indent="0" marL="0">
                        <a:buNone/>
                      </a:pPr>
                      <a:r>
                        <a:rPr lang="en-US" sz="1500" dirty="0">
                          <a:solidFill>
                            <a:srgbClr val="1B2631"/>
                          </a:solidFill>
                        </a:rPr>
                        <a:t>20</a:t>
                      </a:r>
                      <a:endParaRPr lang="en-US" sz="15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500" dirty="0">
                          <a:solidFill>
                            <a:srgbClr val="1B2631"/>
                          </a:solidFill>
                        </a:rPr>
                        <a:t>9.0.0</a:t>
                      </a:r>
                      <a:endParaRPr lang="en-US" sz="15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500" dirty="0">
                          <a:solidFill>
                            <a:srgbClr val="1B2631"/>
                          </a:solidFill>
                        </a:rPr>
                        <a:t>10.0.0</a:t>
                      </a:r>
                      <a:endParaRPr lang="en-US" sz="15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500" dirty="0">
                          <a:solidFill>
                            <a:srgbClr val="1B2631"/>
                          </a:solidFill>
                        </a:rPr>
                        <a:t>24.19.0</a:t>
                      </a:r>
                      <a:endParaRPr lang="en-US" sz="15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r>
              <a:tr h="566928">
                <a:tc>
                  <a:txBody>
                    <a:bodyPr/>
                    <a:lstStyle/>
                    <a:p>
                      <a:pPr indent="0" marL="0">
                        <a:buNone/>
                      </a:pPr>
                      <a:r>
                        <a:rPr lang="en-US" sz="1500" dirty="0">
                          <a:solidFill>
                            <a:srgbClr val="1B2631"/>
                          </a:solidFill>
                        </a:rPr>
                        <a:t>22</a:t>
                      </a:r>
                      <a:endParaRPr lang="en-US" sz="15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500" dirty="0">
                          <a:solidFill>
                            <a:srgbClr val="1B2631"/>
                          </a:solidFill>
                        </a:rPr>
                        <a:t>9.0.0</a:t>
                      </a:r>
                      <a:endParaRPr lang="en-US" sz="15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500" dirty="0">
                          <a:solidFill>
                            <a:srgbClr val="1B2631"/>
                          </a:solidFill>
                        </a:rPr>
                        <a:t>10.0.0</a:t>
                      </a:r>
                      <a:endParaRPr lang="en-US" sz="15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500" dirty="0">
                          <a:solidFill>
                            <a:srgbClr val="1B2631"/>
                          </a:solidFill>
                        </a:rPr>
                        <a:t>24.19.0</a:t>
                      </a:r>
                      <a:endParaRPr lang="en-US" sz="15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r>
            </a:tbl>
          </a:graphicData>
        </a:graphic>
      </p:graphicFrame>
      <p:sp>
        <p:nvSpPr>
          <p:cNvPr id="10" name="Text 7"/>
          <p:cNvSpPr txBox="1"/>
          <p:nvPr/>
        </p:nvSpPr>
        <p:spPr>
          <a:xfrm>
            <a:off x="5120640" y="5577840"/>
            <a:ext cx="6492240" cy="411480"/>
          </a:xfrm>
          <a:prstGeom prst="rect">
            <a:avLst/>
          </a:prstGeom>
          <a:noFill/>
          <a:ln/>
        </p:spPr>
        <p:txBody>
          <a:bodyPr wrap="square" lIns="0" tIns="0" rIns="0" bIns="0" rtlCol="0" anchor="ctr"/>
          <a:lstStyle/>
          <a:p>
            <a:pPr indent="0" marL="0">
              <a:buNone/>
            </a:pPr>
            <a:r>
              <a:rPr lang="en-US" sz="1400" i="1" dirty="0">
                <a:solidFill>
                  <a:schemeClr val="accent6"/>
                </a:solidFill>
              </a:rPr>
              <a:t>Todas las filas se probaron: instalar, compilar y abrir el login.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Preparar el entorno: nvm y ACS en Docker</a:t>
            </a:r>
            <a:endParaRPr lang="en-US" sz="3400" dirty="0"/>
          </a:p>
        </p:txBody>
      </p:sp>
      <p:sp>
        <p:nvSpPr>
          <p:cNvPr id="3" name="env-nvm-circulo"/>
          <p:cNvSpPr/>
          <p:nvPr/>
        </p:nvSpPr>
        <p:spPr>
          <a:xfrm>
            <a:off x="548640" y="1280160"/>
            <a:ext cx="548640" cy="548640"/>
          </a:xfrm>
          <a:prstGeom prst="ellipse">
            <a:avLst/>
          </a:prstGeom>
          <a:solidFill>
            <a:schemeClr val="accent3"/>
          </a:solidFill>
          <a:ln/>
        </p:spPr>
      </p:sp>
      <p:pic>
        <p:nvPicPr>
          <p:cNvPr id="4" name="env-nvm-icono" descr="preencoded.png">    </p:cNvPr>
          <p:cNvPicPr>
            <a:picLocks noChangeAspect="1"/>
          </p:cNvPicPr>
          <p:nvPr/>
        </p:nvPicPr>
        <p:blipFill>
          <a:blip r:embed="rId1"/>
          <a:stretch>
            <a:fillRect/>
          </a:stretch>
        </p:blipFill>
        <p:spPr>
          <a:xfrm>
            <a:off x="685800" y="1417320"/>
            <a:ext cx="274320" cy="274320"/>
          </a:xfrm>
          <a:prstGeom prst="rect">
            <a:avLst/>
          </a:prstGeom>
        </p:spPr>
      </p:pic>
      <p:sp>
        <p:nvSpPr>
          <p:cNvPr id="5" name="Text 2"/>
          <p:cNvSpPr txBox="1"/>
          <p:nvPr/>
        </p:nvSpPr>
        <p:spPr>
          <a:xfrm>
            <a:off x="1234440" y="1280160"/>
            <a:ext cx="2743200" cy="548640"/>
          </a:xfrm>
          <a:prstGeom prst="rect">
            <a:avLst/>
          </a:prstGeom>
          <a:noFill/>
          <a:ln/>
        </p:spPr>
        <p:txBody>
          <a:bodyPr wrap="square" lIns="0" tIns="0" rIns="0" bIns="0" rtlCol="0" anchor="ctr"/>
          <a:lstStyle/>
          <a:p>
            <a:pPr indent="0" marL="0">
              <a:buNone/>
            </a:pPr>
            <a:r>
              <a:rPr lang="en-US" sz="1800" b="1" dirty="0">
                <a:solidFill>
                  <a:schemeClr val="tx2"/>
                </a:solidFill>
              </a:rPr>
              <a:t>nvm (todos)</a:t>
            </a:r>
            <a:endParaRPr lang="en-US" sz="1800" dirty="0"/>
          </a:p>
        </p:txBody>
      </p:sp>
      <p:sp>
        <p:nvSpPr>
          <p:cNvPr id="6" name="env-nvm-fondo"/>
          <p:cNvSpPr/>
          <p:nvPr/>
        </p:nvSpPr>
        <p:spPr>
          <a:xfrm>
            <a:off x="548640" y="1920240"/>
            <a:ext cx="3474720" cy="1965960"/>
          </a:xfrm>
          <a:prstGeom prst="roundRect">
            <a:avLst>
              <a:gd name="adj" fmla="val 3721"/>
            </a:avLst>
          </a:prstGeom>
          <a:solidFill>
            <a:schemeClr val="tx2"/>
          </a:solidFill>
          <a:ln/>
        </p:spPr>
      </p:sp>
      <p:sp>
        <p:nvSpPr>
          <p:cNvPr id="7" name="env-nvm-codigo"/>
          <p:cNvSpPr txBox="1"/>
          <p:nvPr/>
        </p:nvSpPr>
        <p:spPr>
          <a:xfrm>
            <a:off x="777240" y="2084832"/>
            <a:ext cx="3017520" cy="1636776"/>
          </a:xfrm>
          <a:prstGeom prst="rect">
            <a:avLst/>
          </a:prstGeom>
          <a:noFill/>
          <a:ln/>
        </p:spPr>
        <p:txBody>
          <a:bodyPr wrap="square" lIns="0" tIns="0" rIns="0" bIns="0" rtlCol="0" anchor="t"/>
          <a:lstStyle/>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nvm install 24</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nvm install 18.20.8</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nvm install 16.20.2</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nvm use 24</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node -v ; npm -v</a:t>
            </a:r>
            <a:endParaRPr lang="en-US" sz="1400" dirty="0"/>
          </a:p>
        </p:txBody>
      </p:sp>
      <p:sp>
        <p:nvSpPr>
          <p:cNvPr id="8" name="env-docker-circulo"/>
          <p:cNvSpPr/>
          <p:nvPr/>
        </p:nvSpPr>
        <p:spPr>
          <a:xfrm>
            <a:off x="4206240" y="1280160"/>
            <a:ext cx="548640" cy="548640"/>
          </a:xfrm>
          <a:prstGeom prst="ellipse">
            <a:avLst/>
          </a:prstGeom>
          <a:solidFill>
            <a:schemeClr val="accent2"/>
          </a:solidFill>
          <a:ln/>
        </p:spPr>
      </p:sp>
      <p:pic>
        <p:nvPicPr>
          <p:cNvPr id="9" name="env-docker-icono" descr="preencoded.png">    </p:cNvPr>
          <p:cNvPicPr>
            <a:picLocks noChangeAspect="1"/>
          </p:cNvPicPr>
          <p:nvPr/>
        </p:nvPicPr>
        <p:blipFill>
          <a:blip r:embed="rId2"/>
          <a:stretch>
            <a:fillRect/>
          </a:stretch>
        </p:blipFill>
        <p:spPr>
          <a:xfrm>
            <a:off x="4343400" y="1417320"/>
            <a:ext cx="274320" cy="274320"/>
          </a:xfrm>
          <a:prstGeom prst="rect">
            <a:avLst/>
          </a:prstGeom>
        </p:spPr>
      </p:pic>
      <p:sp>
        <p:nvSpPr>
          <p:cNvPr id="10" name="Text 6"/>
          <p:cNvSpPr txBox="1"/>
          <p:nvPr/>
        </p:nvSpPr>
        <p:spPr>
          <a:xfrm>
            <a:off x="4892040" y="1280160"/>
            <a:ext cx="6675120" cy="548640"/>
          </a:xfrm>
          <a:prstGeom prst="rect">
            <a:avLst/>
          </a:prstGeom>
          <a:noFill/>
          <a:ln/>
        </p:spPr>
        <p:txBody>
          <a:bodyPr wrap="square" lIns="0" tIns="0" rIns="0" bIns="0" rtlCol="0" anchor="ctr"/>
          <a:lstStyle/>
          <a:p>
            <a:pPr indent="0" marL="0">
              <a:buNone/>
            </a:pPr>
            <a:r>
              <a:rPr lang="en-US" sz="1800" b="1" dirty="0">
                <a:solidFill>
                  <a:schemeClr val="tx2"/>
                </a:solidFill>
              </a:rPr>
              <a:t>ACS con Docker (8–12 GB de RAM)</a:t>
            </a:r>
            <a:endParaRPr lang="en-US" sz="1800" dirty="0"/>
          </a:p>
        </p:txBody>
      </p:sp>
      <p:sp>
        <p:nvSpPr>
          <p:cNvPr id="11" name="env-docker-fondo"/>
          <p:cNvSpPr/>
          <p:nvPr/>
        </p:nvSpPr>
        <p:spPr>
          <a:xfrm>
            <a:off x="4206240" y="1920240"/>
            <a:ext cx="7406640" cy="1965960"/>
          </a:xfrm>
          <a:prstGeom prst="roundRect">
            <a:avLst>
              <a:gd name="adj" fmla="val 3721"/>
            </a:avLst>
          </a:prstGeom>
          <a:solidFill>
            <a:schemeClr val="tx2"/>
          </a:solidFill>
          <a:ln/>
        </p:spPr>
      </p:sp>
      <p:sp>
        <p:nvSpPr>
          <p:cNvPr id="12" name="env-docker-codigo"/>
          <p:cNvSpPr txBox="1"/>
          <p:nvPr/>
        </p:nvSpPr>
        <p:spPr>
          <a:xfrm>
            <a:off x="4434840" y="2084832"/>
            <a:ext cx="6949440" cy="1636776"/>
          </a:xfrm>
          <a:prstGeom prst="rect">
            <a:avLst/>
          </a:prstGeom>
          <a:noFill/>
          <a:ln/>
        </p:spPr>
        <p:txBody>
          <a:bodyPr wrap="square" lIns="0" tIns="0" rIns="0" bIns="0" rtlCol="0" anchor="t"/>
          <a:lstStyle/>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git clone --depth 1 `</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https://github.com/Alfresco/acs-deployment.git</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cd acs-deployment\docker-compose</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docker compose -f community-compose.yaml up -d</a:t>
            </a:r>
            <a:endParaRPr lang="en-US" sz="1400" dirty="0"/>
          </a:p>
          <a:p>
            <a:pPr indent="0" marL="0">
              <a:spcAft>
                <a:spcPts val="200"/>
              </a:spcAft>
              <a:buNone/>
            </a:pPr>
            <a:r>
              <a:rPr lang="en-US" sz="1400" dirty="0">
                <a:solidFill>
                  <a:schemeClr val="accent1"/>
                </a:solidFill>
                <a:latin typeface="Courier New" pitchFamily="34" charset="0"/>
                <a:ea typeface="Courier New" pitchFamily="34" charset="-122"/>
                <a:cs typeface="Courier New" pitchFamily="34" charset="-120"/>
              </a:rPr>
              <a:t># usuario admin / admin</a:t>
            </a:r>
            <a:endParaRPr lang="en-US" sz="1400" dirty="0"/>
          </a:p>
        </p:txBody>
      </p:sp>
      <p:sp>
        <p:nvSpPr>
          <p:cNvPr id="13" name="env-yo-circulo"/>
          <p:cNvSpPr/>
          <p:nvPr/>
        </p:nvSpPr>
        <p:spPr>
          <a:xfrm>
            <a:off x="548640" y="4069080"/>
            <a:ext cx="548640" cy="548640"/>
          </a:xfrm>
          <a:prstGeom prst="ellipse">
            <a:avLst/>
          </a:prstGeom>
          <a:solidFill>
            <a:schemeClr val="accent4"/>
          </a:solidFill>
          <a:ln/>
        </p:spPr>
      </p:sp>
      <p:pic>
        <p:nvPicPr>
          <p:cNvPr id="14" name="env-yo-icono" descr="preencoded.png">    </p:cNvPr>
          <p:cNvPicPr>
            <a:picLocks noChangeAspect="1"/>
          </p:cNvPicPr>
          <p:nvPr/>
        </p:nvPicPr>
        <p:blipFill>
          <a:blip r:embed="rId3"/>
          <a:stretch>
            <a:fillRect/>
          </a:stretch>
        </p:blipFill>
        <p:spPr>
          <a:xfrm>
            <a:off x="685800" y="4206240"/>
            <a:ext cx="274320" cy="274320"/>
          </a:xfrm>
          <a:prstGeom prst="rect">
            <a:avLst/>
          </a:prstGeom>
        </p:spPr>
      </p:pic>
      <p:sp>
        <p:nvSpPr>
          <p:cNvPr id="15" name="Text 10"/>
          <p:cNvSpPr txBox="1"/>
          <p:nvPr/>
        </p:nvSpPr>
        <p:spPr>
          <a:xfrm>
            <a:off x="1234440" y="4069080"/>
            <a:ext cx="10332720" cy="548640"/>
          </a:xfrm>
          <a:prstGeom prst="rect">
            <a:avLst/>
          </a:prstGeom>
          <a:noFill/>
          <a:ln/>
        </p:spPr>
        <p:txBody>
          <a:bodyPr wrap="square" lIns="0" tIns="0" rIns="0" bIns="0" rtlCol="0" anchor="ctr"/>
          <a:lstStyle/>
          <a:p>
            <a:pPr indent="0" marL="0">
              <a:buNone/>
            </a:pPr>
            <a:r>
              <a:rPr lang="en-US" sz="1800" b="1" dirty="0">
                <a:solidFill>
                  <a:schemeClr val="tx2"/>
                </a:solidFill>
              </a:rPr>
              <a:t>Solo para Yeoman: Visual Studio Build Tools 2022 + Python setuptools</a:t>
            </a:r>
            <a:endParaRPr lang="en-US" sz="1800" dirty="0"/>
          </a:p>
        </p:txBody>
      </p:sp>
      <p:sp>
        <p:nvSpPr>
          <p:cNvPr id="16" name="env-yo-fondo"/>
          <p:cNvSpPr/>
          <p:nvPr/>
        </p:nvSpPr>
        <p:spPr>
          <a:xfrm>
            <a:off x="548640" y="4709160"/>
            <a:ext cx="11064240" cy="1554480"/>
          </a:xfrm>
          <a:prstGeom prst="roundRect">
            <a:avLst>
              <a:gd name="adj" fmla="val 4706"/>
            </a:avLst>
          </a:prstGeom>
          <a:solidFill>
            <a:schemeClr val="tx2"/>
          </a:solidFill>
          <a:ln/>
        </p:spPr>
      </p:sp>
      <p:sp>
        <p:nvSpPr>
          <p:cNvPr id="17" name="env-yo-codigo"/>
          <p:cNvSpPr txBox="1"/>
          <p:nvPr/>
        </p:nvSpPr>
        <p:spPr>
          <a:xfrm>
            <a:off x="777240" y="4873752"/>
            <a:ext cx="10607040" cy="1225296"/>
          </a:xfrm>
          <a:prstGeom prst="rect">
            <a:avLst/>
          </a:prstGeom>
          <a:noFill/>
          <a:ln/>
        </p:spPr>
        <p:txBody>
          <a:bodyPr wrap="square" lIns="0" tIns="0" rIns="0" bIns="0" rtlCol="0" anchor="t"/>
          <a:lstStyle/>
          <a:p>
            <a:pPr indent="0" marL="0">
              <a:spcAft>
                <a:spcPts val="200"/>
              </a:spcAft>
              <a:buNone/>
            </a:pPr>
            <a:r>
              <a:rPr lang="en-US" sz="1300" dirty="0">
                <a:solidFill>
                  <a:schemeClr val="accent1"/>
                </a:solidFill>
                <a:latin typeface="Courier New" pitchFamily="34" charset="0"/>
                <a:ea typeface="Courier New" pitchFamily="34" charset="-122"/>
                <a:cs typeface="Courier New" pitchFamily="34" charset="-120"/>
              </a:rPr>
              <a:t># PowerShell como administrador</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winget install --id Microsoft.VisualStudio.2022.BuildTools `</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  --override "--wait --passive --add Microsoft.VisualStudio.Workload.VCTools --includeRecommended"</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python -m pip install setuptools</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npm config set msvs_version 2022</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731520" y="2286000"/>
            <a:ext cx="6035040" cy="1188720"/>
          </a:xfrm>
          <a:prstGeom prst="rect">
            <a:avLst/>
          </a:prstGeom>
          <a:noFill/>
          <a:ln/>
        </p:spPr>
        <p:txBody>
          <a:bodyPr wrap="square" lIns="0" tIns="0" rIns="0" bIns="0" rtlCol="0" anchor="b"/>
          <a:lstStyle/>
          <a:p>
            <a:pPr algn="l" indent="0" marL="0">
              <a:buNone/>
            </a:pPr>
            <a:r>
              <a:rPr lang="en-US" sz="4000" b="1" dirty="0">
                <a:solidFill>
                  <a:schemeClr val="bg1"/>
                </a:solidFill>
              </a:rPr>
              <a:t>1 · Yeoman</a:t>
            </a:r>
            <a:endParaRPr lang="en-US" sz="4000" dirty="0"/>
          </a:p>
        </p:txBody>
      </p:sp>
      <p:sp>
        <p:nvSpPr>
          <p:cNvPr id="3" name="Text 0"/>
          <p:cNvSpPr/>
          <p:nvPr>
            <p:ph idx="101" type="body" hasCustomPrompt="1"/>
          </p:nvPr>
        </p:nvSpPr>
        <p:spPr>
          <a:xfrm>
            <a:off x="731520" y="3611880"/>
            <a:ext cx="6035040" cy="1463040"/>
          </a:xfrm>
          <a:prstGeom prst="rect">
            <a:avLst/>
          </a:prstGeom>
          <a:noFill/>
          <a:ln/>
        </p:spPr>
        <p:txBody>
          <a:bodyPr wrap="square" lIns="0" tIns="0" rIns="0" bIns="0" rtlCol="0" anchor="t"/>
          <a:lstStyle/>
          <a:p>
            <a:pPr algn="l" indent="0" marL="0">
              <a:buNone/>
            </a:pPr>
            <a:r>
              <a:rPr lang="en-US" sz="2000" dirty="0">
                <a:solidFill>
                  <a:schemeClr val="bg2"/>
                </a:solidFill>
              </a:rPr>
              <a:t>generator-alfresco-adf-app 6.1.1 (junio 2023). Obsoleto: sirve para mantener proyectos antiguos.</a:t>
            </a:r>
            <a:endParaRPr lang="en-US" sz="2000" dirty="0"/>
          </a:p>
        </p:txBody>
      </p:sp>
      <p:sp>
        <p:nvSpPr>
          <p:cNvPr id="4" name="seccion-circulo"/>
          <p:cNvSpPr/>
          <p:nvPr/>
        </p:nvSpPr>
        <p:spPr>
          <a:xfrm>
            <a:off x="731520" y="1051560"/>
            <a:ext cx="1005840" cy="1005840"/>
          </a:xfrm>
          <a:prstGeom prst="ellipse">
            <a:avLst/>
          </a:prstGeom>
          <a:solidFill>
            <a:schemeClr val="accent4"/>
          </a:solidFill>
          <a:ln/>
        </p:spPr>
      </p:sp>
      <p:pic>
        <p:nvPicPr>
          <p:cNvPr id="5" name="seccion-icono" descr="preencoded.png">    </p:cNvPr>
          <p:cNvPicPr>
            <a:picLocks noChangeAspect="1"/>
          </p:cNvPicPr>
          <p:nvPr/>
        </p:nvPicPr>
        <p:blipFill>
          <a:blip r:embed="rId1"/>
          <a:stretch>
            <a:fillRect/>
          </a:stretch>
        </p:blipFill>
        <p:spPr>
          <a:xfrm>
            <a:off x="982980" y="1303020"/>
            <a:ext cx="502920" cy="502920"/>
          </a:xfrm>
          <a:prstGeom prst="rect">
            <a:avLst/>
          </a:prstGeom>
        </p:spPr>
      </p:pic>
      <p:sp>
        <p:nvSpPr>
          <p:cNvPr id="6" name="seccion-dato"/>
          <p:cNvSpPr/>
          <p:nvPr/>
        </p:nvSpPr>
        <p:spPr>
          <a:xfrm>
            <a:off x="7498080" y="1828800"/>
            <a:ext cx="3931920" cy="3200400"/>
          </a:xfrm>
          <a:prstGeom prst="roundRect">
            <a:avLst>
              <a:gd name="adj" fmla="val 4286"/>
            </a:avLst>
          </a:prstGeom>
          <a:solidFill>
            <a:schemeClr val="accent4"/>
          </a:solidFill>
          <a:ln/>
        </p:spPr>
      </p:sp>
      <p:sp>
        <p:nvSpPr>
          <p:cNvPr id="7" name="Text 4"/>
          <p:cNvSpPr txBox="1"/>
          <p:nvPr/>
        </p:nvSpPr>
        <p:spPr>
          <a:xfrm>
            <a:off x="7680960" y="2103120"/>
            <a:ext cx="3566160" cy="1737360"/>
          </a:xfrm>
          <a:prstGeom prst="rect">
            <a:avLst/>
          </a:prstGeom>
          <a:noFill/>
          <a:ln/>
        </p:spPr>
        <p:txBody>
          <a:bodyPr wrap="square" lIns="0" tIns="0" rIns="0" bIns="0" rtlCol="0" anchor="ctr"/>
          <a:lstStyle/>
          <a:p>
            <a:pPr algn="ctr" indent="0" marL="0">
              <a:buNone/>
            </a:pPr>
            <a:r>
              <a:rPr lang="en-US" sz="4000" b="1" dirty="0">
                <a:solidFill>
                  <a:schemeClr val="bg1"/>
                </a:solidFill>
                <a:latin typeface="Arial" pitchFamily="34" charset="0"/>
                <a:ea typeface="Arial" pitchFamily="34" charset="-122"/>
                <a:cs typeface="Arial" pitchFamily="34" charset="-120"/>
              </a:rPr>
              <a:t>Angular 14</a:t>
            </a:r>
            <a:endParaRPr lang="en-US" sz="4000" dirty="0"/>
          </a:p>
        </p:txBody>
      </p:sp>
      <p:sp>
        <p:nvSpPr>
          <p:cNvPr id="8" name="Text 5"/>
          <p:cNvSpPr txBox="1"/>
          <p:nvPr/>
        </p:nvSpPr>
        <p:spPr>
          <a:xfrm>
            <a:off x="7680960" y="3840480"/>
            <a:ext cx="3566160" cy="1005840"/>
          </a:xfrm>
          <a:prstGeom prst="rect">
            <a:avLst/>
          </a:prstGeom>
          <a:noFill/>
          <a:ln/>
        </p:spPr>
        <p:txBody>
          <a:bodyPr wrap="square" lIns="0" tIns="0" rIns="0" bIns="0" rtlCol="0" anchor="t"/>
          <a:lstStyle/>
          <a:p>
            <a:pPr algn="ctr" indent="0" marL="0">
              <a:buNone/>
            </a:pPr>
            <a:r>
              <a:rPr lang="en-US" sz="1600" dirty="0">
                <a:solidFill>
                  <a:schemeClr val="bg1"/>
                </a:solidFill>
              </a:rPr>
              <a:t>ADF 6.1 · Node 16.20.2 · npm 8.19.4</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Yeoman: requisitos</a:t>
            </a:r>
            <a:endParaRPr lang="en-US" sz="3400" dirty="0"/>
          </a:p>
        </p:txBody>
      </p:sp>
      <p:sp>
        <p:nvSpPr>
          <p:cNvPr id="3" name="yreq-Node 16.20.2 + npm 8.19.4-circulo"/>
          <p:cNvSpPr/>
          <p:nvPr/>
        </p:nvSpPr>
        <p:spPr>
          <a:xfrm>
            <a:off x="548640" y="1417320"/>
            <a:ext cx="731520" cy="731520"/>
          </a:xfrm>
          <a:prstGeom prst="ellipse">
            <a:avLst/>
          </a:prstGeom>
          <a:solidFill>
            <a:schemeClr val="accent4"/>
          </a:solidFill>
          <a:ln/>
        </p:spPr>
      </p:sp>
      <p:pic>
        <p:nvPicPr>
          <p:cNvPr id="4" name="yreq-Node 16.20.2 + npm 8.19.4-icono" descr="preencoded.png">    </p:cNvPr>
          <p:cNvPicPr>
            <a:picLocks noChangeAspect="1"/>
          </p:cNvPicPr>
          <p:nvPr/>
        </p:nvPicPr>
        <p:blipFill>
          <a:blip r:embed="rId1"/>
          <a:stretch>
            <a:fillRect/>
          </a:stretch>
        </p:blipFill>
        <p:spPr>
          <a:xfrm>
            <a:off x="731520" y="1600200"/>
            <a:ext cx="365760" cy="365760"/>
          </a:xfrm>
          <a:prstGeom prst="rect">
            <a:avLst/>
          </a:prstGeom>
        </p:spPr>
      </p:pic>
      <p:sp>
        <p:nvSpPr>
          <p:cNvPr id="5" name="Text 2"/>
          <p:cNvSpPr txBox="1"/>
          <p:nvPr/>
        </p:nvSpPr>
        <p:spPr>
          <a:xfrm>
            <a:off x="1508760" y="1417320"/>
            <a:ext cx="5486400" cy="384048"/>
          </a:xfrm>
          <a:prstGeom prst="rect">
            <a:avLst/>
          </a:prstGeom>
          <a:noFill/>
          <a:ln/>
        </p:spPr>
        <p:txBody>
          <a:bodyPr wrap="square" lIns="0" tIns="0" rIns="0" bIns="0" rtlCol="0" anchor="ctr"/>
          <a:lstStyle/>
          <a:p>
            <a:pPr indent="0" marL="0">
              <a:buNone/>
            </a:pPr>
            <a:r>
              <a:rPr lang="en-US" sz="2000" b="1" dirty="0">
                <a:solidFill>
                  <a:schemeClr val="tx2"/>
                </a:solidFill>
              </a:rPr>
              <a:t>Node 16.20.2 + npm 8.19.4</a:t>
            </a:r>
            <a:endParaRPr lang="en-US" sz="2000" dirty="0"/>
          </a:p>
        </p:txBody>
      </p:sp>
      <p:sp>
        <p:nvSpPr>
          <p:cNvPr id="6" name="Text 3"/>
          <p:cNvSpPr txBox="1"/>
          <p:nvPr/>
        </p:nvSpPr>
        <p:spPr>
          <a:xfrm>
            <a:off x="1508760" y="1801368"/>
            <a:ext cx="5486400" cy="548640"/>
          </a:xfrm>
          <a:prstGeom prst="rect">
            <a:avLst/>
          </a:prstGeom>
          <a:noFill/>
          <a:ln/>
        </p:spPr>
        <p:txBody>
          <a:bodyPr wrap="square" lIns="0" tIns="0" rIns="0" bIns="0" rtlCol="0" anchor="t"/>
          <a:lstStyle/>
          <a:p>
            <a:pPr indent="0" marL="0">
              <a:buNone/>
            </a:pPr>
            <a:r>
              <a:rPr lang="en-US" sz="1500" dirty="0">
                <a:solidFill>
                  <a:schemeClr val="tx1"/>
                </a:solidFill>
              </a:rPr>
              <a:t>Versión con la que se generó y compiló el proyecto</a:t>
            </a:r>
            <a:endParaRPr lang="en-US" sz="1500" dirty="0"/>
          </a:p>
        </p:txBody>
      </p:sp>
      <p:sp>
        <p:nvSpPr>
          <p:cNvPr id="7" name="yreq-yo 4.3.1 + generador 6.1.1-circulo"/>
          <p:cNvSpPr/>
          <p:nvPr/>
        </p:nvSpPr>
        <p:spPr>
          <a:xfrm>
            <a:off x="548640" y="2606040"/>
            <a:ext cx="731520" cy="731520"/>
          </a:xfrm>
          <a:prstGeom prst="ellipse">
            <a:avLst/>
          </a:prstGeom>
          <a:solidFill>
            <a:schemeClr val="accent4"/>
          </a:solidFill>
          <a:ln/>
        </p:spPr>
      </p:sp>
      <p:pic>
        <p:nvPicPr>
          <p:cNvPr id="8" name="yreq-yo 4.3.1 + generador 6.1.1-icono" descr="preencoded.png">    </p:cNvPr>
          <p:cNvPicPr>
            <a:picLocks noChangeAspect="1"/>
          </p:cNvPicPr>
          <p:nvPr/>
        </p:nvPicPr>
        <p:blipFill>
          <a:blip r:embed="rId2"/>
          <a:stretch>
            <a:fillRect/>
          </a:stretch>
        </p:blipFill>
        <p:spPr>
          <a:xfrm>
            <a:off x="731520" y="2788920"/>
            <a:ext cx="365760" cy="365760"/>
          </a:xfrm>
          <a:prstGeom prst="rect">
            <a:avLst/>
          </a:prstGeom>
        </p:spPr>
      </p:pic>
      <p:sp>
        <p:nvSpPr>
          <p:cNvPr id="9" name="Text 5"/>
          <p:cNvSpPr txBox="1"/>
          <p:nvPr/>
        </p:nvSpPr>
        <p:spPr>
          <a:xfrm>
            <a:off x="1508760" y="2606040"/>
            <a:ext cx="5486400" cy="384048"/>
          </a:xfrm>
          <a:prstGeom prst="rect">
            <a:avLst/>
          </a:prstGeom>
          <a:noFill/>
          <a:ln/>
        </p:spPr>
        <p:txBody>
          <a:bodyPr wrap="square" lIns="0" tIns="0" rIns="0" bIns="0" rtlCol="0" anchor="ctr"/>
          <a:lstStyle/>
          <a:p>
            <a:pPr indent="0" marL="0">
              <a:buNone/>
            </a:pPr>
            <a:r>
              <a:rPr lang="en-US" sz="2000" b="1" dirty="0">
                <a:solidFill>
                  <a:schemeClr val="tx2"/>
                </a:solidFill>
              </a:rPr>
              <a:t>yo 4.3.1 + generador 6.1.1</a:t>
            </a:r>
            <a:endParaRPr lang="en-US" sz="2000" dirty="0"/>
          </a:p>
        </p:txBody>
      </p:sp>
      <p:sp>
        <p:nvSpPr>
          <p:cNvPr id="10" name="Text 6"/>
          <p:cNvSpPr txBox="1"/>
          <p:nvPr/>
        </p:nvSpPr>
        <p:spPr>
          <a:xfrm>
            <a:off x="1508760" y="2990088"/>
            <a:ext cx="5486400" cy="548640"/>
          </a:xfrm>
          <a:prstGeom prst="rect">
            <a:avLst/>
          </a:prstGeom>
          <a:noFill/>
          <a:ln/>
        </p:spPr>
        <p:txBody>
          <a:bodyPr wrap="square" lIns="0" tIns="0" rIns="0" bIns="0" rtlCol="0" anchor="t"/>
          <a:lstStyle/>
          <a:p>
            <a:pPr indent="0" marL="0">
              <a:buNone/>
            </a:pPr>
            <a:r>
              <a:rPr lang="en-US" sz="1500" dirty="0">
                <a:solidFill>
                  <a:schemeClr val="tx1"/>
                </a:solidFill>
              </a:rPr>
              <a:t>yo 7 exige Node 20+ y no funciona con este generador</a:t>
            </a:r>
            <a:endParaRPr lang="en-US" sz="1500" dirty="0"/>
          </a:p>
        </p:txBody>
      </p:sp>
      <p:sp>
        <p:nvSpPr>
          <p:cNvPr id="11" name="yreq-Visual Studio Build Tools 2022 con C++-circulo"/>
          <p:cNvSpPr/>
          <p:nvPr/>
        </p:nvSpPr>
        <p:spPr>
          <a:xfrm>
            <a:off x="548640" y="3794760"/>
            <a:ext cx="731520" cy="731520"/>
          </a:xfrm>
          <a:prstGeom prst="ellipse">
            <a:avLst/>
          </a:prstGeom>
          <a:solidFill>
            <a:schemeClr val="accent4"/>
          </a:solidFill>
          <a:ln/>
        </p:spPr>
      </p:sp>
      <p:pic>
        <p:nvPicPr>
          <p:cNvPr id="12" name="yreq-Visual Studio Build Tools 2022 con C++-icono" descr="preencoded.png">    </p:cNvPr>
          <p:cNvPicPr>
            <a:picLocks noChangeAspect="1"/>
          </p:cNvPicPr>
          <p:nvPr/>
        </p:nvPicPr>
        <p:blipFill>
          <a:blip r:embed="rId3"/>
          <a:stretch>
            <a:fillRect/>
          </a:stretch>
        </p:blipFill>
        <p:spPr>
          <a:xfrm>
            <a:off x="731520" y="3977640"/>
            <a:ext cx="365760" cy="365760"/>
          </a:xfrm>
          <a:prstGeom prst="rect">
            <a:avLst/>
          </a:prstGeom>
        </p:spPr>
      </p:pic>
      <p:sp>
        <p:nvSpPr>
          <p:cNvPr id="13" name="Text 8"/>
          <p:cNvSpPr txBox="1"/>
          <p:nvPr/>
        </p:nvSpPr>
        <p:spPr>
          <a:xfrm>
            <a:off x="1508760" y="3794760"/>
            <a:ext cx="5486400" cy="384048"/>
          </a:xfrm>
          <a:prstGeom prst="rect">
            <a:avLst/>
          </a:prstGeom>
          <a:noFill/>
          <a:ln/>
        </p:spPr>
        <p:txBody>
          <a:bodyPr wrap="square" lIns="0" tIns="0" rIns="0" bIns="0" rtlCol="0" anchor="ctr"/>
          <a:lstStyle/>
          <a:p>
            <a:pPr indent="0" marL="0">
              <a:buNone/>
            </a:pPr>
            <a:r>
              <a:rPr lang="en-US" sz="2000" b="1" dirty="0">
                <a:solidFill>
                  <a:schemeClr val="tx2"/>
                </a:solidFill>
              </a:rPr>
              <a:t>Visual Studio Build Tools 2022 con C++</a:t>
            </a:r>
            <a:endParaRPr lang="en-US" sz="2000" dirty="0"/>
          </a:p>
        </p:txBody>
      </p:sp>
      <p:sp>
        <p:nvSpPr>
          <p:cNvPr id="14" name="Text 9"/>
          <p:cNvSpPr txBox="1"/>
          <p:nvPr/>
        </p:nvSpPr>
        <p:spPr>
          <a:xfrm>
            <a:off x="1508760" y="4178808"/>
            <a:ext cx="5486400" cy="548640"/>
          </a:xfrm>
          <a:prstGeom prst="rect">
            <a:avLst/>
          </a:prstGeom>
          <a:noFill/>
          <a:ln/>
        </p:spPr>
        <p:txBody>
          <a:bodyPr wrap="square" lIns="0" tIns="0" rIns="0" bIns="0" rtlCol="0" anchor="t"/>
          <a:lstStyle/>
          <a:p>
            <a:pPr indent="0" marL="0">
              <a:buNone/>
            </a:pPr>
            <a:r>
              <a:rPr lang="en-US" sz="1500" dirty="0">
                <a:solidFill>
                  <a:schemeClr val="tx1"/>
                </a:solidFill>
              </a:rPr>
              <a:t>El generador compila deasync, un módulo nativo de C++</a:t>
            </a:r>
            <a:endParaRPr lang="en-US" sz="1500" dirty="0"/>
          </a:p>
        </p:txBody>
      </p:sp>
      <p:sp>
        <p:nvSpPr>
          <p:cNvPr id="15" name="yreq-Python 3 + setuptools-circulo"/>
          <p:cNvSpPr/>
          <p:nvPr/>
        </p:nvSpPr>
        <p:spPr>
          <a:xfrm>
            <a:off x="548640" y="4983480"/>
            <a:ext cx="731520" cy="731520"/>
          </a:xfrm>
          <a:prstGeom prst="ellipse">
            <a:avLst/>
          </a:prstGeom>
          <a:solidFill>
            <a:schemeClr val="accent4"/>
          </a:solidFill>
          <a:ln/>
        </p:spPr>
      </p:sp>
      <p:pic>
        <p:nvPicPr>
          <p:cNvPr id="16" name="yreq-Python 3 + setuptools-icono" descr="preencoded.png">    </p:cNvPr>
          <p:cNvPicPr>
            <a:picLocks noChangeAspect="1"/>
          </p:cNvPicPr>
          <p:nvPr/>
        </p:nvPicPr>
        <p:blipFill>
          <a:blip r:embed="rId4"/>
          <a:stretch>
            <a:fillRect/>
          </a:stretch>
        </p:blipFill>
        <p:spPr>
          <a:xfrm>
            <a:off x="731520" y="5166360"/>
            <a:ext cx="365760" cy="365760"/>
          </a:xfrm>
          <a:prstGeom prst="rect">
            <a:avLst/>
          </a:prstGeom>
        </p:spPr>
      </p:pic>
      <p:sp>
        <p:nvSpPr>
          <p:cNvPr id="17" name="Text 11"/>
          <p:cNvSpPr txBox="1"/>
          <p:nvPr/>
        </p:nvSpPr>
        <p:spPr>
          <a:xfrm>
            <a:off x="1508760" y="4983480"/>
            <a:ext cx="5486400" cy="384048"/>
          </a:xfrm>
          <a:prstGeom prst="rect">
            <a:avLst/>
          </a:prstGeom>
          <a:noFill/>
          <a:ln/>
        </p:spPr>
        <p:txBody>
          <a:bodyPr wrap="square" lIns="0" tIns="0" rIns="0" bIns="0" rtlCol="0" anchor="ctr"/>
          <a:lstStyle/>
          <a:p>
            <a:pPr indent="0" marL="0">
              <a:buNone/>
            </a:pPr>
            <a:r>
              <a:rPr lang="en-US" sz="2000" b="1" dirty="0">
                <a:solidFill>
                  <a:schemeClr val="tx2"/>
                </a:solidFill>
              </a:rPr>
              <a:t>Python 3 + setuptools</a:t>
            </a:r>
            <a:endParaRPr lang="en-US" sz="2000" dirty="0"/>
          </a:p>
        </p:txBody>
      </p:sp>
      <p:sp>
        <p:nvSpPr>
          <p:cNvPr id="18" name="Text 12"/>
          <p:cNvSpPr txBox="1"/>
          <p:nvPr/>
        </p:nvSpPr>
        <p:spPr>
          <a:xfrm>
            <a:off x="1508760" y="5367528"/>
            <a:ext cx="5486400" cy="548640"/>
          </a:xfrm>
          <a:prstGeom prst="rect">
            <a:avLst/>
          </a:prstGeom>
          <a:noFill/>
          <a:ln/>
        </p:spPr>
        <p:txBody>
          <a:bodyPr wrap="square" lIns="0" tIns="0" rIns="0" bIns="0" rtlCol="0" anchor="t"/>
          <a:lstStyle/>
          <a:p>
            <a:pPr indent="0" marL="0">
              <a:buNone/>
            </a:pPr>
            <a:r>
              <a:rPr lang="en-US" sz="1500" dirty="0">
                <a:solidFill>
                  <a:schemeClr val="tx1"/>
                </a:solidFill>
              </a:rPr>
              <a:t>node-gyp lo necesita; con Python 3.12+ falta distutils sin setuptools</a:t>
            </a:r>
            <a:endParaRPr lang="en-US" sz="1500" dirty="0"/>
          </a:p>
        </p:txBody>
      </p:sp>
      <p:sp>
        <p:nvSpPr>
          <p:cNvPr id="19" name="yreq-instalar"/>
          <p:cNvSpPr/>
          <p:nvPr/>
        </p:nvSpPr>
        <p:spPr>
          <a:xfrm>
            <a:off x="7406640" y="1417320"/>
            <a:ext cx="4206240" cy="4663440"/>
          </a:xfrm>
          <a:prstGeom prst="roundRect">
            <a:avLst>
              <a:gd name="adj" fmla="val 2174"/>
            </a:avLst>
          </a:prstGeom>
          <a:solidFill>
            <a:schemeClr val="bg2"/>
          </a:solidFill>
          <a:ln/>
        </p:spPr>
      </p:sp>
      <p:sp>
        <p:nvSpPr>
          <p:cNvPr id="20" name="Text 14"/>
          <p:cNvSpPr txBox="1"/>
          <p:nvPr/>
        </p:nvSpPr>
        <p:spPr>
          <a:xfrm>
            <a:off x="7680960" y="1645920"/>
            <a:ext cx="3657600" cy="457200"/>
          </a:xfrm>
          <a:prstGeom prst="rect">
            <a:avLst/>
          </a:prstGeom>
          <a:noFill/>
          <a:ln/>
        </p:spPr>
        <p:txBody>
          <a:bodyPr wrap="square" lIns="0" tIns="0" rIns="0" bIns="0" rtlCol="0" anchor="ctr"/>
          <a:lstStyle/>
          <a:p>
            <a:pPr indent="0" marL="0">
              <a:buNone/>
            </a:pPr>
            <a:r>
              <a:rPr lang="en-US" sz="2000" b="1" dirty="0">
                <a:solidFill>
                  <a:schemeClr val="tx2"/>
                </a:solidFill>
              </a:rPr>
              <a:t>Instalarlos</a:t>
            </a:r>
            <a:endParaRPr lang="en-US" sz="2000" dirty="0"/>
          </a:p>
        </p:txBody>
      </p:sp>
      <p:sp>
        <p:nvSpPr>
          <p:cNvPr id="21" name="Text 15"/>
          <p:cNvSpPr txBox="1"/>
          <p:nvPr/>
        </p:nvSpPr>
        <p:spPr>
          <a:xfrm>
            <a:off x="7680960" y="2148840"/>
            <a:ext cx="3657600" cy="731520"/>
          </a:xfrm>
          <a:prstGeom prst="rect">
            <a:avLst/>
          </a:prstGeom>
          <a:noFill/>
          <a:ln/>
        </p:spPr>
        <p:txBody>
          <a:bodyPr wrap="square" lIns="0" tIns="0" rIns="0" bIns="0" rtlCol="0" anchor="t"/>
          <a:lstStyle/>
          <a:p>
            <a:pPr indent="0" marL="0">
              <a:buNone/>
            </a:pPr>
            <a:r>
              <a:rPr lang="en-US" sz="1500" dirty="0">
                <a:solidFill>
                  <a:schemeClr val="tx1"/>
                </a:solidFill>
              </a:rPr>
              <a:t>Los comandos de Build Tools y setuptools están en la diapositiva 5.</a:t>
            </a:r>
            <a:endParaRPr lang="en-US" sz="1500" dirty="0"/>
          </a:p>
        </p:txBody>
      </p:sp>
      <p:sp>
        <p:nvSpPr>
          <p:cNvPr id="22" name="yreq-cmd-fondo"/>
          <p:cNvSpPr/>
          <p:nvPr/>
        </p:nvSpPr>
        <p:spPr>
          <a:xfrm>
            <a:off x="7680960" y="3017520"/>
            <a:ext cx="3657600" cy="2788920"/>
          </a:xfrm>
          <a:prstGeom prst="roundRect">
            <a:avLst>
              <a:gd name="adj" fmla="val 2623"/>
            </a:avLst>
          </a:prstGeom>
          <a:solidFill>
            <a:schemeClr val="tx2"/>
          </a:solidFill>
          <a:ln/>
        </p:spPr>
      </p:sp>
      <p:sp>
        <p:nvSpPr>
          <p:cNvPr id="23" name="yreq-cmd-codigo"/>
          <p:cNvSpPr txBox="1"/>
          <p:nvPr/>
        </p:nvSpPr>
        <p:spPr>
          <a:xfrm>
            <a:off x="7909560" y="3182112"/>
            <a:ext cx="3200400" cy="2459736"/>
          </a:xfrm>
          <a:prstGeom prst="rect">
            <a:avLst/>
          </a:prstGeom>
          <a:noFill/>
          <a:ln/>
        </p:spPr>
        <p:txBody>
          <a:bodyPr wrap="square" lIns="0" tIns="0" rIns="0" bIns="0" rtlCol="0" anchor="t"/>
          <a:lstStyle/>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nvm install 16.20.2</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nvm use 16.20.2</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npm config set `</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msvs_version 2022</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node -v   </a:t>
            </a:r>
            <a:pPr indent="0" marL="0">
              <a:spcAft>
                <a:spcPts val="200"/>
              </a:spcAft>
              <a:buNone/>
            </a:pPr>
            <a:r>
              <a:rPr lang="en-US" sz="1400" dirty="0">
                <a:solidFill>
                  <a:schemeClr val="accent1"/>
                </a:solidFill>
                <a:latin typeface="Courier New" pitchFamily="34" charset="0"/>
                <a:ea typeface="Courier New" pitchFamily="34" charset="-122"/>
                <a:cs typeface="Courier New" pitchFamily="34" charset="-120"/>
              </a:rPr>
              <a:t># v16.20.2</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Yeoman: crear e iniciar el proyecto</a:t>
            </a:r>
            <a:endParaRPr lang="en-US" sz="3400" dirty="0"/>
          </a:p>
        </p:txBody>
      </p:sp>
      <p:sp>
        <p:nvSpPr>
          <p:cNvPr id="3" name="ypasos-fondo"/>
          <p:cNvSpPr/>
          <p:nvPr/>
        </p:nvSpPr>
        <p:spPr>
          <a:xfrm>
            <a:off x="548640" y="1417320"/>
            <a:ext cx="6949440" cy="4663440"/>
          </a:xfrm>
          <a:prstGeom prst="roundRect">
            <a:avLst>
              <a:gd name="adj" fmla="val 1569"/>
            </a:avLst>
          </a:prstGeom>
          <a:solidFill>
            <a:schemeClr val="tx2"/>
          </a:solidFill>
          <a:ln/>
        </p:spPr>
      </p:sp>
      <p:sp>
        <p:nvSpPr>
          <p:cNvPr id="4" name="ypasos-codigo"/>
          <p:cNvSpPr txBox="1"/>
          <p:nvPr/>
        </p:nvSpPr>
        <p:spPr>
          <a:xfrm>
            <a:off x="777240" y="1581912"/>
            <a:ext cx="6492240" cy="4334256"/>
          </a:xfrm>
          <a:prstGeom prst="rect">
            <a:avLst/>
          </a:prstGeom>
          <a:noFill/>
          <a:ln/>
        </p:spPr>
        <p:txBody>
          <a:bodyPr wrap="square" lIns="0" tIns="0" rIns="0" bIns="0" rtlCol="0" anchor="t"/>
          <a:lstStyle/>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nvm use 16.20.2</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npm install -g yo@4.3.1 `</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generator-alfresco-adf-app@6.1.1</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yo alfresco-adf-app</a:t>
            </a:r>
            <a:endParaRPr lang="en-US" sz="1400" dirty="0"/>
          </a:p>
          <a:p>
            <a:pPr indent="0" marL="0">
              <a:spcAft>
                <a:spcPts val="200"/>
              </a:spcAft>
              <a:buNone/>
            </a:pPr>
            <a:r>
              <a:rPr lang="en-US" sz="1400" dirty="0">
                <a:solidFill>
                  <a:schemeClr val="accent1"/>
                </a:solidFill>
                <a:latin typeface="Courier New" pitchFamily="34" charset="0"/>
                <a:ea typeface="Courier New" pitchFamily="34" charset="-122"/>
                <a:cs typeface="Courier New" pitchFamily="34" charset="-120"/>
              </a:rPr>
              <a:t>#  nombre: mi-app · blueprint: ACS</a:t>
            </a:r>
            <a:endParaRPr lang="en-US" sz="1400" dirty="0"/>
          </a:p>
          <a:p>
            <a:pPr indent="0" marL="0">
              <a:spcAft>
                <a:spcPts val="200"/>
              </a:spcAft>
              <a:buNone/>
            </a:pPr>
            <a:r>
              <a:rPr lang="en-US" sz="1400" dirty="0">
                <a:solidFill>
                  <a:schemeClr val="accent1"/>
                </a:solidFill>
                <a:latin typeface="Courier New" pitchFamily="34" charset="0"/>
                <a:ea typeface="Courier New" pitchFamily="34" charset="-122"/>
                <a:cs typeface="Courier New" pitchFamily="34" charset="-120"/>
              </a:rPr>
              <a:t>#  instalar ahora: No · licencia: MIT</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cd mi-app</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npm install       </a:t>
            </a:r>
            <a:pPr indent="0" marL="0">
              <a:spcAft>
                <a:spcPts val="200"/>
              </a:spcAft>
              <a:buNone/>
            </a:pPr>
            <a:r>
              <a:rPr lang="en-US" sz="1400" dirty="0">
                <a:solidFill>
                  <a:schemeClr val="accent1"/>
                </a:solidFill>
                <a:latin typeface="Courier New" pitchFamily="34" charset="0"/>
                <a:ea typeface="Courier New" pitchFamily="34" charset="-122"/>
                <a:cs typeface="Courier New" pitchFamily="34" charset="-120"/>
              </a:rPr>
              <a:t># 2–3 min</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npm start         </a:t>
            </a:r>
            <a:pPr indent="0" marL="0">
              <a:spcAft>
                <a:spcPts val="200"/>
              </a:spcAft>
              <a:buNone/>
            </a:pPr>
            <a:r>
              <a:rPr lang="en-US" sz="1400" dirty="0">
                <a:solidFill>
                  <a:schemeClr val="accent1"/>
                </a:solidFill>
                <a:latin typeface="Courier New" pitchFamily="34" charset="0"/>
                <a:ea typeface="Courier New" pitchFamily="34" charset="-122"/>
                <a:cs typeface="Courier New" pitchFamily="34" charset="-120"/>
              </a:rPr>
              <a:t># http://localhost:4200</a:t>
            </a:r>
            <a:endParaRPr lang="en-US" sz="1400" dirty="0"/>
          </a:p>
        </p:txBody>
      </p:sp>
      <p:sp>
        <p:nvSpPr>
          <p:cNvPr id="5" name="Text 3"/>
          <p:cNvSpPr txBox="1"/>
          <p:nvPr/>
        </p:nvSpPr>
        <p:spPr>
          <a:xfrm>
            <a:off x="7863840" y="1417320"/>
            <a:ext cx="3749040" cy="457200"/>
          </a:xfrm>
          <a:prstGeom prst="rect">
            <a:avLst/>
          </a:prstGeom>
          <a:noFill/>
          <a:ln/>
        </p:spPr>
        <p:txBody>
          <a:bodyPr wrap="square" lIns="0" tIns="0" rIns="0" bIns="0" rtlCol="0" anchor="ctr"/>
          <a:lstStyle/>
          <a:p>
            <a:pPr indent="0" marL="0">
              <a:buNone/>
            </a:pPr>
            <a:r>
              <a:rPr lang="en-US" sz="2000" b="1" dirty="0">
                <a:solidFill>
                  <a:schemeClr val="tx2"/>
                </a:solidFill>
              </a:rPr>
              <a:t>Lo que genera</a:t>
            </a:r>
            <a:endParaRPr lang="en-US" sz="2000" dirty="0"/>
          </a:p>
        </p:txBody>
      </p:sp>
      <p:sp>
        <p:nvSpPr>
          <p:cNvPr id="6" name="Text 4"/>
          <p:cNvSpPr txBox="1"/>
          <p:nvPr/>
        </p:nvSpPr>
        <p:spPr>
          <a:xfrm>
            <a:off x="7863840" y="1920240"/>
            <a:ext cx="3749040" cy="20116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proxy.conf.js → localhost:8080</a:t>
            </a:r>
            <a:endParaRPr lang="en-US" sz="1500" dirty="0"/>
          </a:p>
          <a:p>
            <a:pPr marL="342900" indent="-342900">
              <a:spcAft>
                <a:spcPts val="600"/>
              </a:spcAft>
              <a:buSzPct val="100000"/>
              <a:buChar char="•"/>
            </a:pPr>
            <a:r>
              <a:rPr lang="en-US" sz="1500" dirty="0">
                <a:solidFill>
                  <a:schemeClr val="tx1"/>
                </a:solidFill>
              </a:rPr>
              <a:t>src/app.config.json</a:t>
            </a:r>
            <a:endParaRPr lang="en-US" sz="1500" dirty="0"/>
          </a:p>
          <a:p>
            <a:pPr marL="342900" indent="-342900">
              <a:spcAft>
                <a:spcPts val="600"/>
              </a:spcAft>
              <a:buSzPct val="100000"/>
              <a:buChar char="•"/>
            </a:pPr>
            <a:r>
              <a:rPr lang="en-US" sz="1500" dirty="0">
                <a:solidFill>
                  <a:schemeClr val="tx1"/>
                </a:solidFill>
              </a:rPr>
              <a:t>Login, home, documentos y visor</a:t>
            </a:r>
            <a:endParaRPr lang="en-US" sz="1500" dirty="0"/>
          </a:p>
          <a:p>
            <a:pPr marL="342900" indent="-342900">
              <a:spcAft>
                <a:spcPts val="600"/>
              </a:spcAft>
              <a:buSzPct val="100000"/>
              <a:buChar char="•"/>
            </a:pPr>
            <a:r>
              <a:rPr lang="en-US" sz="1500" dirty="0">
                <a:solidFill>
                  <a:schemeClr val="tx1"/>
                </a:solidFill>
              </a:rPr>
              <a:t>CoreModule.forRoot() + ContentModule</a:t>
            </a:r>
            <a:endParaRPr lang="en-US" sz="1500" dirty="0"/>
          </a:p>
        </p:txBody>
      </p:sp>
      <p:sp>
        <p:nvSpPr>
          <p:cNvPr id="7" name="ypasos-nombre"/>
          <p:cNvSpPr/>
          <p:nvPr/>
        </p:nvSpPr>
        <p:spPr>
          <a:xfrm>
            <a:off x="7863840" y="4023360"/>
            <a:ext cx="3749040" cy="2057400"/>
          </a:xfrm>
          <a:prstGeom prst="roundRect">
            <a:avLst>
              <a:gd name="adj" fmla="val 4444"/>
            </a:avLst>
          </a:prstGeom>
          <a:solidFill>
            <a:schemeClr val="bg2"/>
          </a:solidFill>
          <a:ln/>
        </p:spPr>
      </p:sp>
      <p:sp>
        <p:nvSpPr>
          <p:cNvPr id="8" name="Text 6"/>
          <p:cNvSpPr txBox="1"/>
          <p:nvPr/>
        </p:nvSpPr>
        <p:spPr>
          <a:xfrm>
            <a:off x="8092440" y="4160520"/>
            <a:ext cx="3291840" cy="365760"/>
          </a:xfrm>
          <a:prstGeom prst="rect">
            <a:avLst/>
          </a:prstGeom>
          <a:noFill/>
          <a:ln/>
        </p:spPr>
        <p:txBody>
          <a:bodyPr wrap="square" lIns="0" tIns="0" rIns="0" bIns="0" rtlCol="0" anchor="ctr"/>
          <a:lstStyle/>
          <a:p>
            <a:pPr indent="0" marL="0">
              <a:buNone/>
            </a:pPr>
            <a:r>
              <a:rPr lang="en-US" sz="1600" b="1" dirty="0">
                <a:solidFill>
                  <a:schemeClr val="tx2"/>
                </a:solidFill>
              </a:rPr>
              <a:t>Renombrar el proyecto</a:t>
            </a:r>
            <a:endParaRPr lang="en-US" sz="1600" dirty="0"/>
          </a:p>
        </p:txBody>
      </p:sp>
      <p:sp>
        <p:nvSpPr>
          <p:cNvPr id="9" name="Text 7"/>
          <p:cNvSpPr txBox="1"/>
          <p:nvPr/>
        </p:nvSpPr>
        <p:spPr>
          <a:xfrm>
            <a:off x="8092440" y="4526280"/>
            <a:ext cx="3291840" cy="640080"/>
          </a:xfrm>
          <a:prstGeom prst="rect">
            <a:avLst/>
          </a:prstGeom>
          <a:noFill/>
          <a:ln/>
        </p:spPr>
        <p:txBody>
          <a:bodyPr wrap="square" lIns="0" tIns="0" rIns="0" bIns="0" rtlCol="0" anchor="t"/>
          <a:lstStyle/>
          <a:p>
            <a:pPr indent="0" marL="0">
              <a:buNone/>
            </a:pPr>
            <a:r>
              <a:rPr lang="en-US" sz="1400" dirty="0">
                <a:solidFill>
                  <a:schemeClr val="tx1"/>
                </a:solidFill>
              </a:rPr>
              <a:t>El package.json sale con name: adf-cli-acs-template. Cambiarlo:</a:t>
            </a:r>
            <a:endParaRPr lang="en-US" sz="1400" dirty="0"/>
          </a:p>
        </p:txBody>
      </p:sp>
      <p:sp>
        <p:nvSpPr>
          <p:cNvPr id="10" name="Text 8"/>
          <p:cNvSpPr txBox="1"/>
          <p:nvPr/>
        </p:nvSpPr>
        <p:spPr>
          <a:xfrm>
            <a:off x="8092440" y="5257800"/>
            <a:ext cx="3291840" cy="365760"/>
          </a:xfrm>
          <a:prstGeom prst="rect">
            <a:avLst/>
          </a:prstGeom>
          <a:noFill/>
          <a:ln/>
        </p:spPr>
        <p:txBody>
          <a:bodyPr wrap="square" lIns="0" tIns="0" rIns="0" bIns="0" rtlCol="0" anchor="ctr"/>
          <a:lstStyle/>
          <a:p>
            <a:pPr indent="0" marL="0">
              <a:buNone/>
            </a:pPr>
            <a:r>
              <a:rPr lang="en-US" sz="1400" dirty="0">
                <a:solidFill>
                  <a:schemeClr val="accent4"/>
                </a:solidFill>
                <a:latin typeface="Courier New" pitchFamily="34" charset="0"/>
                <a:ea typeface="Courier New" pitchFamily="34" charset="-122"/>
                <a:cs typeface="Courier New" pitchFamily="34" charset="-120"/>
              </a:rPr>
              <a:t>npm pkg set name=mi-app</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Atajo para el aula y errores frecuentes</a:t>
            </a:r>
            <a:endParaRPr lang="en-US" sz="3400" dirty="0"/>
          </a:p>
        </p:txBody>
      </p:sp>
      <p:sp>
        <p:nvSpPr>
          <p:cNvPr id="3" name="Text 1"/>
          <p:cNvSpPr txBox="1"/>
          <p:nvPr/>
        </p:nvSpPr>
        <p:spPr>
          <a:xfrm>
            <a:off x="548640" y="1325880"/>
            <a:ext cx="11064240" cy="411480"/>
          </a:xfrm>
          <a:prstGeom prst="rect">
            <a:avLst/>
          </a:prstGeom>
          <a:noFill/>
          <a:ln/>
        </p:spPr>
        <p:txBody>
          <a:bodyPr wrap="square" lIns="0" tIns="0" rIns="0" bIns="0" rtlCol="0" anchor="ctr"/>
          <a:lstStyle/>
          <a:p>
            <a:pPr indent="0" marL="0">
              <a:buNone/>
            </a:pPr>
            <a:r>
              <a:rPr lang="en-US" sz="1600" dirty="0">
                <a:solidFill>
                  <a:schemeClr val="tx1"/>
                </a:solidFill>
              </a:rPr>
              <a:t>Sin Visual Studio ni yo: el generador solo copia una carpeta, se extrae del paquete npm.</a:t>
            </a:r>
            <a:endParaRPr lang="en-US" sz="1600" dirty="0"/>
          </a:p>
        </p:txBody>
      </p:sp>
      <p:sp>
        <p:nvSpPr>
          <p:cNvPr id="4" name="yatajo-fondo"/>
          <p:cNvSpPr/>
          <p:nvPr/>
        </p:nvSpPr>
        <p:spPr>
          <a:xfrm>
            <a:off x="548640" y="1828800"/>
            <a:ext cx="5029200" cy="4251960"/>
          </a:xfrm>
          <a:prstGeom prst="roundRect">
            <a:avLst>
              <a:gd name="adj" fmla="val 1720"/>
            </a:avLst>
          </a:prstGeom>
          <a:solidFill>
            <a:schemeClr val="tx2"/>
          </a:solidFill>
          <a:ln/>
        </p:spPr>
      </p:sp>
      <p:sp>
        <p:nvSpPr>
          <p:cNvPr id="5" name="yatajo-codigo"/>
          <p:cNvSpPr txBox="1"/>
          <p:nvPr/>
        </p:nvSpPr>
        <p:spPr>
          <a:xfrm>
            <a:off x="777240" y="1993392"/>
            <a:ext cx="4572000" cy="3922776"/>
          </a:xfrm>
          <a:prstGeom prst="rect">
            <a:avLst/>
          </a:prstGeom>
          <a:noFill/>
          <a:ln/>
        </p:spPr>
        <p:txBody>
          <a:bodyPr wrap="square" lIns="0" tIns="0" rIns="0" bIns="0" rtlCol="0" anchor="t"/>
          <a:lstStyle/>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nvm use 16.20.2</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npm pack generator-alfresco-adf-app@6.1.1</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tar xzf generator-alfresco-adf-app-6.1.1.tgz</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Copy-Item -Recurse `</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  package\app\templates\adf-cli-acs-template `</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  mi-app</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cd mi-app ; npm install ; npm start</a:t>
            </a:r>
            <a:endParaRPr lang="en-US" sz="1300" dirty="0"/>
          </a:p>
        </p:txBody>
      </p:sp>
      <p:graphicFrame>
        <p:nvGraphicFramePr>
          <p:cNvPr id="10" name="yerr-tabla"/>
          <p:cNvGraphicFramePr>
            <a:graphicFrameLocks noGrp="1"/>
          </p:cNvGraphicFramePr>
          <p:nvPr>
            <p:extLst>
              <p:ext uri="{D42A27DB-BD31-4B8C-83A1-F6EECF244321}">
                <p14:modId xmlns:p14="http://schemas.microsoft.com/office/powerpoint/2010/main" val="1579011935"/>
              </p:ext>
            </p:extLst>
          </p:nvPr>
        </p:nvGraphicFramePr>
        <p:xfrm>
          <a:off x="5760720" y="1828800"/>
          <a:ext cx="5852160" cy="914400"/>
        </p:xfrm>
        <a:graphic>
          <a:graphicData uri="http://schemas.openxmlformats.org/drawingml/2006/table">
            <a:tbl>
              <a:tblPr/>
              <a:tblGrid>
                <a:gridCol w="1828800"/>
                <a:gridCol w="4023360"/>
              </a:tblGrid>
              <a:tr h="457200">
                <a:tc>
                  <a:txBody>
                    <a:bodyPr/>
                    <a:lstStyle/>
                    <a:p>
                      <a:pPr indent="0" marL="0">
                        <a:buNone/>
                      </a:pPr>
                      <a:r>
                        <a:rPr lang="en-US" sz="1400" b="1" dirty="0">
                          <a:solidFill>
                            <a:srgbClr val="FFFFFF"/>
                          </a:solidFill>
                        </a:rPr>
                        <a:t>Error</a:t>
                      </a:r>
                      <a:endParaRPr lang="en-US" sz="14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solidFill>
                      <a:srgbClr val="0B3142"/>
                    </a:solidFill>
                  </a:tcPr>
                </a:tc>
                <a:tc>
                  <a:txBody>
                    <a:bodyPr/>
                    <a:lstStyle/>
                    <a:p>
                      <a:pPr indent="0" marL="0">
                        <a:buNone/>
                      </a:pPr>
                      <a:r>
                        <a:rPr lang="en-US" sz="1400" b="1" dirty="0">
                          <a:solidFill>
                            <a:srgbClr val="FFFFFF"/>
                          </a:solidFill>
                        </a:rPr>
                        <a:t>Solución</a:t>
                      </a:r>
                      <a:endParaRPr lang="en-US" sz="14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solidFill>
                      <a:srgbClr val="0B3142"/>
                    </a:solidFill>
                  </a:tcPr>
                </a:tc>
              </a:tr>
              <a:tr h="914400">
                <a:tc>
                  <a:txBody>
                    <a:bodyPr/>
                    <a:lstStyle/>
                    <a:p>
                      <a:pPr indent="0" marL="0">
                        <a:buNone/>
                      </a:pPr>
                      <a:r>
                        <a:rPr lang="en-US" sz="1400" dirty="0">
                          <a:solidFill>
                            <a:srgbClr val="1B2631"/>
                          </a:solidFill>
                        </a:rPr>
                        <a:t>gyp ERR! find VS</a:t>
                      </a:r>
                      <a:endParaRPr lang="en-US" sz="14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300" dirty="0">
                          <a:solidFill>
                            <a:srgbClr val="1B2631"/>
                          </a:solidFill>
                        </a:rPr>
                        <a:t>Build Tools 2022 (diapositiva 5) y</a:t>
                      </a:r>
                      <a:endParaRPr lang="en-US" sz="1300" dirty="0"/>
                    </a:p>
                    <a:p>
                      <a:pPr indent="0" marL="0">
                        <a:buNone/>
                      </a:pPr>
                      <a:r>
                        <a:rPr lang="en-US" sz="1300" dirty="0">
                          <a:solidFill>
                            <a:srgbClr val="1B2631"/>
                          </a:solidFill>
                        </a:rPr>
                        <a:t>npm config set msvs_version 2022</a:t>
                      </a:r>
                      <a:endParaRPr lang="en-US" sz="13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r>
              <a:tr h="685800">
                <a:tc>
                  <a:txBody>
                    <a:bodyPr/>
                    <a:lstStyle/>
                    <a:p>
                      <a:pPr indent="0" marL="0">
                        <a:buNone/>
                      </a:pPr>
                      <a:r>
                        <a:rPr lang="en-US" sz="1400" dirty="0">
                          <a:solidFill>
                            <a:srgbClr val="1B2631"/>
                          </a:solidFill>
                        </a:rPr>
                        <a:t>No module named 'distutils'</a:t>
                      </a:r>
                      <a:endParaRPr lang="en-US" sz="14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300" dirty="0">
                          <a:solidFill>
                            <a:srgbClr val="1B2631"/>
                          </a:solidFill>
                          <a:latin typeface="Courier New" pitchFamily="34" charset="0"/>
                          <a:ea typeface="Courier New" pitchFamily="34" charset="-122"/>
                          <a:cs typeface="Courier New" pitchFamily="34" charset="-120"/>
                        </a:rPr>
                        <a:t>python -m pip install setuptools</a:t>
                      </a:r>
                      <a:endParaRPr lang="en-US" sz="1300" dirty="0">
                        <a:latin typeface="Courier New" charset="0"/>
                        <a:ea typeface="Courier New" charset="0"/>
                        <a:cs typeface="Courier New" charset="0"/>
                      </a:endParaRPr>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r>
              <a:tr h="914400">
                <a:tc>
                  <a:txBody>
                    <a:bodyPr/>
                    <a:lstStyle/>
                    <a:p>
                      <a:pPr indent="0" marL="0">
                        <a:buNone/>
                      </a:pPr>
                      <a:r>
                        <a:rPr lang="en-US" sz="1400" dirty="0">
                          <a:solidFill>
                            <a:srgbClr val="1B2631"/>
                          </a:solidFill>
                        </a:rPr>
                        <a:t>Could not locate the bindings file</a:t>
                      </a:r>
                      <a:endParaRPr lang="en-US" sz="14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300" dirty="0">
                          <a:solidFill>
                            <a:srgbClr val="1B2631"/>
                          </a:solidFill>
                          <a:latin typeface="Courier New" pitchFamily="34" charset="0"/>
                          <a:ea typeface="Courier New" pitchFamily="34" charset="-122"/>
                          <a:cs typeface="Courier New" pitchFamily="34" charset="-120"/>
                        </a:rPr>
                        <a:t>npm install -g yo@4.3.1 `</a:t>
                      </a:r>
                      <a:endParaRPr lang="en-US" sz="1300" dirty="0">
                        <a:latin typeface="Courier New" charset="0"/>
                        <a:ea typeface="Courier New" charset="0"/>
                        <a:cs typeface="Courier New" charset="0"/>
                      </a:endParaRPr>
                    </a:p>
                    <a:p>
                      <a:pPr indent="0" marL="0">
                        <a:buNone/>
                      </a:pPr>
                      <a:r>
                        <a:rPr lang="en-US" sz="1300" dirty="0">
                          <a:solidFill>
                            <a:srgbClr val="1B2631"/>
                          </a:solidFill>
                          <a:latin typeface="Courier New" pitchFamily="34" charset="0"/>
                          <a:ea typeface="Courier New" pitchFamily="34" charset="-122"/>
                          <a:cs typeface="Courier New" pitchFamily="34" charset="-120"/>
                        </a:rPr>
                        <a:t>  generator-alfresco-adf-app@6.1.1</a:t>
                      </a:r>
                      <a:endParaRPr lang="en-US" sz="1300" dirty="0">
                        <a:latin typeface="Courier New" charset="0"/>
                        <a:ea typeface="Courier New" charset="0"/>
                        <a:cs typeface="Courier New" charset="0"/>
                      </a:endParaRPr>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r>
              <a:tr h="594360">
                <a:tc>
                  <a:txBody>
                    <a:bodyPr/>
                    <a:lstStyle/>
                    <a:p>
                      <a:pPr indent="0" marL="0">
                        <a:buNone/>
                      </a:pPr>
                      <a:r>
                        <a:rPr lang="en-US" sz="1400" dirty="0">
                          <a:solidFill>
                            <a:srgbClr val="1B2631"/>
                          </a:solidFill>
                        </a:rPr>
                        <a:t>yo: command not found</a:t>
                      </a:r>
                      <a:endParaRPr lang="en-US" sz="14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300" dirty="0">
                          <a:solidFill>
                            <a:srgbClr val="1B2631"/>
                          </a:solidFill>
                          <a:latin typeface="Courier New" pitchFamily="34" charset="0"/>
                          <a:ea typeface="Courier New" pitchFamily="34" charset="-122"/>
                          <a:cs typeface="Courier New" pitchFamily="34" charset="-120"/>
                        </a:rPr>
                        <a:t>nvm use 16.20.2</a:t>
                      </a:r>
                      <a:endParaRPr lang="en-US" sz="1300" dirty="0">
                        <a:latin typeface="Courier New" charset="0"/>
                        <a:ea typeface="Courier New" charset="0"/>
                        <a:cs typeface="Courier New" charset="0"/>
                      </a:endParaRPr>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31520" y="2286000"/>
            <a:ext cx="6035040" cy="1188720"/>
          </a:xfrm>
          <a:prstGeom prst="rect">
            <a:avLst/>
          </a:prstGeom>
          <a:noFill/>
          <a:ln/>
        </p:spPr>
        <p:txBody>
          <a:bodyPr wrap="square" lIns="0" tIns="0" rIns="0" bIns="0" rtlCol="0" anchor="b"/>
          <a:lstStyle/>
          <a:p>
            <a:pPr algn="l" indent="0" marL="0">
              <a:buNone/>
            </a:pPr>
            <a:r>
              <a:rPr lang="en-US" sz="4000" b="1" dirty="0">
                <a:solidFill>
                  <a:schemeClr val="bg1"/>
                </a:solidFill>
              </a:rPr>
              <a:t>2 · Generador Nx</a:t>
            </a:r>
            <a:endParaRPr lang="en-US" sz="4000" dirty="0"/>
          </a:p>
        </p:txBody>
      </p:sp>
      <p:sp>
        <p:nvSpPr>
          <p:cNvPr id="3" name="Text 0"/>
          <p:cNvSpPr/>
          <p:nvPr>
            <p:ph idx="101" type="body" hasCustomPrompt="1"/>
          </p:nvPr>
        </p:nvSpPr>
        <p:spPr>
          <a:xfrm>
            <a:off x="731520" y="3611880"/>
            <a:ext cx="6035040" cy="1463040"/>
          </a:xfrm>
          <a:prstGeom prst="rect">
            <a:avLst/>
          </a:prstGeom>
          <a:noFill/>
          <a:ln/>
        </p:spPr>
        <p:txBody>
          <a:bodyPr wrap="square" lIns="0" tIns="0" rIns="0" bIns="0" rtlCol="0" anchor="t"/>
          <a:lstStyle/>
          <a:p>
            <a:pPr algn="l" indent="0" marL="0">
              <a:buNone/>
            </a:pPr>
            <a:r>
              <a:rPr lang="en-US" sz="2000" dirty="0">
                <a:solidFill>
                  <a:schemeClr val="bg2"/>
                </a:solidFill>
              </a:rPr>
              <a:t>@alfresco/adf-generators 1.0.4: la forma oficial actual de crear una app ADF nueva.</a:t>
            </a:r>
            <a:endParaRPr lang="en-US" sz="2000" dirty="0"/>
          </a:p>
        </p:txBody>
      </p:sp>
      <p:sp>
        <p:nvSpPr>
          <p:cNvPr id="4" name="seccion-circulo"/>
          <p:cNvSpPr/>
          <p:nvPr/>
        </p:nvSpPr>
        <p:spPr>
          <a:xfrm>
            <a:off x="731520" y="1051560"/>
            <a:ext cx="1005840" cy="1005840"/>
          </a:xfrm>
          <a:prstGeom prst="ellipse">
            <a:avLst/>
          </a:prstGeom>
          <a:solidFill>
            <a:schemeClr val="accent3"/>
          </a:solidFill>
          <a:ln/>
        </p:spPr>
      </p:sp>
      <p:pic>
        <p:nvPicPr>
          <p:cNvPr id="5" name="seccion-icono" descr="preencoded.png">    </p:cNvPr>
          <p:cNvPicPr>
            <a:picLocks noChangeAspect="1"/>
          </p:cNvPicPr>
          <p:nvPr/>
        </p:nvPicPr>
        <p:blipFill>
          <a:blip r:embed="rId1"/>
          <a:stretch>
            <a:fillRect/>
          </a:stretch>
        </p:blipFill>
        <p:spPr>
          <a:xfrm>
            <a:off x="982980" y="1303020"/>
            <a:ext cx="502920" cy="502920"/>
          </a:xfrm>
          <a:prstGeom prst="rect">
            <a:avLst/>
          </a:prstGeom>
        </p:spPr>
      </p:pic>
      <p:sp>
        <p:nvSpPr>
          <p:cNvPr id="6" name="seccion-dato"/>
          <p:cNvSpPr/>
          <p:nvPr/>
        </p:nvSpPr>
        <p:spPr>
          <a:xfrm>
            <a:off x="7498080" y="1828800"/>
            <a:ext cx="3931920" cy="3200400"/>
          </a:xfrm>
          <a:prstGeom prst="roundRect">
            <a:avLst>
              <a:gd name="adj" fmla="val 4286"/>
            </a:avLst>
          </a:prstGeom>
          <a:solidFill>
            <a:schemeClr val="accent3"/>
          </a:solidFill>
          <a:ln/>
        </p:spPr>
      </p:sp>
      <p:sp>
        <p:nvSpPr>
          <p:cNvPr id="7" name="Text 4"/>
          <p:cNvSpPr txBox="1"/>
          <p:nvPr/>
        </p:nvSpPr>
        <p:spPr>
          <a:xfrm>
            <a:off x="7680960" y="2103120"/>
            <a:ext cx="3566160" cy="1737360"/>
          </a:xfrm>
          <a:prstGeom prst="rect">
            <a:avLst/>
          </a:prstGeom>
          <a:noFill/>
          <a:ln/>
        </p:spPr>
        <p:txBody>
          <a:bodyPr wrap="square" lIns="0" tIns="0" rIns="0" bIns="0" rtlCol="0" anchor="ctr"/>
          <a:lstStyle/>
          <a:p>
            <a:pPr algn="ctr" indent="0" marL="0">
              <a:buNone/>
            </a:pPr>
            <a:r>
              <a:rPr lang="en-US" sz="4000" b="1" dirty="0">
                <a:solidFill>
                  <a:schemeClr val="bg1"/>
                </a:solidFill>
                <a:latin typeface="Arial" pitchFamily="34" charset="0"/>
                <a:ea typeface="Arial" pitchFamily="34" charset="-122"/>
                <a:cs typeface="Arial" pitchFamily="34" charset="-120"/>
              </a:rPr>
              <a:t>Angular 19</a:t>
            </a:r>
            <a:endParaRPr lang="en-US" sz="4000" dirty="0"/>
          </a:p>
        </p:txBody>
      </p:sp>
      <p:sp>
        <p:nvSpPr>
          <p:cNvPr id="8" name="Text 5"/>
          <p:cNvSpPr txBox="1"/>
          <p:nvPr/>
        </p:nvSpPr>
        <p:spPr>
          <a:xfrm>
            <a:off x="7680960" y="3840480"/>
            <a:ext cx="3566160" cy="1005840"/>
          </a:xfrm>
          <a:prstGeom prst="rect">
            <a:avLst/>
          </a:prstGeom>
          <a:noFill/>
          <a:ln/>
        </p:spPr>
        <p:txBody>
          <a:bodyPr wrap="square" lIns="0" tIns="0" rIns="0" bIns="0" rtlCol="0" anchor="t"/>
          <a:lstStyle/>
          <a:p>
            <a:pPr algn="ctr" indent="0" marL="0">
              <a:buNone/>
            </a:pPr>
            <a:r>
              <a:rPr lang="en-US" sz="1600" dirty="0">
                <a:solidFill>
                  <a:schemeClr val="bg1"/>
                </a:solidFill>
              </a:rPr>
              <a:t>ADF 8.0 · Node 24.11.1+ · npm 11</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Generador Nx: crear el workspace y la app</a:t>
            </a:r>
            <a:endParaRPr lang="en-US" sz="3400" dirty="0"/>
          </a:p>
        </p:txBody>
      </p:sp>
      <p:sp>
        <p:nvSpPr>
          <p:cNvPr id="3" name="nxcrear-fondo"/>
          <p:cNvSpPr/>
          <p:nvPr/>
        </p:nvSpPr>
        <p:spPr>
          <a:xfrm>
            <a:off x="548640" y="1417320"/>
            <a:ext cx="7498080" cy="4663440"/>
          </a:xfrm>
          <a:prstGeom prst="roundRect">
            <a:avLst>
              <a:gd name="adj" fmla="val 1569"/>
            </a:avLst>
          </a:prstGeom>
          <a:solidFill>
            <a:schemeClr val="tx2"/>
          </a:solidFill>
          <a:ln/>
        </p:spPr>
      </p:sp>
      <p:sp>
        <p:nvSpPr>
          <p:cNvPr id="4" name="nxcrear-codigo"/>
          <p:cNvSpPr txBox="1"/>
          <p:nvPr/>
        </p:nvSpPr>
        <p:spPr>
          <a:xfrm>
            <a:off x="777240" y="1581912"/>
            <a:ext cx="7040880" cy="4334256"/>
          </a:xfrm>
          <a:prstGeom prst="rect">
            <a:avLst/>
          </a:prstGeom>
          <a:noFill/>
          <a:ln/>
        </p:spPr>
        <p:txBody>
          <a:bodyPr wrap="square" lIns="0" tIns="0" rIns="0" bIns="0" rtlCol="0" anchor="t"/>
          <a:lstStyle/>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nvm use 24</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npx create-nx-workspace@latest adf-workspace `</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--preset=apps --nxCloud=skip `</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--packageManager=npm --no-interactive</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cd adf-workspace</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npx nx add @alfresco/adf-generators</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npx nx g @alfresco/adf-generators:template-app `</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--name=template --template=acs `</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--authType=BASIC --provider=ECM `</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--no-interactive</a:t>
            </a:r>
            <a:endParaRPr lang="en-US" sz="1400" dirty="0"/>
          </a:p>
        </p:txBody>
      </p:sp>
      <p:sp>
        <p:nvSpPr>
          <p:cNvPr id="5" name="Text 3"/>
          <p:cNvSpPr txBox="1"/>
          <p:nvPr/>
        </p:nvSpPr>
        <p:spPr>
          <a:xfrm>
            <a:off x="8412480" y="1417320"/>
            <a:ext cx="3200400" cy="457200"/>
          </a:xfrm>
          <a:prstGeom prst="rect">
            <a:avLst/>
          </a:prstGeom>
          <a:noFill/>
          <a:ln/>
        </p:spPr>
        <p:txBody>
          <a:bodyPr wrap="square" lIns="0" tIns="0" rIns="0" bIns="0" rtlCol="0" anchor="ctr"/>
          <a:lstStyle/>
          <a:p>
            <a:pPr indent="0" marL="0">
              <a:buNone/>
            </a:pPr>
            <a:r>
              <a:rPr lang="en-US" sz="2000" b="1" dirty="0">
                <a:solidFill>
                  <a:schemeClr val="tx2"/>
                </a:solidFill>
              </a:rPr>
              <a:t>Opciones</a:t>
            </a:r>
            <a:endParaRPr lang="en-US" sz="2000" dirty="0"/>
          </a:p>
        </p:txBody>
      </p:sp>
      <p:sp>
        <p:nvSpPr>
          <p:cNvPr id="6" name="nxopt---template"/>
          <p:cNvSpPr/>
          <p:nvPr/>
        </p:nvSpPr>
        <p:spPr>
          <a:xfrm>
            <a:off x="8412480" y="1965960"/>
            <a:ext cx="3200400" cy="1188720"/>
          </a:xfrm>
          <a:prstGeom prst="roundRect">
            <a:avLst>
              <a:gd name="adj" fmla="val 7692"/>
            </a:avLst>
          </a:prstGeom>
          <a:solidFill>
            <a:schemeClr val="bg2"/>
          </a:solidFill>
          <a:ln/>
        </p:spPr>
      </p:sp>
      <p:sp>
        <p:nvSpPr>
          <p:cNvPr id="7" name="Text 5"/>
          <p:cNvSpPr txBox="1"/>
          <p:nvPr/>
        </p:nvSpPr>
        <p:spPr>
          <a:xfrm>
            <a:off x="8595360" y="2103120"/>
            <a:ext cx="2834640" cy="365760"/>
          </a:xfrm>
          <a:prstGeom prst="rect">
            <a:avLst/>
          </a:prstGeom>
          <a:noFill/>
          <a:ln/>
        </p:spPr>
        <p:txBody>
          <a:bodyPr wrap="square" lIns="0" tIns="0" rIns="0" bIns="0" rtlCol="0" anchor="ctr"/>
          <a:lstStyle/>
          <a:p>
            <a:pPr indent="0" marL="0">
              <a:buNone/>
            </a:pPr>
            <a:r>
              <a:rPr lang="en-US" sz="1600" b="1" dirty="0">
                <a:solidFill>
                  <a:schemeClr val="accent3"/>
                </a:solidFill>
                <a:latin typeface="Courier New" pitchFamily="34" charset="0"/>
                <a:ea typeface="Courier New" pitchFamily="34" charset="-122"/>
                <a:cs typeface="Courier New" pitchFamily="34" charset="-120"/>
              </a:rPr>
              <a:t>--template</a:t>
            </a:r>
            <a:endParaRPr lang="en-US" sz="1600" dirty="0"/>
          </a:p>
        </p:txBody>
      </p:sp>
      <p:sp>
        <p:nvSpPr>
          <p:cNvPr id="8" name="Text 6"/>
          <p:cNvSpPr txBox="1"/>
          <p:nvPr/>
        </p:nvSpPr>
        <p:spPr>
          <a:xfrm>
            <a:off x="8595360" y="2468880"/>
            <a:ext cx="2834640" cy="594360"/>
          </a:xfrm>
          <a:prstGeom prst="rect">
            <a:avLst/>
          </a:prstGeom>
          <a:noFill/>
          <a:ln/>
        </p:spPr>
        <p:txBody>
          <a:bodyPr wrap="square" lIns="0" tIns="0" rIns="0" bIns="0" rtlCol="0" anchor="t"/>
          <a:lstStyle/>
          <a:p>
            <a:pPr indent="0" marL="0">
              <a:buNone/>
            </a:pPr>
            <a:r>
              <a:rPr lang="en-US" sz="1400" dirty="0">
                <a:solidFill>
                  <a:schemeClr val="tx1"/>
                </a:solidFill>
              </a:rPr>
              <a:t>empty, acs, aps, acs-aps, automate, apa, acs-apa</a:t>
            </a:r>
            <a:endParaRPr lang="en-US" sz="1400" dirty="0"/>
          </a:p>
        </p:txBody>
      </p:sp>
      <p:sp>
        <p:nvSpPr>
          <p:cNvPr id="9" name="nxopt---authType"/>
          <p:cNvSpPr/>
          <p:nvPr/>
        </p:nvSpPr>
        <p:spPr>
          <a:xfrm>
            <a:off x="8412480" y="3337560"/>
            <a:ext cx="3200400" cy="1188720"/>
          </a:xfrm>
          <a:prstGeom prst="roundRect">
            <a:avLst>
              <a:gd name="adj" fmla="val 7692"/>
            </a:avLst>
          </a:prstGeom>
          <a:solidFill>
            <a:schemeClr val="bg2"/>
          </a:solidFill>
          <a:ln/>
        </p:spPr>
      </p:sp>
      <p:sp>
        <p:nvSpPr>
          <p:cNvPr id="10" name="Text 8"/>
          <p:cNvSpPr txBox="1"/>
          <p:nvPr/>
        </p:nvSpPr>
        <p:spPr>
          <a:xfrm>
            <a:off x="8595360" y="3474720"/>
            <a:ext cx="2834640" cy="365760"/>
          </a:xfrm>
          <a:prstGeom prst="rect">
            <a:avLst/>
          </a:prstGeom>
          <a:noFill/>
          <a:ln/>
        </p:spPr>
        <p:txBody>
          <a:bodyPr wrap="square" lIns="0" tIns="0" rIns="0" bIns="0" rtlCol="0" anchor="ctr"/>
          <a:lstStyle/>
          <a:p>
            <a:pPr indent="0" marL="0">
              <a:buNone/>
            </a:pPr>
            <a:r>
              <a:rPr lang="en-US" sz="1600" b="1" dirty="0">
                <a:solidFill>
                  <a:schemeClr val="accent3"/>
                </a:solidFill>
                <a:latin typeface="Courier New" pitchFamily="34" charset="0"/>
                <a:ea typeface="Courier New" pitchFamily="34" charset="-122"/>
                <a:cs typeface="Courier New" pitchFamily="34" charset="-120"/>
              </a:rPr>
              <a:t>--authType</a:t>
            </a:r>
            <a:endParaRPr lang="en-US" sz="1600" dirty="0"/>
          </a:p>
        </p:txBody>
      </p:sp>
      <p:sp>
        <p:nvSpPr>
          <p:cNvPr id="11" name="Text 9"/>
          <p:cNvSpPr txBox="1"/>
          <p:nvPr/>
        </p:nvSpPr>
        <p:spPr>
          <a:xfrm>
            <a:off x="8595360" y="3840480"/>
            <a:ext cx="2834640" cy="594360"/>
          </a:xfrm>
          <a:prstGeom prst="rect">
            <a:avLst/>
          </a:prstGeom>
          <a:noFill/>
          <a:ln/>
        </p:spPr>
        <p:txBody>
          <a:bodyPr wrap="square" lIns="0" tIns="0" rIns="0" bIns="0" rtlCol="0" anchor="t"/>
          <a:lstStyle/>
          <a:p>
            <a:pPr indent="0" marL="0">
              <a:buNone/>
            </a:pPr>
            <a:r>
              <a:rPr lang="en-US" sz="1400" dirty="0">
                <a:solidFill>
                  <a:schemeClr val="tx1"/>
                </a:solidFill>
              </a:rPr>
              <a:t>BASIC u OAUTH</a:t>
            </a:r>
            <a:endParaRPr lang="en-US" sz="1400" dirty="0"/>
          </a:p>
        </p:txBody>
      </p:sp>
      <p:sp>
        <p:nvSpPr>
          <p:cNvPr id="12" name="nxopt---provider"/>
          <p:cNvSpPr/>
          <p:nvPr/>
        </p:nvSpPr>
        <p:spPr>
          <a:xfrm>
            <a:off x="8412480" y="4709160"/>
            <a:ext cx="3200400" cy="1188720"/>
          </a:xfrm>
          <a:prstGeom prst="roundRect">
            <a:avLst>
              <a:gd name="adj" fmla="val 7692"/>
            </a:avLst>
          </a:prstGeom>
          <a:solidFill>
            <a:schemeClr val="bg2"/>
          </a:solidFill>
          <a:ln/>
        </p:spPr>
      </p:sp>
      <p:sp>
        <p:nvSpPr>
          <p:cNvPr id="13" name="Text 11"/>
          <p:cNvSpPr txBox="1"/>
          <p:nvPr/>
        </p:nvSpPr>
        <p:spPr>
          <a:xfrm>
            <a:off x="8595360" y="4846320"/>
            <a:ext cx="2834640" cy="365760"/>
          </a:xfrm>
          <a:prstGeom prst="rect">
            <a:avLst/>
          </a:prstGeom>
          <a:noFill/>
          <a:ln/>
        </p:spPr>
        <p:txBody>
          <a:bodyPr wrap="square" lIns="0" tIns="0" rIns="0" bIns="0" rtlCol="0" anchor="ctr"/>
          <a:lstStyle/>
          <a:p>
            <a:pPr indent="0" marL="0">
              <a:buNone/>
            </a:pPr>
            <a:r>
              <a:rPr lang="en-US" sz="1600" b="1" dirty="0">
                <a:solidFill>
                  <a:schemeClr val="accent3"/>
                </a:solidFill>
                <a:latin typeface="Courier New" pitchFamily="34" charset="0"/>
                <a:ea typeface="Courier New" pitchFamily="34" charset="-122"/>
                <a:cs typeface="Courier New" pitchFamily="34" charset="-120"/>
              </a:rPr>
              <a:t>--provider</a:t>
            </a:r>
            <a:endParaRPr lang="en-US" sz="1600" dirty="0"/>
          </a:p>
        </p:txBody>
      </p:sp>
      <p:sp>
        <p:nvSpPr>
          <p:cNvPr id="14" name="Text 12"/>
          <p:cNvSpPr txBox="1"/>
          <p:nvPr/>
        </p:nvSpPr>
        <p:spPr>
          <a:xfrm>
            <a:off x="8595360" y="5212080"/>
            <a:ext cx="2834640" cy="594360"/>
          </a:xfrm>
          <a:prstGeom prst="rect">
            <a:avLst/>
          </a:prstGeom>
          <a:noFill/>
          <a:ln/>
        </p:spPr>
        <p:txBody>
          <a:bodyPr wrap="square" lIns="0" tIns="0" rIns="0" bIns="0" rtlCol="0" anchor="t"/>
          <a:lstStyle/>
          <a:p>
            <a:pPr indent="0" marL="0">
              <a:buNone/>
            </a:pPr>
            <a:r>
              <a:rPr lang="en-US" sz="1400" dirty="0">
                <a:solidFill>
                  <a:schemeClr val="tx1"/>
                </a:solidFill>
              </a:rPr>
              <a:t>ECM, BPM o ALL</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Generador Nx: configurar y ejecutar</a:t>
            </a:r>
            <a:endParaRPr lang="en-US" sz="3400" dirty="0"/>
          </a:p>
        </p:txBody>
      </p:sp>
      <p:sp>
        <p:nvSpPr>
          <p:cNvPr id="3" name="nxproxy-fondo"/>
          <p:cNvSpPr/>
          <p:nvPr/>
        </p:nvSpPr>
        <p:spPr>
          <a:xfrm>
            <a:off x="548640" y="1417320"/>
            <a:ext cx="5486400" cy="2194560"/>
          </a:xfrm>
          <a:prstGeom prst="roundRect">
            <a:avLst>
              <a:gd name="adj" fmla="val 3333"/>
            </a:avLst>
          </a:prstGeom>
          <a:solidFill>
            <a:schemeClr val="tx2"/>
          </a:solidFill>
          <a:ln/>
        </p:spPr>
      </p:sp>
      <p:sp>
        <p:nvSpPr>
          <p:cNvPr id="4" name="nxproxy-codigo"/>
          <p:cNvSpPr txBox="1"/>
          <p:nvPr/>
        </p:nvSpPr>
        <p:spPr>
          <a:xfrm>
            <a:off x="777240" y="1581912"/>
            <a:ext cx="5029200" cy="1865376"/>
          </a:xfrm>
          <a:prstGeom prst="rect">
            <a:avLst/>
          </a:prstGeom>
          <a:noFill/>
          <a:ln/>
        </p:spPr>
        <p:txBody>
          <a:bodyPr wrap="square" lIns="0" tIns="0" rIns="0" bIns="0" rtlCol="0" anchor="t"/>
          <a:lstStyle/>
          <a:p>
            <a:pPr indent="0" marL="0">
              <a:spcAft>
                <a:spcPts val="200"/>
              </a:spcAft>
              <a:buNone/>
            </a:pPr>
            <a:r>
              <a:rPr lang="en-US" sz="1400" dirty="0">
                <a:solidFill>
                  <a:schemeClr val="accent1"/>
                </a:solidFill>
                <a:latin typeface="Courier New" pitchFamily="34" charset="0"/>
                <a:ea typeface="Courier New" pitchFamily="34" charset="-122"/>
                <a:cs typeface="Courier New" pitchFamily="34" charset="-120"/>
              </a:rPr>
              <a:t>// template\proxy.conf.js</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const ecmHost = 'http://localhost:8080';</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const bpmHost = '';   </a:t>
            </a:r>
            <a:pPr indent="0" marL="0">
              <a:spcAft>
                <a:spcPts val="200"/>
              </a:spcAft>
              <a:buNone/>
            </a:pPr>
            <a:r>
              <a:rPr lang="en-US" sz="1400" dirty="0">
                <a:solidFill>
                  <a:schemeClr val="accent1"/>
                </a:solidFill>
                <a:latin typeface="Courier New" pitchFamily="34" charset="0"/>
                <a:ea typeface="Courier New" pitchFamily="34" charset="-122"/>
                <a:cs typeface="Courier New" pitchFamily="34" charset="-120"/>
              </a:rPr>
              <a:t>// solo con APS</a:t>
            </a:r>
            <a:endParaRPr lang="en-US" sz="1400" dirty="0"/>
          </a:p>
        </p:txBody>
      </p:sp>
      <p:sp>
        <p:nvSpPr>
          <p:cNvPr id="5" name="nxrun-fondo"/>
          <p:cNvSpPr/>
          <p:nvPr/>
        </p:nvSpPr>
        <p:spPr>
          <a:xfrm>
            <a:off x="548640" y="3886200"/>
            <a:ext cx="5486400" cy="2194560"/>
          </a:xfrm>
          <a:prstGeom prst="roundRect">
            <a:avLst>
              <a:gd name="adj" fmla="val 3333"/>
            </a:avLst>
          </a:prstGeom>
          <a:solidFill>
            <a:schemeClr val="tx2"/>
          </a:solidFill>
          <a:ln/>
        </p:spPr>
      </p:sp>
      <p:sp>
        <p:nvSpPr>
          <p:cNvPr id="6" name="nxrun-codigo"/>
          <p:cNvSpPr txBox="1"/>
          <p:nvPr/>
        </p:nvSpPr>
        <p:spPr>
          <a:xfrm>
            <a:off x="777240" y="4050792"/>
            <a:ext cx="5029200" cy="1865376"/>
          </a:xfrm>
          <a:prstGeom prst="rect">
            <a:avLst/>
          </a:prstGeom>
          <a:noFill/>
          <a:ln/>
        </p:spPr>
        <p:txBody>
          <a:bodyPr wrap="square" lIns="0" tIns="0" rIns="0" bIns="0" rtlCol="0" anchor="t"/>
          <a:lstStyle/>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cd template</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npm install    </a:t>
            </a:r>
            <a:pPr indent="0" marL="0">
              <a:spcAft>
                <a:spcPts val="200"/>
              </a:spcAft>
              <a:buNone/>
            </a:pPr>
            <a:r>
              <a:rPr lang="en-US" sz="1400" dirty="0">
                <a:solidFill>
                  <a:schemeClr val="accent1"/>
                </a:solidFill>
                <a:latin typeface="Courier New" pitchFamily="34" charset="0"/>
                <a:ea typeface="Courier New" pitchFamily="34" charset="-122"/>
                <a:cs typeface="Courier New" pitchFamily="34" charset="-120"/>
              </a:rPr>
              <a:t># ~2 min</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npm start      </a:t>
            </a:r>
            <a:pPr indent="0" marL="0">
              <a:spcAft>
                <a:spcPts val="200"/>
              </a:spcAft>
              <a:buNone/>
            </a:pPr>
            <a:r>
              <a:rPr lang="en-US" sz="1400" dirty="0">
                <a:solidFill>
                  <a:schemeClr val="accent1"/>
                </a:solidFill>
                <a:latin typeface="Courier New" pitchFamily="34" charset="0"/>
                <a:ea typeface="Courier New" pitchFamily="34" charset="-122"/>
                <a:cs typeface="Courier New" pitchFamily="34" charset="-120"/>
              </a:rPr>
              <a:t># http://localhost:4200</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npm run build  </a:t>
            </a:r>
            <a:pPr indent="0" marL="0">
              <a:spcAft>
                <a:spcPts val="200"/>
              </a:spcAft>
              <a:buNone/>
            </a:pPr>
            <a:r>
              <a:rPr lang="en-US" sz="1400" dirty="0">
                <a:solidFill>
                  <a:schemeClr val="accent1"/>
                </a:solidFill>
                <a:latin typeface="Courier New" pitchFamily="34" charset="0"/>
                <a:ea typeface="Courier New" pitchFamily="34" charset="-122"/>
                <a:cs typeface="Courier New" pitchFamily="34" charset="-120"/>
              </a:rPr>
              <a:t># build de producción</a:t>
            </a:r>
            <a:endParaRPr lang="en-US" sz="1400" dirty="0"/>
          </a:p>
        </p:txBody>
      </p:sp>
      <p:sp>
        <p:nvSpPr>
          <p:cNvPr id="7" name="Text 5"/>
          <p:cNvSpPr txBox="1"/>
          <p:nvPr/>
        </p:nvSpPr>
        <p:spPr>
          <a:xfrm>
            <a:off x="6400800" y="1417320"/>
            <a:ext cx="5212080" cy="457200"/>
          </a:xfrm>
          <a:prstGeom prst="rect">
            <a:avLst/>
          </a:prstGeom>
          <a:noFill/>
          <a:ln/>
        </p:spPr>
        <p:txBody>
          <a:bodyPr wrap="square" lIns="0" tIns="0" rIns="0" bIns="0" rtlCol="0" anchor="ctr"/>
          <a:lstStyle/>
          <a:p>
            <a:pPr indent="0" marL="0">
              <a:buNone/>
            </a:pPr>
            <a:r>
              <a:rPr lang="en-US" sz="2000" b="1" dirty="0">
                <a:solidFill>
                  <a:schemeClr val="tx2"/>
                </a:solidFill>
              </a:rPr>
              <a:t>La app generada</a:t>
            </a:r>
            <a:endParaRPr lang="en-US" sz="2000" dirty="0"/>
          </a:p>
        </p:txBody>
      </p:sp>
      <p:sp>
        <p:nvSpPr>
          <p:cNvPr id="8" name="Text 6"/>
          <p:cNvSpPr txBox="1"/>
          <p:nvPr/>
        </p:nvSpPr>
        <p:spPr>
          <a:xfrm>
            <a:off x="6400800" y="1965960"/>
            <a:ext cx="5212080" cy="41148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Es un proyecto npm propio dentro del workspace (Nx 21 + Angular 19)</a:t>
            </a:r>
            <a:endParaRPr lang="en-US" sz="1600" dirty="0"/>
          </a:p>
          <a:p>
            <a:pPr marL="342900" indent="-342900">
              <a:spcAft>
                <a:spcPts val="1000"/>
              </a:spcAft>
              <a:buSzPct val="100000"/>
              <a:buChar char="•"/>
            </a:pPr>
            <a:r>
              <a:rPr lang="en-US" sz="1600" dirty="0">
                <a:solidFill>
                  <a:schemeClr val="tx1"/>
                </a:solidFill>
              </a:rPr>
              <a:t>app.config.ts standalone con importProvidersFrom(AuthModule, CoreModule, ContentModule)</a:t>
            </a:r>
            <a:endParaRPr lang="en-US" sz="1600" dirty="0"/>
          </a:p>
          <a:p>
            <a:pPr marL="342900" indent="-342900">
              <a:spcAft>
                <a:spcPts val="1000"/>
              </a:spcAft>
              <a:buSzPct val="100000"/>
              <a:buChar char="•"/>
            </a:pPr>
            <a:r>
              <a:rPr lang="en-US" sz="1600" dirty="0">
                <a:solidFill>
                  <a:schemeClr val="tx1"/>
                </a:solidFill>
              </a:rPr>
              <a:t>Rutas: login, home, documents, files/:nodeId/view</a:t>
            </a:r>
            <a:endParaRPr lang="en-US" sz="1600" dirty="0"/>
          </a:p>
          <a:p>
            <a:pPr marL="342900" indent="-342900">
              <a:spcAft>
                <a:spcPts val="1000"/>
              </a:spcAft>
              <a:buSzPct val="100000"/>
              <a:buChar char="•"/>
            </a:pPr>
            <a:r>
              <a:rPr lang="en-US" sz="1600" dirty="0">
                <a:solidFill>
                  <a:schemeClr val="tx1"/>
                </a:solidFill>
              </a:rPr>
              <a:t>Layout con menú lateral (adf-sidenav-layout)</a:t>
            </a:r>
            <a:endParaRPr lang="en-US" sz="1600" dirty="0"/>
          </a:p>
          <a:p>
            <a:pPr marL="342900" indent="-342900">
              <a:spcAft>
                <a:spcPts val="1000"/>
              </a:spcAft>
              <a:buSzPct val="100000"/>
              <a:buChar char="•"/>
            </a:pPr>
            <a:r>
              <a:rPr lang="en-US" sz="1600" dirty="0">
                <a:solidFill>
                  <a:schemeClr val="tx1"/>
                </a:solidFill>
              </a:rPr>
              <a:t>Tema en theme.scss, colors.scss, variables.scss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Generador Nx: comandos correctos</a:t>
            </a:r>
            <a:endParaRPr lang="en-US" sz="3400" dirty="0"/>
          </a:p>
        </p:txBody>
      </p:sp>
      <p:sp>
        <p:nvSpPr>
          <p:cNvPr id="3" name="nxfix-Nombre completo del generador"/>
          <p:cNvSpPr/>
          <p:nvPr/>
        </p:nvSpPr>
        <p:spPr>
          <a:xfrm>
            <a:off x="548640" y="1371600"/>
            <a:ext cx="11064240" cy="1463040"/>
          </a:xfrm>
          <a:prstGeom prst="roundRect">
            <a:avLst>
              <a:gd name="adj" fmla="val 6250"/>
            </a:avLst>
          </a:prstGeom>
          <a:solidFill>
            <a:schemeClr val="bg2"/>
          </a:solidFill>
          <a:ln/>
        </p:spPr>
      </p:sp>
      <p:sp>
        <p:nvSpPr>
          <p:cNvPr id="4" name="nxfix-Nombre completo del generador-circulo"/>
          <p:cNvSpPr/>
          <p:nvPr/>
        </p:nvSpPr>
        <p:spPr>
          <a:xfrm>
            <a:off x="777240" y="1737360"/>
            <a:ext cx="731520" cy="731520"/>
          </a:xfrm>
          <a:prstGeom prst="ellipse">
            <a:avLst/>
          </a:prstGeom>
          <a:solidFill>
            <a:schemeClr val="accent3"/>
          </a:solidFill>
          <a:ln/>
        </p:spPr>
      </p:sp>
      <p:pic>
        <p:nvPicPr>
          <p:cNvPr id="5" name="nxfix-Nombre completo del generador-icono" descr="preencoded.png">    </p:cNvPr>
          <p:cNvPicPr>
            <a:picLocks noChangeAspect="1"/>
          </p:cNvPicPr>
          <p:nvPr/>
        </p:nvPicPr>
        <p:blipFill>
          <a:blip r:embed="rId1"/>
          <a:stretch>
            <a:fillRect/>
          </a:stretch>
        </p:blipFill>
        <p:spPr>
          <a:xfrm>
            <a:off x="960120" y="1920240"/>
            <a:ext cx="365760" cy="365760"/>
          </a:xfrm>
          <a:prstGeom prst="rect">
            <a:avLst/>
          </a:prstGeom>
        </p:spPr>
      </p:pic>
      <p:sp>
        <p:nvSpPr>
          <p:cNvPr id="6" name="Text 3"/>
          <p:cNvSpPr txBox="1"/>
          <p:nvPr/>
        </p:nvSpPr>
        <p:spPr>
          <a:xfrm>
            <a:off x="1691640" y="1554480"/>
            <a:ext cx="3566160" cy="457200"/>
          </a:xfrm>
          <a:prstGeom prst="rect">
            <a:avLst/>
          </a:prstGeom>
          <a:noFill/>
          <a:ln/>
        </p:spPr>
        <p:txBody>
          <a:bodyPr wrap="square" lIns="0" tIns="0" rIns="0" bIns="0" rtlCol="0" anchor="ctr"/>
          <a:lstStyle/>
          <a:p>
            <a:pPr indent="0" marL="0">
              <a:buNone/>
            </a:pPr>
            <a:r>
              <a:rPr lang="en-US" sz="1800" b="1" dirty="0">
                <a:solidFill>
                  <a:schemeClr val="tx2"/>
                </a:solidFill>
              </a:rPr>
              <a:t>Nombre completo del generador</a:t>
            </a:r>
            <a:endParaRPr lang="en-US" sz="1800" dirty="0"/>
          </a:p>
        </p:txBody>
      </p:sp>
      <p:sp>
        <p:nvSpPr>
          <p:cNvPr id="7" name="Text 4"/>
          <p:cNvSpPr txBox="1"/>
          <p:nvPr/>
        </p:nvSpPr>
        <p:spPr>
          <a:xfrm>
            <a:off x="1691640" y="2011680"/>
            <a:ext cx="3566160" cy="685800"/>
          </a:xfrm>
          <a:prstGeom prst="rect">
            <a:avLst/>
          </a:prstGeom>
          <a:noFill/>
          <a:ln/>
        </p:spPr>
        <p:txBody>
          <a:bodyPr wrap="square" lIns="0" tIns="0" rIns="0" bIns="0" rtlCol="0" anchor="t"/>
          <a:lstStyle/>
          <a:p>
            <a:pPr indent="0" marL="0">
              <a:buNone/>
            </a:pPr>
            <a:r>
              <a:rPr lang="en-US" sz="1400" dirty="0">
                <a:solidFill>
                  <a:schemeClr val="tx1"/>
                </a:solidFill>
              </a:rPr>
              <a:t>Al blog y a docs.hyland.com les falta @alfresco</a:t>
            </a:r>
            <a:endParaRPr lang="en-US" sz="1400" dirty="0"/>
          </a:p>
        </p:txBody>
      </p:sp>
      <p:sp>
        <p:nvSpPr>
          <p:cNvPr id="8" name="nxfix-Nombre completo del generador-fondo"/>
          <p:cNvSpPr/>
          <p:nvPr/>
        </p:nvSpPr>
        <p:spPr>
          <a:xfrm>
            <a:off x="5440680" y="1481328"/>
            <a:ext cx="6035040" cy="1243584"/>
          </a:xfrm>
          <a:prstGeom prst="roundRect">
            <a:avLst>
              <a:gd name="adj" fmla="val 5882"/>
            </a:avLst>
          </a:prstGeom>
          <a:solidFill>
            <a:schemeClr val="tx2"/>
          </a:solidFill>
          <a:ln/>
        </p:spPr>
      </p:sp>
      <p:sp>
        <p:nvSpPr>
          <p:cNvPr id="9" name="nxfix-Nombre completo del generador-codigo"/>
          <p:cNvSpPr txBox="1"/>
          <p:nvPr/>
        </p:nvSpPr>
        <p:spPr>
          <a:xfrm>
            <a:off x="5669280" y="1645920"/>
            <a:ext cx="5577840" cy="914400"/>
          </a:xfrm>
          <a:prstGeom prst="rect">
            <a:avLst/>
          </a:prstGeom>
          <a:noFill/>
          <a:ln/>
        </p:spPr>
        <p:txBody>
          <a:bodyPr wrap="square" lIns="0" tIns="0" rIns="0" bIns="0" rtlCol="0" anchor="t"/>
          <a:lstStyle/>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npx nx g @alfresco/adf-generators:template-app `</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  --name=template --template=acs `</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  --authType=BASIC --provider=ECM</a:t>
            </a:r>
            <a:endParaRPr lang="en-US" sz="1300" dirty="0"/>
          </a:p>
        </p:txBody>
      </p:sp>
      <p:sp>
        <p:nvSpPr>
          <p:cNvPr id="10" name="nxfix-Instalar e iniciar sin pasos extra"/>
          <p:cNvSpPr/>
          <p:nvPr/>
        </p:nvSpPr>
        <p:spPr>
          <a:xfrm>
            <a:off x="548640" y="2971800"/>
            <a:ext cx="11064240" cy="1463040"/>
          </a:xfrm>
          <a:prstGeom prst="roundRect">
            <a:avLst>
              <a:gd name="adj" fmla="val 6250"/>
            </a:avLst>
          </a:prstGeom>
          <a:solidFill>
            <a:schemeClr val="bg2"/>
          </a:solidFill>
          <a:ln/>
        </p:spPr>
      </p:sp>
      <p:sp>
        <p:nvSpPr>
          <p:cNvPr id="11" name="nxfix-Instalar e iniciar sin pasos extra-circulo"/>
          <p:cNvSpPr/>
          <p:nvPr/>
        </p:nvSpPr>
        <p:spPr>
          <a:xfrm>
            <a:off x="777240" y="3337560"/>
            <a:ext cx="731520" cy="731520"/>
          </a:xfrm>
          <a:prstGeom prst="ellipse">
            <a:avLst/>
          </a:prstGeom>
          <a:solidFill>
            <a:schemeClr val="accent3"/>
          </a:solidFill>
          <a:ln/>
        </p:spPr>
      </p:sp>
      <p:pic>
        <p:nvPicPr>
          <p:cNvPr id="12" name="nxfix-Instalar e iniciar sin pasos extra-icono" descr="preencoded.png">    </p:cNvPr>
          <p:cNvPicPr>
            <a:picLocks noChangeAspect="1"/>
          </p:cNvPicPr>
          <p:nvPr/>
        </p:nvPicPr>
        <p:blipFill>
          <a:blip r:embed="rId2"/>
          <a:stretch>
            <a:fillRect/>
          </a:stretch>
        </p:blipFill>
        <p:spPr>
          <a:xfrm>
            <a:off x="960120" y="3520440"/>
            <a:ext cx="365760" cy="365760"/>
          </a:xfrm>
          <a:prstGeom prst="rect">
            <a:avLst/>
          </a:prstGeom>
        </p:spPr>
      </p:pic>
      <p:sp>
        <p:nvSpPr>
          <p:cNvPr id="13" name="Text 9"/>
          <p:cNvSpPr txBox="1"/>
          <p:nvPr/>
        </p:nvSpPr>
        <p:spPr>
          <a:xfrm>
            <a:off x="1691640" y="3154680"/>
            <a:ext cx="3566160" cy="457200"/>
          </a:xfrm>
          <a:prstGeom prst="rect">
            <a:avLst/>
          </a:prstGeom>
          <a:noFill/>
          <a:ln/>
        </p:spPr>
        <p:txBody>
          <a:bodyPr wrap="square" lIns="0" tIns="0" rIns="0" bIns="0" rtlCol="0" anchor="ctr"/>
          <a:lstStyle/>
          <a:p>
            <a:pPr indent="0" marL="0">
              <a:buNone/>
            </a:pPr>
            <a:r>
              <a:rPr lang="en-US" sz="1800" b="1" dirty="0">
                <a:solidFill>
                  <a:schemeClr val="tx2"/>
                </a:solidFill>
              </a:rPr>
              <a:t>Instalar e iniciar sin pasos extra</a:t>
            </a:r>
            <a:endParaRPr lang="en-US" sz="1800" dirty="0"/>
          </a:p>
        </p:txBody>
      </p:sp>
      <p:sp>
        <p:nvSpPr>
          <p:cNvPr id="14" name="Text 10"/>
          <p:cNvSpPr txBox="1"/>
          <p:nvPr/>
        </p:nvSpPr>
        <p:spPr>
          <a:xfrm>
            <a:off x="1691640" y="3611880"/>
            <a:ext cx="3566160" cy="685800"/>
          </a:xfrm>
          <a:prstGeom prst="rect">
            <a:avLst/>
          </a:prstGeom>
          <a:noFill/>
          <a:ln/>
        </p:spPr>
        <p:txBody>
          <a:bodyPr wrap="square" lIns="0" tIns="0" rIns="0" bIns="0" rtlCol="0" anchor="t"/>
          <a:lstStyle/>
          <a:p>
            <a:pPr indent="0" marL="0">
              <a:buNone/>
            </a:pPr>
            <a:r>
              <a:rPr lang="en-US" sz="1400" dirty="0">
                <a:solidFill>
                  <a:schemeClr val="tx1"/>
                </a:solidFill>
              </a:rPr>
              <a:t>No instalar @angular-devkit/build-angular: el template ya lo trae</a:t>
            </a:r>
            <a:endParaRPr lang="en-US" sz="1400" dirty="0"/>
          </a:p>
        </p:txBody>
      </p:sp>
      <p:sp>
        <p:nvSpPr>
          <p:cNvPr id="15" name="nxfix-Instalar e iniciar sin pasos extra-fondo"/>
          <p:cNvSpPr/>
          <p:nvPr/>
        </p:nvSpPr>
        <p:spPr>
          <a:xfrm>
            <a:off x="5440680" y="3081528"/>
            <a:ext cx="6035040" cy="1243584"/>
          </a:xfrm>
          <a:prstGeom prst="roundRect">
            <a:avLst>
              <a:gd name="adj" fmla="val 5882"/>
            </a:avLst>
          </a:prstGeom>
          <a:solidFill>
            <a:schemeClr val="tx2"/>
          </a:solidFill>
          <a:ln/>
        </p:spPr>
      </p:sp>
      <p:sp>
        <p:nvSpPr>
          <p:cNvPr id="16" name="nxfix-Instalar e iniciar sin pasos extra-codigo"/>
          <p:cNvSpPr txBox="1"/>
          <p:nvPr/>
        </p:nvSpPr>
        <p:spPr>
          <a:xfrm>
            <a:off x="5669280" y="3246120"/>
            <a:ext cx="5577840" cy="914400"/>
          </a:xfrm>
          <a:prstGeom prst="rect">
            <a:avLst/>
          </a:prstGeom>
          <a:noFill/>
          <a:ln/>
        </p:spPr>
        <p:txBody>
          <a:bodyPr wrap="square" lIns="0" tIns="0" rIns="0" bIns="0" rtlCol="0" anchor="t"/>
          <a:lstStyle/>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cd template</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npm install</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npm start</a:t>
            </a:r>
            <a:endParaRPr lang="en-US" sz="1300" dirty="0"/>
          </a:p>
        </p:txBody>
      </p:sp>
      <p:sp>
        <p:nvSpPr>
          <p:cNvPr id="17" name="nxfix-Node 24, no 22"/>
          <p:cNvSpPr/>
          <p:nvPr/>
        </p:nvSpPr>
        <p:spPr>
          <a:xfrm>
            <a:off x="548640" y="4572000"/>
            <a:ext cx="11064240" cy="1463040"/>
          </a:xfrm>
          <a:prstGeom prst="roundRect">
            <a:avLst>
              <a:gd name="adj" fmla="val 6250"/>
            </a:avLst>
          </a:prstGeom>
          <a:solidFill>
            <a:schemeClr val="bg2"/>
          </a:solidFill>
          <a:ln/>
        </p:spPr>
      </p:sp>
      <p:sp>
        <p:nvSpPr>
          <p:cNvPr id="18" name="nxfix-Node 24, no 22-circulo"/>
          <p:cNvSpPr/>
          <p:nvPr/>
        </p:nvSpPr>
        <p:spPr>
          <a:xfrm>
            <a:off x="777240" y="4937760"/>
            <a:ext cx="731520" cy="731520"/>
          </a:xfrm>
          <a:prstGeom prst="ellipse">
            <a:avLst/>
          </a:prstGeom>
          <a:solidFill>
            <a:schemeClr val="accent3"/>
          </a:solidFill>
          <a:ln/>
        </p:spPr>
      </p:sp>
      <p:pic>
        <p:nvPicPr>
          <p:cNvPr id="19" name="nxfix-Node 24, no 22-icono" descr="preencoded.png">    </p:cNvPr>
          <p:cNvPicPr>
            <a:picLocks noChangeAspect="1"/>
          </p:cNvPicPr>
          <p:nvPr/>
        </p:nvPicPr>
        <p:blipFill>
          <a:blip r:embed="rId3"/>
          <a:stretch>
            <a:fillRect/>
          </a:stretch>
        </p:blipFill>
        <p:spPr>
          <a:xfrm>
            <a:off x="960120" y="5120640"/>
            <a:ext cx="365760" cy="365760"/>
          </a:xfrm>
          <a:prstGeom prst="rect">
            <a:avLst/>
          </a:prstGeom>
        </p:spPr>
      </p:pic>
      <p:sp>
        <p:nvSpPr>
          <p:cNvPr id="20" name="Text 15"/>
          <p:cNvSpPr txBox="1"/>
          <p:nvPr/>
        </p:nvSpPr>
        <p:spPr>
          <a:xfrm>
            <a:off x="1691640" y="4754880"/>
            <a:ext cx="3566160" cy="457200"/>
          </a:xfrm>
          <a:prstGeom prst="rect">
            <a:avLst/>
          </a:prstGeom>
          <a:noFill/>
          <a:ln/>
        </p:spPr>
        <p:txBody>
          <a:bodyPr wrap="square" lIns="0" tIns="0" rIns="0" bIns="0" rtlCol="0" anchor="ctr"/>
          <a:lstStyle/>
          <a:p>
            <a:pPr indent="0" marL="0">
              <a:buNone/>
            </a:pPr>
            <a:r>
              <a:rPr lang="en-US" sz="1800" b="1" dirty="0">
                <a:solidFill>
                  <a:schemeClr val="tx2"/>
                </a:solidFill>
              </a:rPr>
              <a:t>Node 24, no 22</a:t>
            </a:r>
            <a:endParaRPr lang="en-US" sz="1800" dirty="0"/>
          </a:p>
        </p:txBody>
      </p:sp>
      <p:sp>
        <p:nvSpPr>
          <p:cNvPr id="21" name="Text 16"/>
          <p:cNvSpPr txBox="1"/>
          <p:nvPr/>
        </p:nvSpPr>
        <p:spPr>
          <a:xfrm>
            <a:off x="1691640" y="5212080"/>
            <a:ext cx="3566160" cy="685800"/>
          </a:xfrm>
          <a:prstGeom prst="rect">
            <a:avLst/>
          </a:prstGeom>
          <a:noFill/>
          <a:ln/>
        </p:spPr>
        <p:txBody>
          <a:bodyPr wrap="square" lIns="0" tIns="0" rIns="0" bIns="0" rtlCol="0" anchor="t"/>
          <a:lstStyle/>
          <a:p>
            <a:pPr indent="0" marL="0">
              <a:buNone/>
            </a:pPr>
            <a:r>
              <a:rPr lang="en-US" sz="1400" dirty="0">
                <a:solidFill>
                  <a:schemeClr val="tx1"/>
                </a:solidFill>
              </a:rPr>
              <a:t>El .nvmrc del repositorio de generadores pide 24.11.1</a:t>
            </a:r>
            <a:endParaRPr lang="en-US" sz="1400" dirty="0"/>
          </a:p>
        </p:txBody>
      </p:sp>
      <p:sp>
        <p:nvSpPr>
          <p:cNvPr id="22" name="nxfix-Node 24, no 22-fondo"/>
          <p:cNvSpPr/>
          <p:nvPr/>
        </p:nvSpPr>
        <p:spPr>
          <a:xfrm>
            <a:off x="5440680" y="4681728"/>
            <a:ext cx="6035040" cy="1243584"/>
          </a:xfrm>
          <a:prstGeom prst="roundRect">
            <a:avLst>
              <a:gd name="adj" fmla="val 5882"/>
            </a:avLst>
          </a:prstGeom>
          <a:solidFill>
            <a:schemeClr val="tx2"/>
          </a:solidFill>
          <a:ln/>
        </p:spPr>
      </p:sp>
      <p:sp>
        <p:nvSpPr>
          <p:cNvPr id="23" name="nxfix-Node 24, no 22-codigo"/>
          <p:cNvSpPr txBox="1"/>
          <p:nvPr/>
        </p:nvSpPr>
        <p:spPr>
          <a:xfrm>
            <a:off x="5669280" y="4846320"/>
            <a:ext cx="5577840" cy="914400"/>
          </a:xfrm>
          <a:prstGeom prst="rect">
            <a:avLst/>
          </a:prstGeom>
          <a:noFill/>
          <a:ln/>
        </p:spPr>
        <p:txBody>
          <a:bodyPr wrap="square" lIns="0" tIns="0" rIns="0" bIns="0" rtlCol="0" anchor="t"/>
          <a:lstStyle/>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nvm install 24</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nvm use 24</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node -v      </a:t>
            </a:r>
            <a:pPr indent="0" marL="0">
              <a:spcAft>
                <a:spcPts val="200"/>
              </a:spcAft>
              <a:buNone/>
            </a:pPr>
            <a:r>
              <a:rPr lang="en-US" sz="1300" dirty="0">
                <a:solidFill>
                  <a:schemeClr val="accent1"/>
                </a:solidFill>
                <a:latin typeface="Courier New" pitchFamily="34" charset="0"/>
                <a:ea typeface="Courier New" pitchFamily="34" charset="-122"/>
                <a:cs typeface="Courier New" pitchFamily="34" charset="-120"/>
              </a:rPr>
              <a:t># v24.x</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731520" y="2286000"/>
            <a:ext cx="6035040" cy="1188720"/>
          </a:xfrm>
          <a:prstGeom prst="rect">
            <a:avLst/>
          </a:prstGeom>
          <a:noFill/>
          <a:ln/>
        </p:spPr>
        <p:txBody>
          <a:bodyPr wrap="square" lIns="0" tIns="0" rIns="0" bIns="0" rtlCol="0" anchor="b"/>
          <a:lstStyle/>
          <a:p>
            <a:pPr algn="l" indent="0" marL="0">
              <a:buNone/>
            </a:pPr>
            <a:r>
              <a:rPr lang="en-US" sz="4000" b="1" dirty="0">
                <a:solidFill>
                  <a:schemeClr val="bg1"/>
                </a:solidFill>
              </a:rPr>
              <a:t>3 · ACA</a:t>
            </a:r>
            <a:endParaRPr lang="en-US" sz="4000" dirty="0"/>
          </a:p>
        </p:txBody>
      </p:sp>
      <p:sp>
        <p:nvSpPr>
          <p:cNvPr id="3" name="Text 0"/>
          <p:cNvSpPr/>
          <p:nvPr>
            <p:ph idx="101" type="body" hasCustomPrompt="1"/>
          </p:nvPr>
        </p:nvSpPr>
        <p:spPr>
          <a:xfrm>
            <a:off x="731520" y="3611880"/>
            <a:ext cx="6035040" cy="1463040"/>
          </a:xfrm>
          <a:prstGeom prst="rect">
            <a:avLst/>
          </a:prstGeom>
          <a:noFill/>
          <a:ln/>
        </p:spPr>
        <p:txBody>
          <a:bodyPr wrap="square" lIns="0" tIns="0" rIns="0" bIns="0" rtlCol="0" anchor="t"/>
          <a:lstStyle/>
          <a:p>
            <a:pPr algn="l" indent="0" marL="0">
              <a:buNone/>
            </a:pPr>
            <a:r>
              <a:rPr lang="en-US" sz="2000" dirty="0">
                <a:solidFill>
                  <a:schemeClr val="bg2"/>
                </a:solidFill>
              </a:rPr>
              <a:t>Alfresco Content App: la aplicación de referencia, extensible con plugins.</a:t>
            </a:r>
            <a:endParaRPr lang="en-US" sz="2000" dirty="0"/>
          </a:p>
        </p:txBody>
      </p:sp>
      <p:sp>
        <p:nvSpPr>
          <p:cNvPr id="4" name="seccion-circulo"/>
          <p:cNvSpPr/>
          <p:nvPr/>
        </p:nvSpPr>
        <p:spPr>
          <a:xfrm>
            <a:off x="731520" y="1051560"/>
            <a:ext cx="1005840" cy="1005840"/>
          </a:xfrm>
          <a:prstGeom prst="ellipse">
            <a:avLst/>
          </a:prstGeom>
          <a:solidFill>
            <a:schemeClr val="accent2"/>
          </a:solidFill>
          <a:ln/>
        </p:spPr>
      </p:sp>
      <p:pic>
        <p:nvPicPr>
          <p:cNvPr id="5" name="seccion-icono" descr="preencoded.png">    </p:cNvPr>
          <p:cNvPicPr>
            <a:picLocks noChangeAspect="1"/>
          </p:cNvPicPr>
          <p:nvPr/>
        </p:nvPicPr>
        <p:blipFill>
          <a:blip r:embed="rId1"/>
          <a:stretch>
            <a:fillRect/>
          </a:stretch>
        </p:blipFill>
        <p:spPr>
          <a:xfrm>
            <a:off x="982980" y="1303020"/>
            <a:ext cx="502920" cy="502920"/>
          </a:xfrm>
          <a:prstGeom prst="rect">
            <a:avLst/>
          </a:prstGeom>
        </p:spPr>
      </p:pic>
      <p:sp>
        <p:nvSpPr>
          <p:cNvPr id="6" name="seccion-dato"/>
          <p:cNvSpPr/>
          <p:nvPr/>
        </p:nvSpPr>
        <p:spPr>
          <a:xfrm>
            <a:off x="7498080" y="1828800"/>
            <a:ext cx="3931920" cy="3200400"/>
          </a:xfrm>
          <a:prstGeom prst="roundRect">
            <a:avLst>
              <a:gd name="adj" fmla="val 4286"/>
            </a:avLst>
          </a:prstGeom>
          <a:solidFill>
            <a:schemeClr val="accent2"/>
          </a:solidFill>
          <a:ln/>
        </p:spPr>
      </p:sp>
      <p:sp>
        <p:nvSpPr>
          <p:cNvPr id="7" name="Text 4"/>
          <p:cNvSpPr txBox="1"/>
          <p:nvPr/>
        </p:nvSpPr>
        <p:spPr>
          <a:xfrm>
            <a:off x="7680960" y="2103120"/>
            <a:ext cx="3566160" cy="1737360"/>
          </a:xfrm>
          <a:prstGeom prst="rect">
            <a:avLst/>
          </a:prstGeom>
          <a:noFill/>
          <a:ln/>
        </p:spPr>
        <p:txBody>
          <a:bodyPr wrap="square" lIns="0" tIns="0" rIns="0" bIns="0" rtlCol="0" anchor="ctr"/>
          <a:lstStyle/>
          <a:p>
            <a:pPr algn="ctr" indent="0" marL="0">
              <a:buNone/>
            </a:pPr>
            <a:r>
              <a:rPr lang="en-US" sz="4000" b="1" dirty="0">
                <a:solidFill>
                  <a:schemeClr val="bg1"/>
                </a:solidFill>
                <a:latin typeface="Arial" pitchFamily="34" charset="0"/>
                <a:ea typeface="Arial" pitchFamily="34" charset="-122"/>
                <a:cs typeface="Arial" pitchFamily="34" charset="-120"/>
              </a:rPr>
              <a:t>Angular 20</a:t>
            </a:r>
            <a:endParaRPr lang="en-US" sz="4000" dirty="0"/>
          </a:p>
        </p:txBody>
      </p:sp>
      <p:sp>
        <p:nvSpPr>
          <p:cNvPr id="8" name="Text 5"/>
          <p:cNvSpPr txBox="1"/>
          <p:nvPr/>
        </p:nvSpPr>
        <p:spPr>
          <a:xfrm>
            <a:off x="7680960" y="3840480"/>
            <a:ext cx="3566160" cy="1005840"/>
          </a:xfrm>
          <a:prstGeom prst="rect">
            <a:avLst/>
          </a:prstGeom>
          <a:noFill/>
          <a:ln/>
        </p:spPr>
        <p:txBody>
          <a:bodyPr wrap="square" lIns="0" tIns="0" rIns="0" bIns="0" rtlCol="0" anchor="t"/>
          <a:lstStyle/>
          <a:p>
            <a:pPr algn="ctr" indent="0" marL="0">
              <a:buNone/>
            </a:pPr>
            <a:r>
              <a:rPr lang="en-US" sz="1600" dirty="0">
                <a:solidFill>
                  <a:schemeClr val="bg1"/>
                </a:solidFill>
              </a:rPr>
              <a:t>ACA 8.0.0 · ADF 9.0 · Node 24.13.1+ (master: Angular 21 + pnpm)</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ACA 8.0.0 (estable) y master (lo más nuevo)</a:t>
            </a:r>
            <a:endParaRPr lang="en-US" sz="3400" dirty="0"/>
          </a:p>
        </p:txBody>
      </p:sp>
      <p:sp>
        <p:nvSpPr>
          <p:cNvPr id="3" name="aca800-chip"/>
          <p:cNvSpPr/>
          <p:nvPr/>
        </p:nvSpPr>
        <p:spPr>
          <a:xfrm>
            <a:off x="548640" y="1325880"/>
            <a:ext cx="3108960" cy="347472"/>
          </a:xfrm>
          <a:prstGeom prst="roundRect">
            <a:avLst>
              <a:gd name="adj" fmla="val 50000"/>
            </a:avLst>
          </a:prstGeom>
          <a:solidFill>
            <a:schemeClr val="accent2"/>
          </a:solidFill>
          <a:ln/>
        </p:spPr>
      </p:sp>
      <p:sp>
        <p:nvSpPr>
          <p:cNvPr id="4" name="aca800-chip-texto"/>
          <p:cNvSpPr txBox="1"/>
          <p:nvPr/>
        </p:nvSpPr>
        <p:spPr>
          <a:xfrm>
            <a:off x="548640" y="1325880"/>
            <a:ext cx="3108960" cy="347472"/>
          </a:xfrm>
          <a:prstGeom prst="rect">
            <a:avLst/>
          </a:prstGeom>
          <a:noFill/>
          <a:ln/>
        </p:spPr>
        <p:txBody>
          <a:bodyPr wrap="square" lIns="0" tIns="0" rIns="0" bIns="0" rtlCol="0" anchor="ctr"/>
          <a:lstStyle/>
          <a:p>
            <a:pPr algn="ctr" indent="0" marL="0">
              <a:buNone/>
            </a:pPr>
            <a:r>
              <a:rPr lang="en-US" sz="1200" b="1" dirty="0">
                <a:solidFill>
                  <a:schemeClr val="bg1"/>
                </a:solidFill>
              </a:rPr>
              <a:t>8.0.0 · Angular 20 · npm</a:t>
            </a:r>
            <a:endParaRPr lang="en-US" sz="1200" dirty="0"/>
          </a:p>
        </p:txBody>
      </p:sp>
      <p:sp>
        <p:nvSpPr>
          <p:cNvPr id="5" name="aca800-fondo"/>
          <p:cNvSpPr/>
          <p:nvPr/>
        </p:nvSpPr>
        <p:spPr>
          <a:xfrm>
            <a:off x="548640" y="1737360"/>
            <a:ext cx="11064240" cy="1783080"/>
          </a:xfrm>
          <a:prstGeom prst="roundRect">
            <a:avLst>
              <a:gd name="adj" fmla="val 4103"/>
            </a:avLst>
          </a:prstGeom>
          <a:solidFill>
            <a:schemeClr val="tx2"/>
          </a:solidFill>
          <a:ln/>
        </p:spPr>
      </p:sp>
      <p:sp>
        <p:nvSpPr>
          <p:cNvPr id="6" name="aca800-codigo"/>
          <p:cNvSpPr txBox="1"/>
          <p:nvPr/>
        </p:nvSpPr>
        <p:spPr>
          <a:xfrm>
            <a:off x="777240" y="1901952"/>
            <a:ext cx="10607040" cy="1453896"/>
          </a:xfrm>
          <a:prstGeom prst="rect">
            <a:avLst/>
          </a:prstGeom>
          <a:noFill/>
          <a:ln/>
        </p:spPr>
        <p:txBody>
          <a:bodyPr wrap="square" lIns="0" tIns="0" rIns="0" bIns="0" rtlCol="0" anchor="t"/>
          <a:lstStyle/>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nvm use 24</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git clone --depth 1 --branch 8.0.0 https://github.com/Alfresco/alfresco-content-app.git aca</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cd aca</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Set-Content .env 'BASE_URL="http://localhost:8080"' -Encoding utf8</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npm install       </a:t>
            </a:r>
            <a:pPr indent="0" marL="0">
              <a:spcAft>
                <a:spcPts val="200"/>
              </a:spcAft>
              <a:buNone/>
            </a:pPr>
            <a:r>
              <a:rPr lang="en-US" sz="1300" dirty="0">
                <a:solidFill>
                  <a:schemeClr val="accent1"/>
                </a:solidFill>
                <a:latin typeface="Courier New" pitchFamily="34" charset="0"/>
                <a:ea typeface="Courier New" pitchFamily="34" charset="-122"/>
                <a:cs typeface="Courier New" pitchFamily="34" charset="-120"/>
              </a:rPr>
              <a:t># ~40 s</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npm start         </a:t>
            </a:r>
            <a:pPr indent="0" marL="0">
              <a:spcAft>
                <a:spcPts val="200"/>
              </a:spcAft>
              <a:buNone/>
            </a:pPr>
            <a:r>
              <a:rPr lang="en-US" sz="1300" dirty="0">
                <a:solidFill>
                  <a:schemeClr val="accent1"/>
                </a:solidFill>
                <a:latin typeface="Courier New" pitchFamily="34" charset="0"/>
                <a:ea typeface="Courier New" pitchFamily="34" charset="-122"/>
                <a:cs typeface="Courier New" pitchFamily="34" charset="-120"/>
              </a:rPr>
              <a:t># http://localhost:4200</a:t>
            </a:r>
            <a:endParaRPr lang="en-US" sz="1300" dirty="0"/>
          </a:p>
        </p:txBody>
      </p:sp>
      <p:sp>
        <p:nvSpPr>
          <p:cNvPr id="7" name="acamaster-chip"/>
          <p:cNvSpPr/>
          <p:nvPr/>
        </p:nvSpPr>
        <p:spPr>
          <a:xfrm>
            <a:off x="548640" y="3703320"/>
            <a:ext cx="3291840" cy="347472"/>
          </a:xfrm>
          <a:prstGeom prst="roundRect">
            <a:avLst>
              <a:gd name="adj" fmla="val 50000"/>
            </a:avLst>
          </a:prstGeom>
          <a:solidFill>
            <a:schemeClr val="accent3"/>
          </a:solidFill>
          <a:ln/>
        </p:spPr>
      </p:sp>
      <p:sp>
        <p:nvSpPr>
          <p:cNvPr id="8" name="acamaster-chip-texto"/>
          <p:cNvSpPr txBox="1"/>
          <p:nvPr/>
        </p:nvSpPr>
        <p:spPr>
          <a:xfrm>
            <a:off x="548640" y="3703320"/>
            <a:ext cx="3291840" cy="347472"/>
          </a:xfrm>
          <a:prstGeom prst="rect">
            <a:avLst/>
          </a:prstGeom>
          <a:noFill/>
          <a:ln/>
        </p:spPr>
        <p:txBody>
          <a:bodyPr wrap="square" lIns="0" tIns="0" rIns="0" bIns="0" rtlCol="0" anchor="ctr"/>
          <a:lstStyle/>
          <a:p>
            <a:pPr algn="ctr" indent="0" marL="0">
              <a:buNone/>
            </a:pPr>
            <a:r>
              <a:rPr lang="en-US" sz="1200" b="1" dirty="0">
                <a:solidFill>
                  <a:schemeClr val="bg1"/>
                </a:solidFill>
              </a:rPr>
              <a:t>master · Angular 21 · pnpm</a:t>
            </a:r>
            <a:endParaRPr lang="en-US" sz="1200" dirty="0"/>
          </a:p>
        </p:txBody>
      </p:sp>
      <p:sp>
        <p:nvSpPr>
          <p:cNvPr id="9" name="acamaster-fondo"/>
          <p:cNvSpPr/>
          <p:nvPr/>
        </p:nvSpPr>
        <p:spPr>
          <a:xfrm>
            <a:off x="548640" y="4114800"/>
            <a:ext cx="11064240" cy="2011680"/>
          </a:xfrm>
          <a:prstGeom prst="roundRect">
            <a:avLst>
              <a:gd name="adj" fmla="val 3636"/>
            </a:avLst>
          </a:prstGeom>
          <a:solidFill>
            <a:schemeClr val="tx2"/>
          </a:solidFill>
          <a:ln/>
        </p:spPr>
      </p:sp>
      <p:sp>
        <p:nvSpPr>
          <p:cNvPr id="10" name="acamaster-codigo"/>
          <p:cNvSpPr txBox="1"/>
          <p:nvPr/>
        </p:nvSpPr>
        <p:spPr>
          <a:xfrm>
            <a:off x="777240" y="4279392"/>
            <a:ext cx="10607040" cy="1682496"/>
          </a:xfrm>
          <a:prstGeom prst="rect">
            <a:avLst/>
          </a:prstGeom>
          <a:noFill/>
          <a:ln/>
        </p:spPr>
        <p:txBody>
          <a:bodyPr wrap="square" lIns="0" tIns="0" rIns="0" bIns="0" rtlCol="0" anchor="t"/>
          <a:lstStyle/>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nvm use 24        </a:t>
            </a:r>
            <a:pPr indent="0" marL="0">
              <a:spcAft>
                <a:spcPts val="200"/>
              </a:spcAft>
              <a:buNone/>
            </a:pPr>
            <a:r>
              <a:rPr lang="en-US" sz="1300" dirty="0">
                <a:solidFill>
                  <a:schemeClr val="accent1"/>
                </a:solidFill>
                <a:latin typeface="Courier New" pitchFamily="34" charset="0"/>
                <a:ea typeface="Courier New" pitchFamily="34" charset="-122"/>
                <a:cs typeface="Courier New" pitchFamily="34" charset="-120"/>
              </a:rPr>
              <a:t># &gt;= 24.13.1</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corepack enable   </a:t>
            </a:r>
            <a:pPr indent="0" marL="0">
              <a:spcAft>
                <a:spcPts val="200"/>
              </a:spcAft>
              <a:buNone/>
            </a:pPr>
            <a:r>
              <a:rPr lang="en-US" sz="1300" dirty="0">
                <a:solidFill>
                  <a:schemeClr val="accent1"/>
                </a:solidFill>
                <a:latin typeface="Courier New" pitchFamily="34" charset="0"/>
                <a:ea typeface="Courier New" pitchFamily="34" charset="-122"/>
                <a:cs typeface="Courier New" pitchFamily="34" charset="-120"/>
              </a:rPr>
              <a:t># activa pnpm 11</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git clone --depth 1 https://github.com/Alfresco/alfresco-content-app.git aca</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cd aca</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Set-Content .env 'BASE_URL="http://localhost:8080"' -Encoding utf8</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pnpm install</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pnpm start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La guía oficial de ACA está desactualizada</a:t>
            </a:r>
            <a:endParaRPr lang="en-US" sz="3400" dirty="0"/>
          </a:p>
        </p:txBody>
      </p:sp>
      <p:graphicFrame>
        <p:nvGraphicFramePr>
          <p:cNvPr id="17" name="hyland-tabla"/>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463040"/>
                <a:gridCol w="4572000"/>
                <a:gridCol w="5029200"/>
              </a:tblGrid>
              <a:tr h="502920">
                <a:tc>
                  <a:txBody>
                    <a:bodyPr/>
                    <a:lstStyle/>
                    <a:p>
                      <a:pPr indent="0" marL="0">
                        <a:buNone/>
                      </a:pPr>
                      <a:endParaRPr lang="en-US" sz="16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solidFill>
                      <a:srgbClr val="0B3142"/>
                    </a:solidFill>
                  </a:tcPr>
                </a:tc>
                <a:tc>
                  <a:txBody>
                    <a:bodyPr/>
                    <a:lstStyle/>
                    <a:p>
                      <a:pPr indent="0" marL="0">
                        <a:buNone/>
                      </a:pPr>
                      <a:r>
                        <a:rPr lang="en-US" sz="1600" b="1" dirty="0">
                          <a:solidFill>
                            <a:srgbClr val="FFFFFF"/>
                          </a:solidFill>
                        </a:rPr>
                        <a:t>Guía de Hyland</a:t>
                      </a:r>
                      <a:endParaRPr lang="en-US" sz="16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solidFill>
                      <a:srgbClr val="0B3142"/>
                    </a:solidFill>
                  </a:tcPr>
                </a:tc>
                <a:tc>
                  <a:txBody>
                    <a:bodyPr/>
                    <a:lstStyle/>
                    <a:p>
                      <a:pPr indent="0" marL="0">
                        <a:buNone/>
                      </a:pPr>
                      <a:r>
                        <a:rPr lang="en-US" sz="1600" b="1" dirty="0">
                          <a:solidFill>
                            <a:srgbClr val="FFFFFF"/>
                          </a:solidFill>
                        </a:rPr>
                        <a:t>Lo que funciona (probado)</a:t>
                      </a:r>
                      <a:endParaRPr lang="en-US" sz="16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solidFill>
                      <a:srgbClr val="0B3142"/>
                    </a:solidFill>
                  </a:tcPr>
                </a:tc>
              </a:tr>
              <a:tr h="594360">
                <a:tc>
                  <a:txBody>
                    <a:bodyPr/>
                    <a:lstStyle/>
                    <a:p>
                      <a:pPr indent="0" marL="0">
                        <a:buNone/>
                      </a:pPr>
                      <a:r>
                        <a:rPr lang="en-US" sz="1600" b="1" dirty="0">
                          <a:solidFill>
                            <a:srgbClr val="1B2631"/>
                          </a:solidFill>
                        </a:rPr>
                        <a:t>Node</a:t>
                      </a:r>
                      <a:endParaRPr lang="en-US" sz="16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600" dirty="0">
                          <a:solidFill>
                            <a:srgbClr val="1B2631"/>
                          </a:solidFill>
                        </a:rPr>
                        <a:t>18.x</a:t>
                      </a:r>
                      <a:endParaRPr lang="en-US" sz="16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600" dirty="0">
                          <a:solidFill>
                            <a:srgbClr val="1B2631"/>
                          </a:solidFill>
                        </a:rPr>
                        <a:t>18 para ACA 4.x/5.x · 24.13.1+ para ACA 8</a:t>
                      </a:r>
                      <a:endParaRPr lang="en-US" sz="16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r>
              <a:tr h="594360">
                <a:tc>
                  <a:txBody>
                    <a:bodyPr/>
                    <a:lstStyle/>
                    <a:p>
                      <a:pPr indent="0" marL="0">
                        <a:buNone/>
                      </a:pPr>
                      <a:r>
                        <a:rPr lang="en-US" sz="1600" b="1" dirty="0">
                          <a:solidFill>
                            <a:srgbClr val="1B2631"/>
                          </a:solidFill>
                        </a:rPr>
                        <a:t>Gestor</a:t>
                      </a:r>
                      <a:endParaRPr lang="en-US" sz="16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600" dirty="0">
                          <a:solidFill>
                            <a:srgbClr val="1B2631"/>
                          </a:solidFill>
                        </a:rPr>
                        <a:t>npm</a:t>
                      </a:r>
                      <a:endParaRPr lang="en-US" sz="16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600" dirty="0">
                          <a:solidFill>
                            <a:srgbClr val="1B2631"/>
                          </a:solidFill>
                        </a:rPr>
                        <a:t>npm hasta 8.0.0 · pnpm en master</a:t>
                      </a:r>
                      <a:endParaRPr lang="en-US" sz="16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r>
              <a:tr h="914400">
                <a:tc>
                  <a:txBody>
                    <a:bodyPr/>
                    <a:lstStyle/>
                    <a:p>
                      <a:pPr indent="0" marL="0">
                        <a:buNone/>
                      </a:pPr>
                      <a:r>
                        <a:rPr lang="en-US" sz="1600" b="1" dirty="0">
                          <a:solidFill>
                            <a:srgbClr val="1B2631"/>
                          </a:solidFill>
                        </a:rPr>
                        <a:t>.env</a:t>
                      </a:r>
                      <a:endParaRPr lang="en-US" sz="16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600" dirty="0">
                          <a:solidFill>
                            <a:srgbClr val="1B2631"/>
                          </a:solidFill>
                        </a:rPr>
                        <a:t>APP_CONFIG_ECM_HOST, APP_CONFIG_PLUGIN_AOS, APP_CONFIG_PLUGIN_CONTENT_SERVICE</a:t>
                      </a:r>
                      <a:endParaRPr lang="en-US" sz="16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600" dirty="0">
                          <a:solidFill>
                            <a:srgbClr val="1B2631"/>
                          </a:solidFill>
                        </a:rPr>
                        <a:t>Solo BASE_URL (4.4.1, 5.3.0, 8.0.0 y master)</a:t>
                      </a:r>
                      <a:endParaRPr lang="en-US" sz="1600" dirty="0"/>
                    </a:p>
                  </a:txBody>
                  <a:tcPr marL="91440" marR="91440"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r>
            </a:tbl>
          </a:graphicData>
        </a:graphic>
      </p:graphicFrame>
      <p:sp>
        <p:nvSpPr>
          <p:cNvPr id="4" name="hyland-nota"/>
          <p:cNvSpPr/>
          <p:nvPr/>
        </p:nvSpPr>
        <p:spPr>
          <a:xfrm>
            <a:off x="548640" y="4206240"/>
            <a:ext cx="11064240" cy="1874520"/>
          </a:xfrm>
          <a:prstGeom prst="roundRect">
            <a:avLst>
              <a:gd name="adj" fmla="val 4878"/>
            </a:avLst>
          </a:prstGeom>
          <a:solidFill>
            <a:schemeClr val="bg2"/>
          </a:solidFill>
          <a:ln/>
        </p:spPr>
      </p:sp>
      <p:sp>
        <p:nvSpPr>
          <p:cNvPr id="5" name="hyland-nota-circulo"/>
          <p:cNvSpPr/>
          <p:nvPr/>
        </p:nvSpPr>
        <p:spPr>
          <a:xfrm>
            <a:off x="777240" y="4434840"/>
            <a:ext cx="640080" cy="640080"/>
          </a:xfrm>
          <a:prstGeom prst="ellipse">
            <a:avLst/>
          </a:prstGeom>
          <a:solidFill>
            <a:schemeClr val="accent3"/>
          </a:solidFill>
          <a:ln/>
        </p:spPr>
      </p:sp>
      <p:pic>
        <p:nvPicPr>
          <p:cNvPr id="6" name="hyland-nota-icono" descr="preencoded.png">    </p:cNvPr>
          <p:cNvPicPr>
            <a:picLocks noChangeAspect="1"/>
          </p:cNvPicPr>
          <p:nvPr/>
        </p:nvPicPr>
        <p:blipFill>
          <a:blip r:embed="rId1"/>
          <a:stretch>
            <a:fillRect/>
          </a:stretch>
        </p:blipFill>
        <p:spPr>
          <a:xfrm>
            <a:off x="937260" y="4594860"/>
            <a:ext cx="320040" cy="320040"/>
          </a:xfrm>
          <a:prstGeom prst="rect">
            <a:avLst/>
          </a:prstGeom>
        </p:spPr>
      </p:pic>
      <p:sp>
        <p:nvSpPr>
          <p:cNvPr id="7" name="Text 3"/>
          <p:cNvSpPr txBox="1"/>
          <p:nvPr/>
        </p:nvSpPr>
        <p:spPr>
          <a:xfrm>
            <a:off x="1600200" y="4343400"/>
            <a:ext cx="9784080" cy="411480"/>
          </a:xfrm>
          <a:prstGeom prst="rect">
            <a:avLst/>
          </a:prstGeom>
          <a:noFill/>
          <a:ln/>
        </p:spPr>
        <p:txBody>
          <a:bodyPr wrap="square" lIns="0" tIns="0" rIns="0" bIns="0" rtlCol="0" anchor="ctr"/>
          <a:lstStyle/>
          <a:p>
            <a:pPr indent="0" marL="0">
              <a:buNone/>
            </a:pPr>
            <a:r>
              <a:rPr lang="en-US" sz="1600" b="1" dirty="0">
                <a:solidFill>
                  <a:schemeClr val="tx2"/>
                </a:solidFill>
              </a:rPr>
              <a:t>Consola: «error loading discovery document» con authType BASIC</a:t>
            </a:r>
            <a:endParaRPr lang="en-US" sz="1600" dirty="0"/>
          </a:p>
        </p:txBody>
      </p:sp>
      <p:sp>
        <p:nvSpPr>
          <p:cNvPr id="8" name="Text 4"/>
          <p:cNvSpPr txBox="1"/>
          <p:nvPr/>
        </p:nvSpPr>
        <p:spPr>
          <a:xfrm>
            <a:off x="1600200" y="4754880"/>
            <a:ext cx="9784080" cy="411480"/>
          </a:xfrm>
          <a:prstGeom prst="rect">
            <a:avLst/>
          </a:prstGeom>
          <a:noFill/>
          <a:ln/>
        </p:spPr>
        <p:txBody>
          <a:bodyPr wrap="square" lIns="0" tIns="0" rIns="0" bIns="0" rtlCol="0" anchor="ctr"/>
          <a:lstStyle/>
          <a:p>
            <a:pPr indent="0" marL="0">
              <a:buNone/>
            </a:pPr>
            <a:r>
              <a:rPr lang="en-US" sz="1400" dirty="0">
                <a:solidFill>
                  <a:schemeClr val="tx1"/>
                </a:solidFill>
              </a:rPr>
              <a:t>ACA busca un servidor OAuth (Keycloak) por el bloque oauth2. Borrarlo elimina el error (el comando está en las notas):</a:t>
            </a:r>
            <a:endParaRPr lang="en-US" sz="1400" dirty="0"/>
          </a:p>
        </p:txBody>
      </p:sp>
      <p:sp>
        <p:nvSpPr>
          <p:cNvPr id="9" name="hyland-fix-fondo"/>
          <p:cNvSpPr/>
          <p:nvPr/>
        </p:nvSpPr>
        <p:spPr>
          <a:xfrm>
            <a:off x="1600200" y="5212080"/>
            <a:ext cx="9829800" cy="731520"/>
          </a:xfrm>
          <a:prstGeom prst="roundRect">
            <a:avLst>
              <a:gd name="adj" fmla="val 10000"/>
            </a:avLst>
          </a:prstGeom>
          <a:solidFill>
            <a:schemeClr val="tx2"/>
          </a:solidFill>
          <a:ln/>
        </p:spPr>
      </p:sp>
      <p:sp>
        <p:nvSpPr>
          <p:cNvPr id="10" name="hyland-fix-codigo"/>
          <p:cNvSpPr txBox="1"/>
          <p:nvPr/>
        </p:nvSpPr>
        <p:spPr>
          <a:xfrm>
            <a:off x="1828800" y="5376672"/>
            <a:ext cx="9372600" cy="402336"/>
          </a:xfrm>
          <a:prstGeom prst="rect">
            <a:avLst/>
          </a:prstGeom>
          <a:noFill/>
          <a:ln/>
        </p:spPr>
        <p:txBody>
          <a:bodyPr wrap="square" lIns="0" tIns="0" rIns="0" bIns="0" rtlCol="0" anchor="t"/>
          <a:lstStyle/>
          <a:p>
            <a:pPr indent="0" marL="0">
              <a:spcAft>
                <a:spcPts val="200"/>
              </a:spcAft>
              <a:buNone/>
            </a:pPr>
            <a:r>
              <a:rPr lang="en-US" sz="1300" dirty="0">
                <a:solidFill>
                  <a:schemeClr val="accent1"/>
                </a:solidFill>
                <a:latin typeface="Courier New" pitchFamily="34" charset="0"/>
                <a:ea typeface="Courier New" pitchFamily="34" charset="-122"/>
                <a:cs typeface="Courier New" pitchFamily="34" charset="-120"/>
              </a:rPr>
              <a:t>// app/src/app.config.json → borrar el bloque completo:  "oauth2": { ... },</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Extender ACA sin tocar su código</a:t>
            </a:r>
            <a:endParaRPr lang="en-US" sz="3400" dirty="0"/>
          </a:p>
        </p:txBody>
      </p:sp>
      <p:sp>
        <p:nvSpPr>
          <p:cNvPr id="3" name="acaarbol-fondo"/>
          <p:cNvSpPr/>
          <p:nvPr/>
        </p:nvSpPr>
        <p:spPr>
          <a:xfrm>
            <a:off x="548640" y="1417320"/>
            <a:ext cx="5486400" cy="4663440"/>
          </a:xfrm>
          <a:prstGeom prst="roundRect">
            <a:avLst>
              <a:gd name="adj" fmla="val 1569"/>
            </a:avLst>
          </a:prstGeom>
          <a:solidFill>
            <a:schemeClr val="tx2"/>
          </a:solidFill>
          <a:ln/>
        </p:spPr>
      </p:sp>
      <p:sp>
        <p:nvSpPr>
          <p:cNvPr id="4" name="acaarbol-codigo"/>
          <p:cNvSpPr txBox="1"/>
          <p:nvPr/>
        </p:nvSpPr>
        <p:spPr>
          <a:xfrm>
            <a:off x="777240" y="1581912"/>
            <a:ext cx="5029200" cy="4334256"/>
          </a:xfrm>
          <a:prstGeom prst="rect">
            <a:avLst/>
          </a:prstGeom>
          <a:noFill/>
          <a:ln/>
        </p:spPr>
        <p:txBody>
          <a:bodyPr wrap="square" lIns="0" tIns="0" rIns="0" bIns="0" rtlCol="0" anchor="t"/>
          <a:lstStyle/>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aca/</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.env                 </a:t>
            </a:r>
            <a:pPr indent="0" marL="0">
              <a:spcAft>
                <a:spcPts val="200"/>
              </a:spcAft>
              <a:buNone/>
            </a:pPr>
            <a:r>
              <a:rPr lang="en-US" sz="1400" dirty="0">
                <a:solidFill>
                  <a:schemeClr val="accent1"/>
                </a:solidFill>
                <a:latin typeface="Courier New" pitchFamily="34" charset="0"/>
                <a:ea typeface="Courier New" pitchFamily="34" charset="-122"/>
                <a:cs typeface="Courier New" pitchFamily="34" charset="-120"/>
              </a:rPr>
              <a:t># BASE_URL</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app/</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 proxy.conf.js</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 src/</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 app.config.json</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 app/extensions.module.ts</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projects/</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 aca-content/      </a:t>
            </a:r>
            <a:pPr indent="0" marL="0">
              <a:spcAft>
                <a:spcPts val="200"/>
              </a:spcAft>
              <a:buNone/>
            </a:pPr>
            <a:r>
              <a:rPr lang="en-US" sz="1400" dirty="0">
                <a:solidFill>
                  <a:schemeClr val="accent1"/>
                </a:solidFill>
                <a:latin typeface="Courier New" pitchFamily="34" charset="0"/>
                <a:ea typeface="Courier New" pitchFamily="34" charset="-122"/>
                <a:cs typeface="Courier New" pitchFamily="34" charset="-120"/>
              </a:rPr>
              <a:t># funciones</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  └─ assets/app.extensions.json</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 ext/               </a:t>
            </a:r>
            <a:pPr indent="0" marL="0">
              <a:spcAft>
                <a:spcPts val="200"/>
              </a:spcAft>
              <a:buNone/>
            </a:pPr>
            <a:r>
              <a:rPr lang="en-US" sz="1400" dirty="0">
                <a:solidFill>
                  <a:schemeClr val="accent1"/>
                </a:solidFill>
                <a:latin typeface="Courier New" pitchFamily="34" charset="0"/>
                <a:ea typeface="Courier New" pitchFamily="34" charset="-122"/>
                <a:cs typeface="Courier New" pitchFamily="34" charset="-120"/>
              </a:rPr>
              <a:t># tu extensión</a:t>
            </a:r>
            <a:endParaRPr lang="en-US" sz="1400" dirty="0"/>
          </a:p>
        </p:txBody>
      </p:sp>
      <p:sp>
        <p:nvSpPr>
          <p:cNvPr id="5" name="Text 3"/>
          <p:cNvSpPr txBox="1"/>
          <p:nvPr/>
        </p:nvSpPr>
        <p:spPr>
          <a:xfrm>
            <a:off x="6309360" y="1417320"/>
            <a:ext cx="5303520" cy="457200"/>
          </a:xfrm>
          <a:prstGeom prst="rect">
            <a:avLst/>
          </a:prstGeom>
          <a:noFill/>
          <a:ln/>
        </p:spPr>
        <p:txBody>
          <a:bodyPr wrap="square" lIns="0" tIns="0" rIns="0" bIns="0" rtlCol="0" anchor="ctr"/>
          <a:lstStyle/>
          <a:p>
            <a:pPr indent="0" marL="0">
              <a:buNone/>
            </a:pPr>
            <a:r>
              <a:rPr lang="en-US" sz="1800" b="1" dirty="0">
                <a:solidFill>
                  <a:schemeClr val="tx2"/>
                </a:solidFill>
              </a:rPr>
              <a:t>Crear una extensión (desde la raíz de ACA 8.0.0)</a:t>
            </a:r>
            <a:endParaRPr lang="en-US" sz="1800" dirty="0"/>
          </a:p>
        </p:txBody>
      </p:sp>
      <p:sp>
        <p:nvSpPr>
          <p:cNvPr id="6" name="acaext-fondo"/>
          <p:cNvSpPr/>
          <p:nvPr/>
        </p:nvSpPr>
        <p:spPr>
          <a:xfrm>
            <a:off x="6309360" y="1920240"/>
            <a:ext cx="5303520" cy="2148840"/>
          </a:xfrm>
          <a:prstGeom prst="roundRect">
            <a:avLst>
              <a:gd name="adj" fmla="val 3404"/>
            </a:avLst>
          </a:prstGeom>
          <a:solidFill>
            <a:schemeClr val="tx2"/>
          </a:solidFill>
          <a:ln/>
        </p:spPr>
      </p:sp>
      <p:sp>
        <p:nvSpPr>
          <p:cNvPr id="7" name="acaext-codigo"/>
          <p:cNvSpPr txBox="1"/>
          <p:nvPr/>
        </p:nvSpPr>
        <p:spPr>
          <a:xfrm>
            <a:off x="6537960" y="2084832"/>
            <a:ext cx="4846320" cy="1819656"/>
          </a:xfrm>
          <a:prstGeom prst="rect">
            <a:avLst/>
          </a:prstGeom>
          <a:noFill/>
          <a:ln/>
        </p:spPr>
        <p:txBody>
          <a:bodyPr wrap="square" lIns="0" tIns="0" rIns="0" bIns="0" rtlCol="0" anchor="t"/>
          <a:lstStyle/>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npx nx add @alfresco/aca-generators</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npx nx g @alfresco/aca-generators:aca-extension `</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  --name=ext --directory=ext</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npm install</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npm start</a:t>
            </a:r>
            <a:endParaRPr lang="en-US" sz="1300" dirty="0"/>
          </a:p>
        </p:txBody>
      </p:sp>
      <p:sp>
        <p:nvSpPr>
          <p:cNvPr id="8" name="Text 6"/>
          <p:cNvSpPr txBox="1"/>
          <p:nvPr/>
        </p:nvSpPr>
        <p:spPr>
          <a:xfrm>
            <a:off x="6309360" y="4251960"/>
            <a:ext cx="5303520" cy="13716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Crea projects/ext y la registra en extensions.module.ts</a:t>
            </a:r>
            <a:endParaRPr lang="en-US" sz="1500" dirty="0"/>
          </a:p>
          <a:p>
            <a:pPr marL="342900" indent="-342900">
              <a:spcAft>
                <a:spcPts val="600"/>
              </a:spcAft>
              <a:buSzPct val="100000"/>
              <a:buChar char="•"/>
            </a:pPr>
            <a:r>
              <a:rPr lang="en-US" sz="1500" dirty="0">
                <a:solidFill>
                  <a:schemeClr val="tx1"/>
                </a:solidFill>
              </a:rPr>
              <a:t>Agrega un ítem de menú que lleva a #/ext</a:t>
            </a:r>
            <a:endParaRPr lang="en-US" sz="1500" dirty="0"/>
          </a:p>
          <a:p>
            <a:pPr marL="342900" indent="-342900">
              <a:spcAft>
                <a:spcPts val="600"/>
              </a:spcAft>
              <a:buSzPct val="100000"/>
              <a:buChar char="•"/>
            </a:pPr>
            <a:r>
              <a:rPr lang="en-US" sz="1500" dirty="0">
                <a:solidFill>
                  <a:schemeClr val="tx1"/>
                </a:solidFill>
              </a:rPr>
              <a:t>Rutas, acciones y reglas se declaran en JSON</a:t>
            </a:r>
            <a:endParaRPr lang="en-US" sz="1500" dirty="0"/>
          </a:p>
        </p:txBody>
      </p:sp>
      <p:sp>
        <p:nvSpPr>
          <p:cNvPr id="9" name="Text 7"/>
          <p:cNvSpPr txBox="1"/>
          <p:nvPr/>
        </p:nvSpPr>
        <p:spPr>
          <a:xfrm>
            <a:off x="6309360" y="5669280"/>
            <a:ext cx="5303520" cy="365760"/>
          </a:xfrm>
          <a:prstGeom prst="rect">
            <a:avLst/>
          </a:prstGeom>
          <a:noFill/>
          <a:ln/>
        </p:spPr>
        <p:txBody>
          <a:bodyPr wrap="square" lIns="0" tIns="0" rIns="0" bIns="0" rtlCol="0" anchor="ctr"/>
          <a:lstStyle/>
          <a:p>
            <a:pPr indent="0" marL="0">
              <a:buNone/>
            </a:pPr>
            <a:r>
              <a:rPr lang="en-US" sz="1300" i="1" dirty="0">
                <a:solidFill>
                  <a:schemeClr val="accent6"/>
                </a:solidFill>
              </a:rPr>
              <a:t>Comprobado: genera, instala y compila (nx build content-ce).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731520" y="2286000"/>
            <a:ext cx="6035040" cy="1188720"/>
          </a:xfrm>
          <a:prstGeom prst="rect">
            <a:avLst/>
          </a:prstGeom>
          <a:noFill/>
          <a:ln/>
        </p:spPr>
        <p:txBody>
          <a:bodyPr wrap="square" lIns="0" tIns="0" rIns="0" bIns="0" rtlCol="0" anchor="b"/>
          <a:lstStyle/>
          <a:p>
            <a:pPr algn="l" indent="0" marL="0">
              <a:buNone/>
            </a:pPr>
            <a:r>
              <a:rPr lang="en-US" sz="4000" b="1" dirty="0">
                <a:solidFill>
                  <a:schemeClr val="bg1"/>
                </a:solidFill>
              </a:rPr>
              <a:t>4 · ADF a mano</a:t>
            </a:r>
            <a:endParaRPr lang="en-US" sz="4000" dirty="0"/>
          </a:p>
        </p:txBody>
      </p:sp>
      <p:sp>
        <p:nvSpPr>
          <p:cNvPr id="3" name="Text 0"/>
          <p:cNvSpPr/>
          <p:nvPr>
            <p:ph idx="101" type="body" hasCustomPrompt="1"/>
          </p:nvPr>
        </p:nvSpPr>
        <p:spPr>
          <a:xfrm>
            <a:off x="731520" y="3611880"/>
            <a:ext cx="6035040" cy="1463040"/>
          </a:xfrm>
          <a:prstGeom prst="rect">
            <a:avLst/>
          </a:prstGeom>
          <a:noFill/>
          <a:ln/>
        </p:spPr>
        <p:txBody>
          <a:bodyPr wrap="square" lIns="0" tIns="0" rIns="0" bIns="0" rtlCol="0" anchor="t"/>
          <a:lstStyle/>
          <a:p>
            <a:pPr algn="l" indent="0" marL="0">
              <a:buNone/>
            </a:pPr>
            <a:r>
              <a:rPr lang="en-US" sz="2000" dirty="0">
                <a:solidFill>
                  <a:schemeClr val="bg2"/>
                </a:solidFill>
              </a:rPr>
              <a:t>Agregar ADF a un proyecto Angular nuevo o existente. Única opción para la última versión de Angular.</a:t>
            </a:r>
            <a:endParaRPr lang="en-US" sz="2000" dirty="0"/>
          </a:p>
        </p:txBody>
      </p:sp>
      <p:sp>
        <p:nvSpPr>
          <p:cNvPr id="4" name="seccion-circulo"/>
          <p:cNvSpPr/>
          <p:nvPr/>
        </p:nvSpPr>
        <p:spPr>
          <a:xfrm>
            <a:off x="731520" y="1051560"/>
            <a:ext cx="1005840" cy="1005840"/>
          </a:xfrm>
          <a:prstGeom prst="ellipse">
            <a:avLst/>
          </a:prstGeom>
          <a:solidFill>
            <a:schemeClr val="accent1"/>
          </a:solidFill>
          <a:ln/>
        </p:spPr>
      </p:sp>
      <p:pic>
        <p:nvPicPr>
          <p:cNvPr id="5" name="seccion-icono" descr="preencoded.png">    </p:cNvPr>
          <p:cNvPicPr>
            <a:picLocks noChangeAspect="1"/>
          </p:cNvPicPr>
          <p:nvPr/>
        </p:nvPicPr>
        <p:blipFill>
          <a:blip r:embed="rId1"/>
          <a:stretch>
            <a:fillRect/>
          </a:stretch>
        </p:blipFill>
        <p:spPr>
          <a:xfrm>
            <a:off x="982980" y="1303020"/>
            <a:ext cx="502920" cy="502920"/>
          </a:xfrm>
          <a:prstGeom prst="rect">
            <a:avLst/>
          </a:prstGeom>
        </p:spPr>
      </p:pic>
      <p:sp>
        <p:nvSpPr>
          <p:cNvPr id="6" name="seccion-dato"/>
          <p:cNvSpPr/>
          <p:nvPr/>
        </p:nvSpPr>
        <p:spPr>
          <a:xfrm>
            <a:off x="7498080" y="1828800"/>
            <a:ext cx="3931920" cy="3200400"/>
          </a:xfrm>
          <a:prstGeom prst="roundRect">
            <a:avLst>
              <a:gd name="adj" fmla="val 4286"/>
            </a:avLst>
          </a:prstGeom>
          <a:solidFill>
            <a:schemeClr val="accent1"/>
          </a:solidFill>
          <a:ln/>
        </p:spPr>
      </p:sp>
      <p:sp>
        <p:nvSpPr>
          <p:cNvPr id="7" name="Text 4"/>
          <p:cNvSpPr txBox="1"/>
          <p:nvPr/>
        </p:nvSpPr>
        <p:spPr>
          <a:xfrm>
            <a:off x="7680960" y="2103120"/>
            <a:ext cx="3566160" cy="1737360"/>
          </a:xfrm>
          <a:prstGeom prst="rect">
            <a:avLst/>
          </a:prstGeom>
          <a:noFill/>
          <a:ln/>
        </p:spPr>
        <p:txBody>
          <a:bodyPr wrap="square" lIns="0" tIns="0" rIns="0" bIns="0" rtlCol="0" anchor="ctr"/>
          <a:lstStyle/>
          <a:p>
            <a:pPr algn="ctr" indent="0" marL="0">
              <a:buNone/>
            </a:pPr>
            <a:r>
              <a:rPr lang="en-US" sz="4000" b="1" dirty="0">
                <a:solidFill>
                  <a:schemeClr val="bg1"/>
                </a:solidFill>
                <a:latin typeface="Arial" pitchFamily="34" charset="0"/>
                <a:ea typeface="Arial" pitchFamily="34" charset="-122"/>
                <a:cs typeface="Arial" pitchFamily="34" charset="-120"/>
              </a:rPr>
              <a:t>Angular 22</a:t>
            </a:r>
            <a:endParaRPr lang="en-US" sz="4000" dirty="0"/>
          </a:p>
        </p:txBody>
      </p:sp>
      <p:sp>
        <p:nvSpPr>
          <p:cNvPr id="8" name="Text 5"/>
          <p:cNvSpPr txBox="1"/>
          <p:nvPr/>
        </p:nvSpPr>
        <p:spPr>
          <a:xfrm>
            <a:off x="7680960" y="3840480"/>
            <a:ext cx="3566160" cy="1005840"/>
          </a:xfrm>
          <a:prstGeom prst="rect">
            <a:avLst/>
          </a:prstGeom>
          <a:noFill/>
          <a:ln/>
        </p:spPr>
        <p:txBody>
          <a:bodyPr wrap="square" lIns="0" tIns="0" rIns="0" bIns="0" rtlCol="0" anchor="t"/>
          <a:lstStyle/>
          <a:p>
            <a:pPr algn="ctr" indent="0" marL="0">
              <a:buNone/>
            </a:pPr>
            <a:r>
              <a:rPr lang="en-US" sz="1600" dirty="0">
                <a:solidFill>
                  <a:schemeClr val="bg1"/>
                </a:solidFill>
              </a:rPr>
              <a:t>ADF 9.0.0 · Node 24.15+ · npm 11</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Angular 22: crear el proyecto e instalar ADF</a:t>
            </a:r>
            <a:endParaRPr lang="en-US" sz="3400" dirty="0"/>
          </a:p>
        </p:txBody>
      </p:sp>
      <p:sp>
        <p:nvSpPr>
          <p:cNvPr id="3" name="mancrear-fondo"/>
          <p:cNvSpPr/>
          <p:nvPr/>
        </p:nvSpPr>
        <p:spPr>
          <a:xfrm>
            <a:off x="548640" y="1371600"/>
            <a:ext cx="11064240" cy="3200400"/>
          </a:xfrm>
          <a:prstGeom prst="roundRect">
            <a:avLst>
              <a:gd name="adj" fmla="val 2286"/>
            </a:avLst>
          </a:prstGeom>
          <a:solidFill>
            <a:schemeClr val="tx2"/>
          </a:solidFill>
          <a:ln/>
        </p:spPr>
      </p:sp>
      <p:sp>
        <p:nvSpPr>
          <p:cNvPr id="4" name="mancrear-codigo"/>
          <p:cNvSpPr txBox="1"/>
          <p:nvPr/>
        </p:nvSpPr>
        <p:spPr>
          <a:xfrm>
            <a:off x="777240" y="1536192"/>
            <a:ext cx="10607040" cy="2871216"/>
          </a:xfrm>
          <a:prstGeom prst="rect">
            <a:avLst/>
          </a:prstGeom>
          <a:noFill/>
          <a:ln/>
        </p:spPr>
        <p:txBody>
          <a:bodyPr wrap="square" lIns="0" tIns="0" rIns="0" bIns="0" rtlCol="0" anchor="t"/>
          <a:lstStyle/>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nvm use 24                                  </a:t>
            </a:r>
            <a:pPr indent="0" marL="0">
              <a:spcAft>
                <a:spcPts val="200"/>
              </a:spcAft>
              <a:buNone/>
            </a:pPr>
            <a:r>
              <a:rPr lang="en-US" sz="1400" dirty="0">
                <a:solidFill>
                  <a:schemeClr val="accent1"/>
                </a:solidFill>
                <a:latin typeface="Courier New" pitchFamily="34" charset="0"/>
                <a:ea typeface="Courier New" pitchFamily="34" charset="-122"/>
                <a:cs typeface="Courier New" pitchFamily="34" charset="-120"/>
              </a:rPr>
              <a:t># &gt;= 24.15</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npx @angular/cli@latest new mi-app --style=scss --ssr=false --ai-config=none</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cd mi-app</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Set-Content .npmrc 'legacy-peer-deps=true' -Encoding ascii</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npx ng add @angular/material@22 --skip-confirmation --defaults</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npm install @alfresco/adf-core@9.0.0 @alfresco/adf-extensions@9.0.0 `</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@alfresco/js-api@10.0.0 @ngx-translate/core@17 @mat-datetimepicker/core@12 `</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@angular/material-date-fns-adapter@22 @angular/animations@22 date-fns@2 `</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angular-oauth2-oidc@19 minimatch@10 pdfjs-dist cropperjs zone.js</a:t>
            </a:r>
            <a:endParaRPr lang="en-US" sz="1400" dirty="0"/>
          </a:p>
        </p:txBody>
      </p:sp>
      <p:sp>
        <p:nvSpPr>
          <p:cNvPr id="5" name="manwhy-legacy-peer-deps"/>
          <p:cNvSpPr/>
          <p:nvPr/>
        </p:nvSpPr>
        <p:spPr>
          <a:xfrm>
            <a:off x="548640" y="4800600"/>
            <a:ext cx="3566160" cy="1280160"/>
          </a:xfrm>
          <a:prstGeom prst="roundRect">
            <a:avLst>
              <a:gd name="adj" fmla="val 7143"/>
            </a:avLst>
          </a:prstGeom>
          <a:solidFill>
            <a:schemeClr val="bg2"/>
          </a:solidFill>
          <a:ln/>
        </p:spPr>
      </p:sp>
      <p:sp>
        <p:nvSpPr>
          <p:cNvPr id="6" name="Text 4"/>
          <p:cNvSpPr txBox="1"/>
          <p:nvPr/>
        </p:nvSpPr>
        <p:spPr>
          <a:xfrm>
            <a:off x="731520" y="4892040"/>
            <a:ext cx="3200400" cy="411480"/>
          </a:xfrm>
          <a:prstGeom prst="rect">
            <a:avLst/>
          </a:prstGeom>
          <a:noFill/>
          <a:ln/>
        </p:spPr>
        <p:txBody>
          <a:bodyPr wrap="square" lIns="0" tIns="0" rIns="0" bIns="0" rtlCol="0" anchor="ctr"/>
          <a:lstStyle/>
          <a:p>
            <a:pPr indent="0" marL="0">
              <a:buNone/>
            </a:pPr>
            <a:r>
              <a:rPr lang="en-US" sz="1600" b="1" dirty="0">
                <a:solidFill>
                  <a:schemeClr val="accent1"/>
                </a:solidFill>
                <a:latin typeface="Courier New" pitchFamily="34" charset="0"/>
                <a:ea typeface="Courier New" pitchFamily="34" charset="-122"/>
                <a:cs typeface="Courier New" pitchFamily="34" charset="-120"/>
              </a:rPr>
              <a:t>legacy-peer-deps</a:t>
            </a:r>
            <a:endParaRPr lang="en-US" sz="1600" dirty="0"/>
          </a:p>
        </p:txBody>
      </p:sp>
      <p:sp>
        <p:nvSpPr>
          <p:cNvPr id="7" name="Text 5"/>
          <p:cNvSpPr txBox="1"/>
          <p:nvPr/>
        </p:nvSpPr>
        <p:spPr>
          <a:xfrm>
            <a:off x="731520" y="5303520"/>
            <a:ext cx="3200400" cy="685800"/>
          </a:xfrm>
          <a:prstGeom prst="rect">
            <a:avLst/>
          </a:prstGeom>
          <a:noFill/>
          <a:ln/>
        </p:spPr>
        <p:txBody>
          <a:bodyPr wrap="square" lIns="0" tIns="0" rIns="0" bIns="0" rtlCol="0" anchor="t"/>
          <a:lstStyle/>
          <a:p>
            <a:pPr indent="0" marL="0">
              <a:buNone/>
            </a:pPr>
            <a:r>
              <a:rPr lang="en-US" sz="1400" dirty="0">
                <a:solidFill>
                  <a:schemeClr val="tx1"/>
                </a:solidFill>
              </a:rPr>
              <a:t>evita ERESOLVE: los peers de ADF están desalineados</a:t>
            </a:r>
            <a:endParaRPr lang="en-US" sz="1400" dirty="0"/>
          </a:p>
        </p:txBody>
      </p:sp>
      <p:sp>
        <p:nvSpPr>
          <p:cNvPr id="8" name="manwhy-ng add material"/>
          <p:cNvSpPr/>
          <p:nvPr/>
        </p:nvSpPr>
        <p:spPr>
          <a:xfrm>
            <a:off x="4297680" y="4800600"/>
            <a:ext cx="3566160" cy="1280160"/>
          </a:xfrm>
          <a:prstGeom prst="roundRect">
            <a:avLst>
              <a:gd name="adj" fmla="val 7143"/>
            </a:avLst>
          </a:prstGeom>
          <a:solidFill>
            <a:schemeClr val="bg2"/>
          </a:solidFill>
          <a:ln/>
        </p:spPr>
      </p:sp>
      <p:sp>
        <p:nvSpPr>
          <p:cNvPr id="9" name="Text 7"/>
          <p:cNvSpPr txBox="1"/>
          <p:nvPr/>
        </p:nvSpPr>
        <p:spPr>
          <a:xfrm>
            <a:off x="4480560" y="4892040"/>
            <a:ext cx="3200400" cy="411480"/>
          </a:xfrm>
          <a:prstGeom prst="rect">
            <a:avLst/>
          </a:prstGeom>
          <a:noFill/>
          <a:ln/>
        </p:spPr>
        <p:txBody>
          <a:bodyPr wrap="square" lIns="0" tIns="0" rIns="0" bIns="0" rtlCol="0" anchor="ctr"/>
          <a:lstStyle/>
          <a:p>
            <a:pPr indent="0" marL="0">
              <a:buNone/>
            </a:pPr>
            <a:r>
              <a:rPr lang="en-US" sz="1600" b="1" dirty="0">
                <a:solidFill>
                  <a:schemeClr val="accent1"/>
                </a:solidFill>
                <a:latin typeface="Courier New" pitchFamily="34" charset="0"/>
                <a:ea typeface="Courier New" pitchFamily="34" charset="-122"/>
                <a:cs typeface="Courier New" pitchFamily="34" charset="-120"/>
              </a:rPr>
              <a:t>ng add material</a:t>
            </a:r>
            <a:endParaRPr lang="en-US" sz="1600" dirty="0"/>
          </a:p>
        </p:txBody>
      </p:sp>
      <p:sp>
        <p:nvSpPr>
          <p:cNvPr id="10" name="Text 8"/>
          <p:cNvSpPr txBox="1"/>
          <p:nvPr/>
        </p:nvSpPr>
        <p:spPr>
          <a:xfrm>
            <a:off x="4480560" y="5303520"/>
            <a:ext cx="3200400" cy="685800"/>
          </a:xfrm>
          <a:prstGeom prst="rect">
            <a:avLst/>
          </a:prstGeom>
          <a:noFill/>
          <a:ln/>
        </p:spPr>
        <p:txBody>
          <a:bodyPr wrap="square" lIns="0" tIns="0" rIns="0" bIns="0" rtlCol="0" anchor="t"/>
          <a:lstStyle/>
          <a:p>
            <a:pPr indent="0" marL="0">
              <a:buNone/>
            </a:pPr>
            <a:r>
              <a:rPr lang="en-US" sz="1400" dirty="0">
                <a:solidFill>
                  <a:schemeClr val="tx1"/>
                </a:solidFill>
              </a:rPr>
              <a:t>tema de Material, fuente Roboto y Material Icons</a:t>
            </a:r>
            <a:endParaRPr lang="en-US" sz="1400" dirty="0"/>
          </a:p>
        </p:txBody>
      </p:sp>
      <p:sp>
        <p:nvSpPr>
          <p:cNvPr id="11" name="manwhy-zone.js"/>
          <p:cNvSpPr/>
          <p:nvPr/>
        </p:nvSpPr>
        <p:spPr>
          <a:xfrm>
            <a:off x="8046720" y="4800600"/>
            <a:ext cx="3566160" cy="1280160"/>
          </a:xfrm>
          <a:prstGeom prst="roundRect">
            <a:avLst>
              <a:gd name="adj" fmla="val 7143"/>
            </a:avLst>
          </a:prstGeom>
          <a:solidFill>
            <a:schemeClr val="bg2"/>
          </a:solidFill>
          <a:ln/>
        </p:spPr>
      </p:sp>
      <p:sp>
        <p:nvSpPr>
          <p:cNvPr id="12" name="Text 10"/>
          <p:cNvSpPr txBox="1"/>
          <p:nvPr/>
        </p:nvSpPr>
        <p:spPr>
          <a:xfrm>
            <a:off x="8229600" y="4892040"/>
            <a:ext cx="3200400" cy="411480"/>
          </a:xfrm>
          <a:prstGeom prst="rect">
            <a:avLst/>
          </a:prstGeom>
          <a:noFill/>
          <a:ln/>
        </p:spPr>
        <p:txBody>
          <a:bodyPr wrap="square" lIns="0" tIns="0" rIns="0" bIns="0" rtlCol="0" anchor="ctr"/>
          <a:lstStyle/>
          <a:p>
            <a:pPr indent="0" marL="0">
              <a:buNone/>
            </a:pPr>
            <a:r>
              <a:rPr lang="en-US" sz="1600" b="1" dirty="0">
                <a:solidFill>
                  <a:schemeClr val="accent1"/>
                </a:solidFill>
                <a:latin typeface="Courier New" pitchFamily="34" charset="0"/>
                <a:ea typeface="Courier New" pitchFamily="34" charset="-122"/>
                <a:cs typeface="Courier New" pitchFamily="34" charset="-120"/>
              </a:rPr>
              <a:t>zone.js</a:t>
            </a:r>
            <a:endParaRPr lang="en-US" sz="1600" dirty="0"/>
          </a:p>
        </p:txBody>
      </p:sp>
      <p:sp>
        <p:nvSpPr>
          <p:cNvPr id="13" name="Text 11"/>
          <p:cNvSpPr txBox="1"/>
          <p:nvPr/>
        </p:nvSpPr>
        <p:spPr>
          <a:xfrm>
            <a:off x="8229600" y="5303520"/>
            <a:ext cx="3200400" cy="685800"/>
          </a:xfrm>
          <a:prstGeom prst="rect">
            <a:avLst/>
          </a:prstGeom>
          <a:noFill/>
          <a:ln/>
        </p:spPr>
        <p:txBody>
          <a:bodyPr wrap="square" lIns="0" tIns="0" rIns="0" bIns="0" rtlCol="0" anchor="t"/>
          <a:lstStyle/>
          <a:p>
            <a:pPr indent="0" marL="0">
              <a:buNone/>
            </a:pPr>
            <a:r>
              <a:rPr lang="en-US" sz="1400" dirty="0">
                <a:solidFill>
                  <a:schemeClr val="tx1"/>
                </a:solidFill>
              </a:rPr>
              <a:t>Angular 21+ crea el proyecto sin zone.js y ADF lo usa</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Angular 22: configurar ADF 9 en el código</a:t>
            </a:r>
            <a:endParaRPr lang="en-US" sz="3400" dirty="0"/>
          </a:p>
        </p:txBody>
      </p:sp>
      <p:sp>
        <p:nvSpPr>
          <p:cNvPr id="3" name="mancfg-fondo"/>
          <p:cNvSpPr/>
          <p:nvPr/>
        </p:nvSpPr>
        <p:spPr>
          <a:xfrm>
            <a:off x="548640" y="1371600"/>
            <a:ext cx="11064240" cy="2514600"/>
          </a:xfrm>
          <a:prstGeom prst="roundRect">
            <a:avLst>
              <a:gd name="adj" fmla="val 2909"/>
            </a:avLst>
          </a:prstGeom>
          <a:solidFill>
            <a:schemeClr val="tx2"/>
          </a:solidFill>
          <a:ln/>
        </p:spPr>
      </p:sp>
      <p:sp>
        <p:nvSpPr>
          <p:cNvPr id="4" name="mancfg-codigo"/>
          <p:cNvSpPr txBox="1"/>
          <p:nvPr/>
        </p:nvSpPr>
        <p:spPr>
          <a:xfrm>
            <a:off x="777240" y="1536192"/>
            <a:ext cx="10607040" cy="2185416"/>
          </a:xfrm>
          <a:prstGeom prst="rect">
            <a:avLst/>
          </a:prstGeom>
          <a:noFill/>
          <a:ln/>
        </p:spPr>
        <p:txBody>
          <a:bodyPr wrap="square" lIns="0" tIns="0" rIns="0" bIns="0" rtlCol="0" anchor="t"/>
          <a:lstStyle/>
          <a:p>
            <a:pPr indent="0" marL="0">
              <a:spcAft>
                <a:spcPts val="200"/>
              </a:spcAft>
              <a:buNone/>
            </a:pPr>
            <a:r>
              <a:rPr lang="en-US" sz="1200" dirty="0">
                <a:solidFill>
                  <a:schemeClr val="accent1"/>
                </a:solidFill>
                <a:latin typeface="Courier New" pitchFamily="34" charset="0"/>
                <a:ea typeface="Courier New" pitchFamily="34" charset="-122"/>
                <a:cs typeface="Courier New" pitchFamily="34" charset="-120"/>
              </a:rPr>
              <a:t>// src/app/app.config.ts</a:t>
            </a:r>
            <a:endParaRPr lang="en-US" sz="1200" dirty="0"/>
          </a:p>
          <a:p>
            <a:pPr indent="0" marL="0">
              <a:spcAft>
                <a:spcPts val="200"/>
              </a:spcAft>
              <a:buNone/>
            </a:pPr>
            <a:r>
              <a:rPr lang="en-US" sz="1200" dirty="0">
                <a:solidFill>
                  <a:schemeClr val="bg1"/>
                </a:solidFill>
                <a:latin typeface="Courier New" pitchFamily="34" charset="0"/>
                <a:ea typeface="Courier New" pitchFamily="34" charset="-122"/>
                <a:cs typeface="Courier New" pitchFamily="34" charset="-120"/>
              </a:rPr>
              <a:t>import { ApplicationConfig, provideZoneChangeDetection } from '@angular/core';</a:t>
            </a:r>
            <a:endParaRPr lang="en-US" sz="1200" dirty="0"/>
          </a:p>
          <a:p>
            <a:pPr indent="0" marL="0">
              <a:spcAft>
                <a:spcPts val="200"/>
              </a:spcAft>
              <a:buNone/>
            </a:pPr>
            <a:r>
              <a:rPr lang="en-US" sz="1200" dirty="0">
                <a:solidFill>
                  <a:schemeClr val="bg1"/>
                </a:solidFill>
                <a:latin typeface="Courier New" pitchFamily="34" charset="0"/>
                <a:ea typeface="Courier New" pitchFamily="34" charset="-122"/>
                <a:cs typeface="Courier New" pitchFamily="34" charset="-120"/>
              </a:rPr>
              <a:t>import { provideRouter } from '@angular/router';</a:t>
            </a:r>
            <a:endParaRPr lang="en-US" sz="1200" dirty="0"/>
          </a:p>
          <a:p>
            <a:pPr indent="0" marL="0">
              <a:spcAft>
                <a:spcPts val="200"/>
              </a:spcAft>
              <a:buNone/>
            </a:pPr>
            <a:r>
              <a:rPr lang="en-US" sz="1200" dirty="0">
                <a:solidFill>
                  <a:schemeClr val="bg1"/>
                </a:solidFill>
                <a:latin typeface="Courier New" pitchFamily="34" charset="0"/>
                <a:ea typeface="Courier New" pitchFamily="34" charset="-122"/>
                <a:cs typeface="Courier New" pitchFamily="34" charset="-120"/>
              </a:rPr>
              <a:t>import { provideAnimations } from '@angular/platform-browser/animations';</a:t>
            </a:r>
            <a:endParaRPr lang="en-US" sz="1200" dirty="0"/>
          </a:p>
          <a:p>
            <a:pPr indent="0" marL="0">
              <a:spcAft>
                <a:spcPts val="200"/>
              </a:spcAft>
              <a:buNone/>
            </a:pPr>
            <a:r>
              <a:rPr lang="en-US" sz="1200" dirty="0">
                <a:solidFill>
                  <a:schemeClr val="bg1"/>
                </a:solidFill>
                <a:latin typeface="Courier New" pitchFamily="34" charset="0"/>
                <a:ea typeface="Courier New" pitchFamily="34" charset="-122"/>
                <a:cs typeface="Courier New" pitchFamily="34" charset="-120"/>
              </a:rPr>
              <a:t>import { provideAppConfig, provideCoreAuth, provideI18N } from '@alfresco/adf-core';</a:t>
            </a:r>
            <a:endParaRPr lang="en-US" sz="1200" dirty="0"/>
          </a:p>
          <a:p>
            <a:pPr indent="0" marL="0">
              <a:spcAft>
                <a:spcPts val="200"/>
              </a:spcAft>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spcAft>
                <a:spcPts val="200"/>
              </a:spcAft>
              <a:buNone/>
            </a:pPr>
            <a:r>
              <a:rPr lang="en-US" sz="1200" dirty="0">
                <a:solidFill>
                  <a:schemeClr val="bg1"/>
                </a:solidFill>
                <a:latin typeface="Courier New" pitchFamily="34" charset="0"/>
                <a:ea typeface="Courier New" pitchFamily="34" charset="-122"/>
                <a:cs typeface="Courier New" pitchFamily="34" charset="-120"/>
              </a:rPr>
              <a:t>export const appConfig: ApplicationConfig = {</a:t>
            </a:r>
            <a:endParaRPr lang="en-US" sz="1200" dirty="0"/>
          </a:p>
          <a:p>
            <a:pPr indent="0" marL="0">
              <a:spcAft>
                <a:spcPts val="200"/>
              </a:spcAft>
              <a:buNone/>
            </a:pPr>
            <a:r>
              <a:rPr lang="en-US" sz="1200" dirty="0">
                <a:solidFill>
                  <a:schemeClr val="bg1"/>
                </a:solidFill>
                <a:latin typeface="Courier New" pitchFamily="34" charset="0"/>
                <a:ea typeface="Courier New" pitchFamily="34" charset="-122"/>
                <a:cs typeface="Courier New" pitchFamily="34" charset="-120"/>
              </a:rPr>
              <a:t>  providers: [provideZoneChangeDetection(), provideRouter([]), provideAnimations(),</a:t>
            </a:r>
            <a:endParaRPr lang="en-US" sz="1200" dirty="0"/>
          </a:p>
          <a:p>
            <a:pPr indent="0" marL="0">
              <a:spcAft>
                <a:spcPts val="200"/>
              </a:spcAft>
              <a:buNone/>
            </a:pPr>
            <a:r>
              <a:rPr lang="en-US" sz="1200" dirty="0">
                <a:solidFill>
                  <a:schemeClr val="bg1"/>
                </a:solidFill>
                <a:latin typeface="Courier New" pitchFamily="34" charset="0"/>
                <a:ea typeface="Courier New" pitchFamily="34" charset="-122"/>
                <a:cs typeface="Courier New" pitchFamily="34" charset="-120"/>
              </a:rPr>
              <a:t>              provideAppConfig(), provideI18N(), provideCoreAuth()]</a:t>
            </a:r>
            <a:endParaRPr lang="en-US" sz="1200" dirty="0"/>
          </a:p>
          <a:p>
            <a:pPr indent="0" marL="0">
              <a:spcAft>
                <a:spcPts val="200"/>
              </a:spcAft>
              <a:buNone/>
            </a:pPr>
            <a:r>
              <a:rPr lang="en-US" sz="1200" dirty="0">
                <a:solidFill>
                  <a:schemeClr val="bg1"/>
                </a:solidFill>
                <a:latin typeface="Courier New" pitchFamily="34" charset="0"/>
                <a:ea typeface="Courier New" pitchFamily="34" charset="-122"/>
                <a:cs typeface="Courier New" pitchFamily="34" charset="-120"/>
              </a:rPr>
              <a:t>};</a:t>
            </a:r>
            <a:endParaRPr lang="en-US" sz="1200" dirty="0"/>
          </a:p>
        </p:txBody>
      </p:sp>
      <p:sp>
        <p:nvSpPr>
          <p:cNvPr id="5" name="mancmp-fondo"/>
          <p:cNvSpPr/>
          <p:nvPr/>
        </p:nvSpPr>
        <p:spPr>
          <a:xfrm>
            <a:off x="548640" y="4023360"/>
            <a:ext cx="11064240" cy="2057400"/>
          </a:xfrm>
          <a:prstGeom prst="roundRect">
            <a:avLst>
              <a:gd name="adj" fmla="val 3556"/>
            </a:avLst>
          </a:prstGeom>
          <a:solidFill>
            <a:schemeClr val="tx2"/>
          </a:solidFill>
          <a:ln/>
        </p:spPr>
      </p:sp>
      <p:sp>
        <p:nvSpPr>
          <p:cNvPr id="6" name="mancmp-codigo"/>
          <p:cNvSpPr txBox="1"/>
          <p:nvPr/>
        </p:nvSpPr>
        <p:spPr>
          <a:xfrm>
            <a:off x="777240" y="4187952"/>
            <a:ext cx="10607040" cy="1728216"/>
          </a:xfrm>
          <a:prstGeom prst="rect">
            <a:avLst/>
          </a:prstGeom>
          <a:noFill/>
          <a:ln/>
        </p:spPr>
        <p:txBody>
          <a:bodyPr wrap="square" lIns="0" tIns="0" rIns="0" bIns="0" rtlCol="0" anchor="t"/>
          <a:lstStyle/>
          <a:p>
            <a:pPr indent="0" marL="0">
              <a:spcAft>
                <a:spcPts val="200"/>
              </a:spcAft>
              <a:buNone/>
            </a:pPr>
            <a:r>
              <a:rPr lang="en-US" sz="1200" dirty="0">
                <a:solidFill>
                  <a:schemeClr val="accent1"/>
                </a:solidFill>
                <a:latin typeface="Courier New" pitchFamily="34" charset="0"/>
                <a:ea typeface="Courier New" pitchFamily="34" charset="-122"/>
                <a:cs typeface="Courier New" pitchFamily="34" charset="-120"/>
              </a:rPr>
              <a:t>// src/app/app.ts</a:t>
            </a:r>
            <a:endParaRPr lang="en-US" sz="1200" dirty="0"/>
          </a:p>
          <a:p>
            <a:pPr indent="0" marL="0">
              <a:spcAft>
                <a:spcPts val="200"/>
              </a:spcAft>
              <a:buNone/>
            </a:pPr>
            <a:r>
              <a:rPr lang="en-US" sz="1200" dirty="0">
                <a:solidFill>
                  <a:schemeClr val="bg1"/>
                </a:solidFill>
                <a:latin typeface="Courier New" pitchFamily="34" charset="0"/>
                <a:ea typeface="Courier New" pitchFamily="34" charset="-122"/>
                <a:cs typeface="Courier New" pitchFamily="34" charset="-120"/>
              </a:rPr>
              <a:t>import { Component } from '@angular/core';</a:t>
            </a:r>
            <a:endParaRPr lang="en-US" sz="1200" dirty="0"/>
          </a:p>
          <a:p>
            <a:pPr indent="0" marL="0">
              <a:spcAft>
                <a:spcPts val="200"/>
              </a:spcAft>
              <a:buNone/>
            </a:pPr>
            <a:r>
              <a:rPr lang="en-US" sz="1200" dirty="0">
                <a:solidFill>
                  <a:schemeClr val="bg1"/>
                </a:solidFill>
                <a:latin typeface="Courier New" pitchFamily="34" charset="0"/>
                <a:ea typeface="Courier New" pitchFamily="34" charset="-122"/>
                <a:cs typeface="Courier New" pitchFamily="34" charset="-120"/>
              </a:rPr>
              <a:t>import { LoginComponent } from '@alfresco/adf-core';</a:t>
            </a:r>
            <a:endParaRPr lang="en-US" sz="1200" dirty="0"/>
          </a:p>
          <a:p>
            <a:pPr indent="0" marL="0">
              <a:spcAft>
                <a:spcPts val="200"/>
              </a:spcAft>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spcAft>
                <a:spcPts val="200"/>
              </a:spcAft>
              <a:buNone/>
            </a:pPr>
            <a:r>
              <a:rPr lang="en-US" sz="1200" dirty="0">
                <a:solidFill>
                  <a:schemeClr val="bg1"/>
                </a:solidFill>
                <a:latin typeface="Courier New" pitchFamily="34" charset="0"/>
                <a:ea typeface="Courier New" pitchFamily="34" charset="-122"/>
                <a:cs typeface="Courier New" pitchFamily="34" charset="-120"/>
              </a:rPr>
              <a:t>@Component({ selector: 'app-root', imports: [LoginComponent],</a:t>
            </a:r>
            <a:endParaRPr lang="en-US" sz="1200" dirty="0"/>
          </a:p>
          <a:p>
            <a:pPr indent="0" marL="0">
              <a:spcAft>
                <a:spcPts val="200"/>
              </a:spcAft>
              <a:buNone/>
            </a:pPr>
            <a:r>
              <a:rPr lang="en-US" sz="1200" dirty="0">
                <a:solidFill>
                  <a:schemeClr val="bg1"/>
                </a:solidFill>
                <a:latin typeface="Courier New" pitchFamily="34" charset="0"/>
                <a:ea typeface="Courier New" pitchFamily="34" charset="-122"/>
                <a:cs typeface="Courier New" pitchFamily="34" charset="-120"/>
              </a:rPr>
              <a:t>             template: '&lt;adf-login&gt;&lt;/adf-login&gt;' })</a:t>
            </a:r>
            <a:endParaRPr lang="en-US" sz="1200" dirty="0"/>
          </a:p>
          <a:p>
            <a:pPr indent="0" marL="0">
              <a:spcAft>
                <a:spcPts val="200"/>
              </a:spcAft>
              <a:buNone/>
            </a:pPr>
            <a:r>
              <a:rPr lang="en-US" sz="1200" dirty="0">
                <a:solidFill>
                  <a:schemeClr val="bg1"/>
                </a:solidFill>
                <a:latin typeface="Courier New" pitchFamily="34" charset="0"/>
                <a:ea typeface="Courier New" pitchFamily="34" charset="-122"/>
                <a:cs typeface="Courier New" pitchFamily="34" charset="-120"/>
              </a:rPr>
              <a:t>export class App {}</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Angular 22: archivos y ajustes de angular.json</a:t>
            </a:r>
            <a:endParaRPr lang="en-US" sz="3400" dirty="0"/>
          </a:p>
        </p:txBody>
      </p:sp>
      <p:sp>
        <p:nvSpPr>
          <p:cNvPr id="3" name="manfiles-fondo"/>
          <p:cNvSpPr/>
          <p:nvPr/>
        </p:nvSpPr>
        <p:spPr>
          <a:xfrm>
            <a:off x="548640" y="1371600"/>
            <a:ext cx="5440680" cy="1417320"/>
          </a:xfrm>
          <a:prstGeom prst="roundRect">
            <a:avLst>
              <a:gd name="adj" fmla="val 5161"/>
            </a:avLst>
          </a:prstGeom>
          <a:solidFill>
            <a:schemeClr val="tx2"/>
          </a:solidFill>
          <a:ln/>
        </p:spPr>
      </p:sp>
      <p:sp>
        <p:nvSpPr>
          <p:cNvPr id="4" name="manfiles-codigo"/>
          <p:cNvSpPr txBox="1"/>
          <p:nvPr/>
        </p:nvSpPr>
        <p:spPr>
          <a:xfrm>
            <a:off x="777240" y="1536192"/>
            <a:ext cx="4983480" cy="1088136"/>
          </a:xfrm>
          <a:prstGeom prst="rect">
            <a:avLst/>
          </a:prstGeom>
          <a:noFill/>
          <a:ln/>
        </p:spPr>
        <p:txBody>
          <a:bodyPr wrap="square" lIns="0" tIns="0" rIns="0" bIns="0" rtlCol="0" anchor="t"/>
          <a:lstStyle/>
          <a:p>
            <a:pPr indent="0" marL="0">
              <a:spcAft>
                <a:spcPts val="200"/>
              </a:spcAft>
              <a:buNone/>
            </a:pPr>
            <a:r>
              <a:rPr lang="en-US" sz="1200" dirty="0">
                <a:solidFill>
                  <a:schemeClr val="accent1"/>
                </a:solidFill>
                <a:latin typeface="Courier New" pitchFamily="34" charset="0"/>
                <a:ea typeface="Courier New" pitchFamily="34" charset="-122"/>
                <a:cs typeface="Courier New" pitchFamily="34" charset="-120"/>
              </a:rPr>
              <a:t>// public/app.config.json</a:t>
            </a:r>
            <a:endParaRPr lang="en-US" sz="1200" dirty="0"/>
          </a:p>
          <a:p>
            <a:pPr indent="0" marL="0">
              <a:spcAft>
                <a:spcPts val="200"/>
              </a:spcAft>
              <a:buNone/>
            </a:pPr>
            <a:r>
              <a:rPr lang="en-US" sz="1200" dirty="0">
                <a:solidFill>
                  <a:schemeClr val="bg1"/>
                </a:solidFill>
                <a:latin typeface="Courier New" pitchFamily="34" charset="0"/>
                <a:ea typeface="Courier New" pitchFamily="34" charset="-122"/>
                <a:cs typeface="Courier New" pitchFamily="34" charset="-120"/>
              </a:rPr>
              <a:t>{ "ecmHost": "http://localhost:4200",</a:t>
            </a:r>
            <a:endParaRPr lang="en-US" sz="1200" dirty="0"/>
          </a:p>
          <a:p>
            <a:pPr indent="0" marL="0">
              <a:spcAft>
                <a:spcPts val="200"/>
              </a:spcAft>
              <a:buNone/>
            </a:pPr>
            <a:r>
              <a:rPr lang="en-US" sz="1200" dirty="0">
                <a:solidFill>
                  <a:schemeClr val="bg1"/>
                </a:solidFill>
                <a:latin typeface="Courier New" pitchFamily="34" charset="0"/>
                <a:ea typeface="Courier New" pitchFamily="34" charset="-122"/>
                <a:cs typeface="Courier New" pitchFamily="34" charset="-120"/>
              </a:rPr>
              <a:t>  "providers": "ECM", "authType": "BASIC",</a:t>
            </a:r>
            <a:endParaRPr lang="en-US" sz="1200" dirty="0"/>
          </a:p>
          <a:p>
            <a:pPr indent="0" marL="0">
              <a:spcAft>
                <a:spcPts val="200"/>
              </a:spcAft>
              <a:buNone/>
            </a:pPr>
            <a:r>
              <a:rPr lang="en-US" sz="1200" dirty="0">
                <a:solidFill>
                  <a:schemeClr val="bg1"/>
                </a:solidFill>
                <a:latin typeface="Courier New" pitchFamily="34" charset="0"/>
                <a:ea typeface="Courier New" pitchFamily="34" charset="-122"/>
                <a:cs typeface="Courier New" pitchFamily="34" charset="-120"/>
              </a:rPr>
              <a:t>  "loginRoute": "login" }</a:t>
            </a:r>
            <a:endParaRPr lang="en-US" sz="1200" dirty="0"/>
          </a:p>
        </p:txBody>
      </p:sp>
      <p:sp>
        <p:nvSpPr>
          <p:cNvPr id="5" name="manproxy-fondo"/>
          <p:cNvSpPr/>
          <p:nvPr/>
        </p:nvSpPr>
        <p:spPr>
          <a:xfrm>
            <a:off x="6172200" y="1371600"/>
            <a:ext cx="5440680" cy="1417320"/>
          </a:xfrm>
          <a:prstGeom prst="roundRect">
            <a:avLst>
              <a:gd name="adj" fmla="val 5161"/>
            </a:avLst>
          </a:prstGeom>
          <a:solidFill>
            <a:schemeClr val="tx2"/>
          </a:solidFill>
          <a:ln/>
        </p:spPr>
      </p:sp>
      <p:sp>
        <p:nvSpPr>
          <p:cNvPr id="6" name="manproxy-codigo"/>
          <p:cNvSpPr txBox="1"/>
          <p:nvPr/>
        </p:nvSpPr>
        <p:spPr>
          <a:xfrm>
            <a:off x="6400800" y="1536192"/>
            <a:ext cx="4983480" cy="1088136"/>
          </a:xfrm>
          <a:prstGeom prst="rect">
            <a:avLst/>
          </a:prstGeom>
          <a:noFill/>
          <a:ln/>
        </p:spPr>
        <p:txBody>
          <a:bodyPr wrap="square" lIns="0" tIns="0" rIns="0" bIns="0" rtlCol="0" anchor="t"/>
          <a:lstStyle/>
          <a:p>
            <a:pPr indent="0" marL="0">
              <a:spcAft>
                <a:spcPts val="200"/>
              </a:spcAft>
              <a:buNone/>
            </a:pPr>
            <a:r>
              <a:rPr lang="en-US" sz="1200" dirty="0">
                <a:solidFill>
                  <a:schemeClr val="accent1"/>
                </a:solidFill>
                <a:latin typeface="Courier New" pitchFamily="34" charset="0"/>
                <a:ea typeface="Courier New" pitchFamily="34" charset="-122"/>
                <a:cs typeface="Courier New" pitchFamily="34" charset="-120"/>
              </a:rPr>
              <a:t>// proxy.conf.json (raíz del proyecto)</a:t>
            </a:r>
            <a:endParaRPr lang="en-US" sz="1200" dirty="0"/>
          </a:p>
          <a:p>
            <a:pPr indent="0" marL="0">
              <a:spcAft>
                <a:spcPts val="200"/>
              </a:spcAft>
              <a:buNone/>
            </a:pPr>
            <a:r>
              <a:rPr lang="en-US" sz="1200" dirty="0">
                <a:solidFill>
                  <a:schemeClr val="bg1"/>
                </a:solidFill>
                <a:latin typeface="Courier New" pitchFamily="34" charset="0"/>
                <a:ea typeface="Courier New" pitchFamily="34" charset="-122"/>
                <a:cs typeface="Courier New" pitchFamily="34" charset="-120"/>
              </a:rPr>
              <a:t>{ "/alfresco": {</a:t>
            </a:r>
            <a:endParaRPr lang="en-US" sz="1200" dirty="0"/>
          </a:p>
          <a:p>
            <a:pPr indent="0" marL="0">
              <a:spcAft>
                <a:spcPts val="200"/>
              </a:spcAft>
              <a:buNone/>
            </a:pPr>
            <a:r>
              <a:rPr lang="en-US" sz="1200" dirty="0">
                <a:solidFill>
                  <a:schemeClr val="bg1"/>
                </a:solidFill>
                <a:latin typeface="Courier New" pitchFamily="34" charset="0"/>
                <a:ea typeface="Courier New" pitchFamily="34" charset="-122"/>
                <a:cs typeface="Courier New" pitchFamily="34" charset="-120"/>
              </a:rPr>
              <a:t>    "target": "http://localhost:8080",</a:t>
            </a:r>
            <a:endParaRPr lang="en-US" sz="1200" dirty="0"/>
          </a:p>
          <a:p>
            <a:pPr indent="0" marL="0">
              <a:spcAft>
                <a:spcPts val="200"/>
              </a:spcAft>
              <a:buNone/>
            </a:pPr>
            <a:r>
              <a:rPr lang="en-US" sz="1200" dirty="0">
                <a:solidFill>
                  <a:schemeClr val="bg1"/>
                </a:solidFill>
                <a:latin typeface="Courier New" pitchFamily="34" charset="0"/>
                <a:ea typeface="Courier New" pitchFamily="34" charset="-122"/>
                <a:cs typeface="Courier New" pitchFamily="34" charset="-120"/>
              </a:rPr>
              <a:t>    "secure": false, "changeOrigin": true } }</a:t>
            </a:r>
            <a:endParaRPr lang="en-US" sz="1200" dirty="0"/>
          </a:p>
        </p:txBody>
      </p:sp>
      <p:sp>
        <p:nvSpPr>
          <p:cNvPr id="7" name="manangular-fondo"/>
          <p:cNvSpPr/>
          <p:nvPr/>
        </p:nvSpPr>
        <p:spPr>
          <a:xfrm>
            <a:off x="548640" y="2971800"/>
            <a:ext cx="11064240" cy="3108960"/>
          </a:xfrm>
          <a:prstGeom prst="roundRect">
            <a:avLst>
              <a:gd name="adj" fmla="val 2353"/>
            </a:avLst>
          </a:prstGeom>
          <a:solidFill>
            <a:schemeClr val="tx2"/>
          </a:solidFill>
          <a:ln/>
        </p:spPr>
      </p:sp>
      <p:sp>
        <p:nvSpPr>
          <p:cNvPr id="8" name="manangular-codigo"/>
          <p:cNvSpPr txBox="1"/>
          <p:nvPr/>
        </p:nvSpPr>
        <p:spPr>
          <a:xfrm>
            <a:off x="777240" y="3136392"/>
            <a:ext cx="10607040" cy="2779776"/>
          </a:xfrm>
          <a:prstGeom prst="rect">
            <a:avLst/>
          </a:prstGeom>
          <a:noFill/>
          <a:ln/>
        </p:spPr>
        <p:txBody>
          <a:bodyPr wrap="square" lIns="0" tIns="0" rIns="0" bIns="0" rtlCol="0" anchor="t"/>
          <a:lstStyle/>
          <a:p>
            <a:pPr indent="0" marL="0">
              <a:spcAft>
                <a:spcPts val="200"/>
              </a:spcAft>
              <a:buNone/>
            </a:pPr>
            <a:r>
              <a:rPr lang="en-US" sz="1200" dirty="0">
                <a:solidFill>
                  <a:schemeClr val="accent1"/>
                </a:solidFill>
                <a:latin typeface="Courier New" pitchFamily="34" charset="0"/>
                <a:ea typeface="Courier New" pitchFamily="34" charset="-122"/>
                <a:cs typeface="Courier New" pitchFamily="34" charset="-120"/>
              </a:rPr>
              <a:t>// angular.json → projects.mi-app.architect</a:t>
            </a:r>
            <a:endParaRPr lang="en-US" sz="1200" dirty="0"/>
          </a:p>
          <a:p>
            <a:pPr indent="0" marL="0">
              <a:spcAft>
                <a:spcPts val="200"/>
              </a:spcAft>
              <a:buNone/>
            </a:pPr>
            <a:r>
              <a:rPr lang="en-US" sz="1200" dirty="0">
                <a:solidFill>
                  <a:schemeClr val="bg1"/>
                </a:solidFill>
                <a:latin typeface="Courier New" pitchFamily="34" charset="0"/>
                <a:ea typeface="Courier New" pitchFamily="34" charset="-122"/>
                <a:cs typeface="Courier New" pitchFamily="34" charset="-120"/>
              </a:rPr>
              <a:t>"build": { "options": {</a:t>
            </a:r>
            <a:endParaRPr lang="en-US" sz="1200" dirty="0"/>
          </a:p>
          <a:p>
            <a:pPr indent="0" marL="0">
              <a:spcAft>
                <a:spcPts val="200"/>
              </a:spcAft>
              <a:buNone/>
            </a:pPr>
            <a:r>
              <a:rPr lang="en-US" sz="1200" dirty="0">
                <a:solidFill>
                  <a:schemeClr val="bg1"/>
                </a:solidFill>
                <a:latin typeface="Courier New" pitchFamily="34" charset="0"/>
                <a:ea typeface="Courier New" pitchFamily="34" charset="-122"/>
                <a:cs typeface="Courier New" pitchFamily="34" charset="-120"/>
              </a:rPr>
              <a:t>  "polyfills": ["zone.js"],</a:t>
            </a:r>
            <a:endParaRPr lang="en-US" sz="1200" dirty="0"/>
          </a:p>
          <a:p>
            <a:pPr indent="0" marL="0">
              <a:spcAft>
                <a:spcPts val="200"/>
              </a:spcAft>
              <a:buNone/>
            </a:pPr>
            <a:r>
              <a:rPr lang="en-US" sz="1200" dirty="0">
                <a:solidFill>
                  <a:schemeClr val="bg1"/>
                </a:solidFill>
                <a:latin typeface="Courier New" pitchFamily="34" charset="0"/>
                <a:ea typeface="Courier New" pitchFamily="34" charset="-122"/>
                <a:cs typeface="Courier New" pitchFamily="34" charset="-120"/>
              </a:rPr>
              <a:t>  "assets": [ { "glob": "**/*", "input": "public" },</a:t>
            </a:r>
            <a:endParaRPr lang="en-US" sz="1200" dirty="0"/>
          </a:p>
          <a:p>
            <a:pPr indent="0" marL="0">
              <a:spcAft>
                <a:spcPts val="200"/>
              </a:spcAft>
              <a:buNone/>
            </a:pPr>
            <a:r>
              <a:rPr lang="en-US" sz="1200" dirty="0">
                <a:solidFill>
                  <a:schemeClr val="bg1"/>
                </a:solidFill>
                <a:latin typeface="Courier New" pitchFamily="34" charset="0"/>
                <a:ea typeface="Courier New" pitchFamily="34" charset="-122"/>
                <a:cs typeface="Courier New" pitchFamily="34" charset="-120"/>
              </a:rPr>
              <a:t>    { "glob": "**/*", "output": "/assets",</a:t>
            </a:r>
            <a:endParaRPr lang="en-US" sz="1200" dirty="0"/>
          </a:p>
          <a:p>
            <a:pPr indent="0" marL="0">
              <a:spcAft>
                <a:spcPts val="200"/>
              </a:spcAft>
              <a:buNone/>
            </a:pPr>
            <a:r>
              <a:rPr lang="en-US" sz="1200" dirty="0">
                <a:solidFill>
                  <a:schemeClr val="bg1"/>
                </a:solidFill>
                <a:latin typeface="Courier New" pitchFamily="34" charset="0"/>
                <a:ea typeface="Courier New" pitchFamily="34" charset="-122"/>
                <a:cs typeface="Courier New" pitchFamily="34" charset="-120"/>
              </a:rPr>
              <a:t>      "input": "node_modules/@alfresco/adf-core/bundles/assets" } ] },</a:t>
            </a:r>
            <a:endParaRPr lang="en-US" sz="1200" dirty="0"/>
          </a:p>
          <a:p>
            <a:pPr indent="0" marL="0">
              <a:spcAft>
                <a:spcPts val="200"/>
              </a:spcAft>
              <a:buNone/>
            </a:pPr>
            <a:r>
              <a:rPr lang="en-US" sz="1200" dirty="0">
                <a:solidFill>
                  <a:schemeClr val="bg1"/>
                </a:solidFill>
                <a:latin typeface="Courier New" pitchFamily="34" charset="0"/>
                <a:ea typeface="Courier New" pitchFamily="34" charset="-122"/>
                <a:cs typeface="Courier New" pitchFamily="34" charset="-120"/>
              </a:rPr>
              <a:t>  "configurations": { "production": { "budgets": [</a:t>
            </a:r>
            <a:endParaRPr lang="en-US" sz="1200" dirty="0"/>
          </a:p>
          <a:p>
            <a:pPr indent="0" marL="0">
              <a:spcAft>
                <a:spcPts val="200"/>
              </a:spcAft>
              <a:buNone/>
            </a:pPr>
            <a:r>
              <a:rPr lang="en-US" sz="1200" dirty="0">
                <a:solidFill>
                  <a:schemeClr val="bg1"/>
                </a:solidFill>
                <a:latin typeface="Courier New" pitchFamily="34" charset="0"/>
                <a:ea typeface="Courier New" pitchFamily="34" charset="-122"/>
                <a:cs typeface="Courier New" pitchFamily="34" charset="-120"/>
              </a:rPr>
              <a:t>    { "type": "initial", "maximumWarning": "4mb", "maximumError": "6mb" } ] } } },</a:t>
            </a:r>
            <a:endParaRPr lang="en-US" sz="1200" dirty="0"/>
          </a:p>
          <a:p>
            <a:pPr indent="0" marL="0">
              <a:spcAft>
                <a:spcPts val="200"/>
              </a:spcAft>
              <a:buNone/>
            </a:pPr>
            <a:r>
              <a:rPr lang="en-US" sz="1200" dirty="0">
                <a:solidFill>
                  <a:schemeClr val="bg1"/>
                </a:solidFill>
                <a:latin typeface="Courier New" pitchFamily="34" charset="0"/>
                <a:ea typeface="Courier New" pitchFamily="34" charset="-122"/>
                <a:cs typeface="Courier New" pitchFamily="34" charset="-120"/>
              </a:rPr>
              <a:t>"serve": { "options": { "proxyConfig": "proxy.conf.json" } }</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Cinco errores reales y cómo se resuelven</a:t>
            </a:r>
            <a:endParaRPr lang="en-US" sz="3400" dirty="0"/>
          </a:p>
        </p:txBody>
      </p:sp>
      <p:sp>
        <p:nvSpPr>
          <p:cNvPr id="3" name="error-1.45"/>
          <p:cNvSpPr/>
          <p:nvPr/>
        </p:nvSpPr>
        <p:spPr>
          <a:xfrm>
            <a:off x="548640" y="1325880"/>
            <a:ext cx="11064240" cy="914400"/>
          </a:xfrm>
          <a:prstGeom prst="roundRect">
            <a:avLst>
              <a:gd name="adj" fmla="val 10000"/>
            </a:avLst>
          </a:prstGeom>
          <a:solidFill>
            <a:schemeClr val="bg2"/>
          </a:solidFill>
          <a:ln/>
        </p:spPr>
      </p:sp>
      <p:pic>
        <p:nvPicPr>
          <p:cNvPr id="4" name="error-1.45-icono" descr="preencoded.png">    </p:cNvPr>
          <p:cNvPicPr>
            <a:picLocks noChangeAspect="1"/>
          </p:cNvPicPr>
          <p:nvPr/>
        </p:nvPicPr>
        <p:blipFill>
          <a:blip r:embed="rId1"/>
          <a:stretch>
            <a:fillRect/>
          </a:stretch>
        </p:blipFill>
        <p:spPr>
          <a:xfrm>
            <a:off x="777240" y="1600200"/>
            <a:ext cx="365760" cy="365760"/>
          </a:xfrm>
          <a:prstGeom prst="rect">
            <a:avLst/>
          </a:prstGeom>
        </p:spPr>
      </p:pic>
      <p:sp>
        <p:nvSpPr>
          <p:cNvPr id="5" name="Text 2"/>
          <p:cNvSpPr txBox="1"/>
          <p:nvPr/>
        </p:nvSpPr>
        <p:spPr>
          <a:xfrm>
            <a:off x="1325880" y="1325880"/>
            <a:ext cx="3931920" cy="914400"/>
          </a:xfrm>
          <a:prstGeom prst="rect">
            <a:avLst/>
          </a:prstGeom>
          <a:noFill/>
          <a:ln/>
        </p:spPr>
        <p:txBody>
          <a:bodyPr wrap="square" lIns="0" tIns="0" rIns="0" bIns="0" rtlCol="0" anchor="ctr"/>
          <a:lstStyle/>
          <a:p>
            <a:pPr indent="0" marL="0">
              <a:buNone/>
            </a:pPr>
            <a:r>
              <a:rPr lang="en-US" sz="1500" b="1" dirty="0">
                <a:solidFill>
                  <a:schemeClr val="tx2"/>
                </a:solidFill>
              </a:rPr>
              <a:t>Página en blanco y «app.config.json contains validation errors»</a:t>
            </a:r>
            <a:endParaRPr lang="en-US" sz="1500" dirty="0"/>
          </a:p>
        </p:txBody>
      </p:sp>
      <p:sp>
        <p:nvSpPr>
          <p:cNvPr id="6" name="error-1.45-fondo"/>
          <p:cNvSpPr/>
          <p:nvPr/>
        </p:nvSpPr>
        <p:spPr>
          <a:xfrm>
            <a:off x="5440680" y="1417320"/>
            <a:ext cx="6035040" cy="731520"/>
          </a:xfrm>
          <a:prstGeom prst="roundRect">
            <a:avLst>
              <a:gd name="adj" fmla="val 10000"/>
            </a:avLst>
          </a:prstGeom>
          <a:solidFill>
            <a:schemeClr val="tx2"/>
          </a:solidFill>
          <a:ln/>
        </p:spPr>
      </p:sp>
      <p:sp>
        <p:nvSpPr>
          <p:cNvPr id="7" name="error-1.45-codigo"/>
          <p:cNvSpPr txBox="1"/>
          <p:nvPr/>
        </p:nvSpPr>
        <p:spPr>
          <a:xfrm>
            <a:off x="5669280" y="1581912"/>
            <a:ext cx="5577840" cy="402336"/>
          </a:xfrm>
          <a:prstGeom prst="rect">
            <a:avLst/>
          </a:prstGeom>
          <a:noFill/>
          <a:ln/>
        </p:spPr>
        <p:txBody>
          <a:bodyPr wrap="square" lIns="0" tIns="0" rIns="0" bIns="0" rtlCol="0" anchor="t"/>
          <a:lstStyle/>
          <a:p>
            <a:pPr indent="0" marL="0">
              <a:spcAft>
                <a:spcPts val="200"/>
              </a:spcAft>
              <a:buNone/>
            </a:pPr>
            <a:r>
              <a:rPr lang="en-US" sz="1300" dirty="0">
                <a:solidFill>
                  <a:schemeClr val="accent1"/>
                </a:solidFill>
                <a:latin typeface="Courier New" pitchFamily="34" charset="0"/>
                <a:ea typeface="Courier New" pitchFamily="34" charset="-122"/>
                <a:cs typeface="Courier New" pitchFamily="34" charset="-120"/>
              </a:rPr>
              <a:t># Angular 18+: el archivo va en public/</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Move-Item src\assets\app.config.json public\</a:t>
            </a:r>
            <a:endParaRPr lang="en-US" sz="1300" dirty="0"/>
          </a:p>
        </p:txBody>
      </p:sp>
      <p:sp>
        <p:nvSpPr>
          <p:cNvPr id="8" name="error-2.55"/>
          <p:cNvSpPr/>
          <p:nvPr/>
        </p:nvSpPr>
        <p:spPr>
          <a:xfrm>
            <a:off x="548640" y="2331720"/>
            <a:ext cx="11064240" cy="914400"/>
          </a:xfrm>
          <a:prstGeom prst="roundRect">
            <a:avLst>
              <a:gd name="adj" fmla="val 10000"/>
            </a:avLst>
          </a:prstGeom>
          <a:solidFill>
            <a:schemeClr val="bg2"/>
          </a:solidFill>
          <a:ln/>
        </p:spPr>
      </p:sp>
      <p:pic>
        <p:nvPicPr>
          <p:cNvPr id="9" name="error-2.55-icono" descr="preencoded.png">    </p:cNvPr>
          <p:cNvPicPr>
            <a:picLocks noChangeAspect="1"/>
          </p:cNvPicPr>
          <p:nvPr/>
        </p:nvPicPr>
        <p:blipFill>
          <a:blip r:embed="rId2"/>
          <a:stretch>
            <a:fillRect/>
          </a:stretch>
        </p:blipFill>
        <p:spPr>
          <a:xfrm>
            <a:off x="777240" y="2606040"/>
            <a:ext cx="365760" cy="365760"/>
          </a:xfrm>
          <a:prstGeom prst="rect">
            <a:avLst/>
          </a:prstGeom>
        </p:spPr>
      </p:pic>
      <p:sp>
        <p:nvSpPr>
          <p:cNvPr id="10" name="Text 6"/>
          <p:cNvSpPr txBox="1"/>
          <p:nvPr/>
        </p:nvSpPr>
        <p:spPr>
          <a:xfrm>
            <a:off x="1325880" y="2331720"/>
            <a:ext cx="3931920" cy="914400"/>
          </a:xfrm>
          <a:prstGeom prst="rect">
            <a:avLst/>
          </a:prstGeom>
          <a:noFill/>
          <a:ln/>
        </p:spPr>
        <p:txBody>
          <a:bodyPr wrap="square" lIns="0" tIns="0" rIns="0" bIns="0" rtlCol="0" anchor="ctr"/>
          <a:lstStyle/>
          <a:p>
            <a:pPr indent="0" marL="0">
              <a:buNone/>
            </a:pPr>
            <a:r>
              <a:rPr lang="en-US" sz="1500" b="1" dirty="0">
                <a:solidFill>
                  <a:schemeClr val="tx2"/>
                </a:solidFill>
              </a:rPr>
              <a:t>NullInjectorError: No provider for RedirectAuthService (ADF 6/7)</a:t>
            </a:r>
            <a:endParaRPr lang="en-US" sz="1500" dirty="0"/>
          </a:p>
        </p:txBody>
      </p:sp>
      <p:sp>
        <p:nvSpPr>
          <p:cNvPr id="11" name="error-2.55-fondo"/>
          <p:cNvSpPr/>
          <p:nvPr/>
        </p:nvSpPr>
        <p:spPr>
          <a:xfrm>
            <a:off x="5440680" y="2423160"/>
            <a:ext cx="6035040" cy="731520"/>
          </a:xfrm>
          <a:prstGeom prst="roundRect">
            <a:avLst>
              <a:gd name="adj" fmla="val 10000"/>
            </a:avLst>
          </a:prstGeom>
          <a:solidFill>
            <a:schemeClr val="tx2"/>
          </a:solidFill>
          <a:ln/>
        </p:spPr>
      </p:sp>
      <p:sp>
        <p:nvSpPr>
          <p:cNvPr id="12" name="error-2.55-codigo"/>
          <p:cNvSpPr txBox="1"/>
          <p:nvPr/>
        </p:nvSpPr>
        <p:spPr>
          <a:xfrm>
            <a:off x="5669280" y="2587752"/>
            <a:ext cx="5577840" cy="402336"/>
          </a:xfrm>
          <a:prstGeom prst="rect">
            <a:avLst/>
          </a:prstGeom>
          <a:noFill/>
          <a:ln/>
        </p:spPr>
        <p:txBody>
          <a:bodyPr wrap="square" lIns="0" tIns="0" rIns="0" bIns="0" rtlCol="0" anchor="t"/>
          <a:lstStyle/>
          <a:p>
            <a:pPr indent="0" marL="0">
              <a:spcAft>
                <a:spcPts val="200"/>
              </a:spcAft>
              <a:buNone/>
            </a:pPr>
            <a:r>
              <a:rPr lang="en-US" sz="1300" dirty="0">
                <a:solidFill>
                  <a:schemeClr val="accent1"/>
                </a:solidFill>
                <a:latin typeface="Courier New" pitchFamily="34" charset="0"/>
                <a:ea typeface="Courier New" pitchFamily="34" charset="-122"/>
                <a:cs typeface="Courier New" pitchFamily="34" charset="-120"/>
              </a:rPr>
              <a:t>// app.module.ts → imports</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AuthModule.forRoot({ useHash: true })</a:t>
            </a:r>
            <a:endParaRPr lang="en-US" sz="1300" dirty="0"/>
          </a:p>
        </p:txBody>
      </p:sp>
      <p:sp>
        <p:nvSpPr>
          <p:cNvPr id="13" name="error-3.65"/>
          <p:cNvSpPr/>
          <p:nvPr/>
        </p:nvSpPr>
        <p:spPr>
          <a:xfrm>
            <a:off x="548640" y="3337560"/>
            <a:ext cx="11064240" cy="914400"/>
          </a:xfrm>
          <a:prstGeom prst="roundRect">
            <a:avLst>
              <a:gd name="adj" fmla="val 10000"/>
            </a:avLst>
          </a:prstGeom>
          <a:solidFill>
            <a:schemeClr val="bg2"/>
          </a:solidFill>
          <a:ln/>
        </p:spPr>
      </p:sp>
      <p:pic>
        <p:nvPicPr>
          <p:cNvPr id="14" name="error-3.65-icono" descr="preencoded.png">    </p:cNvPr>
          <p:cNvPicPr>
            <a:picLocks noChangeAspect="1"/>
          </p:cNvPicPr>
          <p:nvPr/>
        </p:nvPicPr>
        <p:blipFill>
          <a:blip r:embed="rId3"/>
          <a:stretch>
            <a:fillRect/>
          </a:stretch>
        </p:blipFill>
        <p:spPr>
          <a:xfrm>
            <a:off x="777240" y="3611880"/>
            <a:ext cx="365760" cy="365760"/>
          </a:xfrm>
          <a:prstGeom prst="rect">
            <a:avLst/>
          </a:prstGeom>
        </p:spPr>
      </p:pic>
      <p:sp>
        <p:nvSpPr>
          <p:cNvPr id="15" name="Text 10"/>
          <p:cNvSpPr txBox="1"/>
          <p:nvPr/>
        </p:nvSpPr>
        <p:spPr>
          <a:xfrm>
            <a:off x="1325880" y="3337560"/>
            <a:ext cx="3931920" cy="914400"/>
          </a:xfrm>
          <a:prstGeom prst="rect">
            <a:avLst/>
          </a:prstGeom>
          <a:noFill/>
          <a:ln/>
        </p:spPr>
        <p:txBody>
          <a:bodyPr wrap="square" lIns="0" tIns="0" rIns="0" bIns="0" rtlCol="0" anchor="ctr"/>
          <a:lstStyle/>
          <a:p>
            <a:pPr indent="0" marL="0">
              <a:buNone/>
            </a:pPr>
            <a:r>
              <a:rPr lang="en-US" sz="1500" b="1" dirty="0">
                <a:solidFill>
                  <a:schemeClr val="tx2"/>
                </a:solidFill>
              </a:rPr>
              <a:t>Errores TS dentro de node_modules (Angular 14/16)</a:t>
            </a:r>
            <a:endParaRPr lang="en-US" sz="1500" dirty="0"/>
          </a:p>
        </p:txBody>
      </p:sp>
      <p:sp>
        <p:nvSpPr>
          <p:cNvPr id="16" name="error-3.65-fondo"/>
          <p:cNvSpPr/>
          <p:nvPr/>
        </p:nvSpPr>
        <p:spPr>
          <a:xfrm>
            <a:off x="5440680" y="3429000"/>
            <a:ext cx="6035040" cy="731520"/>
          </a:xfrm>
          <a:prstGeom prst="roundRect">
            <a:avLst>
              <a:gd name="adj" fmla="val 10000"/>
            </a:avLst>
          </a:prstGeom>
          <a:solidFill>
            <a:schemeClr val="tx2"/>
          </a:solidFill>
          <a:ln/>
        </p:spPr>
      </p:sp>
      <p:sp>
        <p:nvSpPr>
          <p:cNvPr id="17" name="error-3.65-codigo"/>
          <p:cNvSpPr txBox="1"/>
          <p:nvPr/>
        </p:nvSpPr>
        <p:spPr>
          <a:xfrm>
            <a:off x="5669280" y="3593592"/>
            <a:ext cx="5577840" cy="402336"/>
          </a:xfrm>
          <a:prstGeom prst="rect">
            <a:avLst/>
          </a:prstGeom>
          <a:noFill/>
          <a:ln/>
        </p:spPr>
        <p:txBody>
          <a:bodyPr wrap="square" lIns="0" tIns="0" rIns="0" bIns="0" rtlCol="0" anchor="t"/>
          <a:lstStyle/>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npm install -D @types/node@16      </a:t>
            </a:r>
            <a:pPr indent="0" marL="0">
              <a:spcAft>
                <a:spcPts val="200"/>
              </a:spcAft>
              <a:buNone/>
            </a:pPr>
            <a:r>
              <a:rPr lang="en-US" sz="1300" dirty="0">
                <a:solidFill>
                  <a:schemeClr val="accent1"/>
                </a:solidFill>
                <a:latin typeface="Courier New" pitchFamily="34" charset="0"/>
                <a:ea typeface="Courier New" pitchFamily="34" charset="-122"/>
                <a:cs typeface="Courier New" pitchFamily="34" charset="-120"/>
              </a:rPr>
              <a:t># Angular 14</a:t>
            </a:r>
            <a:endParaRPr lang="en-US" sz="1300" dirty="0"/>
          </a:p>
          <a:p>
            <a:pPr indent="0" marL="0">
              <a:spcAft>
                <a:spcPts val="200"/>
              </a:spcAft>
              <a:buNone/>
            </a:pPr>
            <a:r>
              <a:rPr lang="en-US" sz="1300" dirty="0">
                <a:solidFill>
                  <a:schemeClr val="accent1"/>
                </a:solidFill>
                <a:latin typeface="Courier New" pitchFamily="34" charset="0"/>
                <a:ea typeface="Courier New" pitchFamily="34" charset="-122"/>
                <a:cs typeface="Courier New" pitchFamily="34" charset="-120"/>
              </a:rPr>
              <a:t>// tsconfig.json: "skipLibCheck": true</a:t>
            </a:r>
            <a:endParaRPr lang="en-US" sz="1300" dirty="0"/>
          </a:p>
        </p:txBody>
      </p:sp>
      <p:sp>
        <p:nvSpPr>
          <p:cNvPr id="18" name="error-4.75"/>
          <p:cNvSpPr/>
          <p:nvPr/>
        </p:nvSpPr>
        <p:spPr>
          <a:xfrm>
            <a:off x="548640" y="4343400"/>
            <a:ext cx="11064240" cy="914400"/>
          </a:xfrm>
          <a:prstGeom prst="roundRect">
            <a:avLst>
              <a:gd name="adj" fmla="val 10000"/>
            </a:avLst>
          </a:prstGeom>
          <a:solidFill>
            <a:schemeClr val="bg2"/>
          </a:solidFill>
          <a:ln/>
        </p:spPr>
      </p:sp>
      <p:pic>
        <p:nvPicPr>
          <p:cNvPr id="19" name="error-4.75-icono" descr="preencoded.png">    </p:cNvPr>
          <p:cNvPicPr>
            <a:picLocks noChangeAspect="1"/>
          </p:cNvPicPr>
          <p:nvPr/>
        </p:nvPicPr>
        <p:blipFill>
          <a:blip r:embed="rId4"/>
          <a:stretch>
            <a:fillRect/>
          </a:stretch>
        </p:blipFill>
        <p:spPr>
          <a:xfrm>
            <a:off x="777240" y="4617720"/>
            <a:ext cx="365760" cy="365760"/>
          </a:xfrm>
          <a:prstGeom prst="rect">
            <a:avLst/>
          </a:prstGeom>
        </p:spPr>
      </p:pic>
      <p:sp>
        <p:nvSpPr>
          <p:cNvPr id="20" name="Text 14"/>
          <p:cNvSpPr txBox="1"/>
          <p:nvPr/>
        </p:nvSpPr>
        <p:spPr>
          <a:xfrm>
            <a:off x="1325880" y="4343400"/>
            <a:ext cx="3931920" cy="914400"/>
          </a:xfrm>
          <a:prstGeom prst="rect">
            <a:avLst/>
          </a:prstGeom>
          <a:noFill/>
          <a:ln/>
        </p:spPr>
        <p:txBody>
          <a:bodyPr wrap="square" lIns="0" tIns="0" rIns="0" bIns="0" rtlCol="0" anchor="ctr"/>
          <a:lstStyle/>
          <a:p>
            <a:pPr indent="0" marL="0">
              <a:buNone/>
            </a:pPr>
            <a:r>
              <a:rPr lang="en-US" sz="1500" b="1" dirty="0">
                <a:solidFill>
                  <a:schemeClr val="tx2"/>
                </a:solidFill>
              </a:rPr>
              <a:t>bundle initial exceeded maximum budget</a:t>
            </a:r>
            <a:endParaRPr lang="en-US" sz="1500" dirty="0"/>
          </a:p>
        </p:txBody>
      </p:sp>
      <p:sp>
        <p:nvSpPr>
          <p:cNvPr id="21" name="error-4.75-fondo"/>
          <p:cNvSpPr/>
          <p:nvPr/>
        </p:nvSpPr>
        <p:spPr>
          <a:xfrm>
            <a:off x="5440680" y="4434840"/>
            <a:ext cx="6035040" cy="731520"/>
          </a:xfrm>
          <a:prstGeom prst="roundRect">
            <a:avLst>
              <a:gd name="adj" fmla="val 10000"/>
            </a:avLst>
          </a:prstGeom>
          <a:solidFill>
            <a:schemeClr val="tx2"/>
          </a:solidFill>
          <a:ln/>
        </p:spPr>
      </p:sp>
      <p:sp>
        <p:nvSpPr>
          <p:cNvPr id="22" name="error-4.75-codigo"/>
          <p:cNvSpPr txBox="1"/>
          <p:nvPr/>
        </p:nvSpPr>
        <p:spPr>
          <a:xfrm>
            <a:off x="5669280" y="4599432"/>
            <a:ext cx="5577840" cy="402336"/>
          </a:xfrm>
          <a:prstGeom prst="rect">
            <a:avLst/>
          </a:prstGeom>
          <a:noFill/>
          <a:ln/>
        </p:spPr>
        <p:txBody>
          <a:bodyPr wrap="square" lIns="0" tIns="0" rIns="0" bIns="0" rtlCol="0" anchor="t"/>
          <a:lstStyle/>
          <a:p>
            <a:pPr indent="0" marL="0">
              <a:spcAft>
                <a:spcPts val="200"/>
              </a:spcAft>
              <a:buNone/>
            </a:pPr>
            <a:r>
              <a:rPr lang="en-US" sz="1300" dirty="0">
                <a:solidFill>
                  <a:schemeClr val="accent1"/>
                </a:solidFill>
                <a:latin typeface="Courier New" pitchFamily="34" charset="0"/>
                <a:ea typeface="Courier New" pitchFamily="34" charset="-122"/>
                <a:cs typeface="Courier New" pitchFamily="34" charset="-120"/>
              </a:rPr>
              <a:t>// angular.json → budgets (initial)</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"maximumWarning": "4mb", "maximumError": "6mb"</a:t>
            </a:r>
            <a:endParaRPr lang="en-US" sz="1300" dirty="0"/>
          </a:p>
        </p:txBody>
      </p:sp>
      <p:sp>
        <p:nvSpPr>
          <p:cNvPr id="23" name="error-5.85"/>
          <p:cNvSpPr/>
          <p:nvPr/>
        </p:nvSpPr>
        <p:spPr>
          <a:xfrm>
            <a:off x="548640" y="5349240"/>
            <a:ext cx="11064240" cy="914400"/>
          </a:xfrm>
          <a:prstGeom prst="roundRect">
            <a:avLst>
              <a:gd name="adj" fmla="val 10000"/>
            </a:avLst>
          </a:prstGeom>
          <a:solidFill>
            <a:schemeClr val="bg2"/>
          </a:solidFill>
          <a:ln/>
        </p:spPr>
      </p:sp>
      <p:pic>
        <p:nvPicPr>
          <p:cNvPr id="24" name="error-5.85-icono" descr="preencoded.png">    </p:cNvPr>
          <p:cNvPicPr>
            <a:picLocks noChangeAspect="1"/>
          </p:cNvPicPr>
          <p:nvPr/>
        </p:nvPicPr>
        <p:blipFill>
          <a:blip r:embed="rId5"/>
          <a:stretch>
            <a:fillRect/>
          </a:stretch>
        </p:blipFill>
        <p:spPr>
          <a:xfrm>
            <a:off x="777240" y="5623560"/>
            <a:ext cx="365760" cy="365760"/>
          </a:xfrm>
          <a:prstGeom prst="rect">
            <a:avLst/>
          </a:prstGeom>
        </p:spPr>
      </p:pic>
      <p:sp>
        <p:nvSpPr>
          <p:cNvPr id="25" name="Text 18"/>
          <p:cNvSpPr txBox="1"/>
          <p:nvPr/>
        </p:nvSpPr>
        <p:spPr>
          <a:xfrm>
            <a:off x="1325880" y="5349240"/>
            <a:ext cx="3931920" cy="914400"/>
          </a:xfrm>
          <a:prstGeom prst="rect">
            <a:avLst/>
          </a:prstGeom>
          <a:noFill/>
          <a:ln/>
        </p:spPr>
        <p:txBody>
          <a:bodyPr wrap="square" lIns="0" tIns="0" rIns="0" bIns="0" rtlCol="0" anchor="ctr"/>
          <a:lstStyle/>
          <a:p>
            <a:pPr indent="0" marL="0">
              <a:buNone/>
            </a:pPr>
            <a:r>
              <a:rPr lang="en-US" sz="1500" b="1" dirty="0">
                <a:solidFill>
                  <a:schemeClr val="tx2"/>
                </a:solidFill>
              </a:rPr>
              <a:t>Se ve el texto «visibility» en vez del ícono</a:t>
            </a:r>
            <a:endParaRPr lang="en-US" sz="1500" dirty="0"/>
          </a:p>
        </p:txBody>
      </p:sp>
      <p:sp>
        <p:nvSpPr>
          <p:cNvPr id="26" name="error-5.85-fondo"/>
          <p:cNvSpPr/>
          <p:nvPr/>
        </p:nvSpPr>
        <p:spPr>
          <a:xfrm>
            <a:off x="5440680" y="5440680"/>
            <a:ext cx="6035040" cy="731520"/>
          </a:xfrm>
          <a:prstGeom prst="roundRect">
            <a:avLst>
              <a:gd name="adj" fmla="val 10000"/>
            </a:avLst>
          </a:prstGeom>
          <a:solidFill>
            <a:schemeClr val="tx2"/>
          </a:solidFill>
          <a:ln/>
        </p:spPr>
      </p:sp>
      <p:sp>
        <p:nvSpPr>
          <p:cNvPr id="27" name="error-5.85-codigo"/>
          <p:cNvSpPr txBox="1"/>
          <p:nvPr/>
        </p:nvSpPr>
        <p:spPr>
          <a:xfrm>
            <a:off x="5669280" y="5605272"/>
            <a:ext cx="5577840" cy="402336"/>
          </a:xfrm>
          <a:prstGeom prst="rect">
            <a:avLst/>
          </a:prstGeom>
          <a:noFill/>
          <a:ln/>
        </p:spPr>
        <p:txBody>
          <a:bodyPr wrap="square" lIns="0" tIns="0" rIns="0" bIns="0" rtlCol="0" anchor="t"/>
          <a:lstStyle/>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npx ng add @angular/material@22 --skip-confirmation</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¿Qué camino elegir?</a:t>
            </a:r>
            <a:endParaRPr lang="en-US" sz="3400" dirty="0"/>
          </a:p>
        </p:txBody>
      </p:sp>
      <p:graphicFrame>
        <p:nvGraphicFramePr>
          <p:cNvPr id="24" name="comparativa"/>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554480"/>
                <a:gridCol w="2103120"/>
                <a:gridCol w="2377440"/>
                <a:gridCol w="2514600"/>
                <a:gridCol w="2514600"/>
              </a:tblGrid>
              <a:tr h="548640">
                <a:tc>
                  <a:txBody>
                    <a:bodyPr/>
                    <a:lstStyle/>
                    <a:p>
                      <a:pPr indent="0" marL="0">
                        <a:buNone/>
                      </a:pPr>
                      <a:endParaRPr lang="en-US" sz="1600" dirty="0"/>
                    </a:p>
                  </a:txBody>
                  <a:tcPr marL="109728" marR="109728"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solidFill>
                      <a:srgbClr val="0B3142"/>
                    </a:solidFill>
                  </a:tcPr>
                </a:tc>
                <a:tc>
                  <a:txBody>
                    <a:bodyPr/>
                    <a:lstStyle/>
                    <a:p>
                      <a:pPr indent="0" marL="0">
                        <a:buNone/>
                      </a:pPr>
                      <a:r>
                        <a:rPr lang="en-US" sz="1600" b="1" dirty="0">
                          <a:solidFill>
                            <a:srgbClr val="FFFFFF"/>
                          </a:solidFill>
                        </a:rPr>
                        <a:t>Yeoman</a:t>
                      </a:r>
                      <a:endParaRPr lang="en-US" sz="1600" dirty="0"/>
                    </a:p>
                  </a:txBody>
                  <a:tcPr marL="109728" marR="109728"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solidFill>
                      <a:srgbClr val="0B3142"/>
                    </a:solidFill>
                  </a:tcPr>
                </a:tc>
                <a:tc>
                  <a:txBody>
                    <a:bodyPr/>
                    <a:lstStyle/>
                    <a:p>
                      <a:pPr indent="0" marL="0">
                        <a:buNone/>
                      </a:pPr>
                      <a:r>
                        <a:rPr lang="en-US" sz="1600" b="1" dirty="0">
                          <a:solidFill>
                            <a:srgbClr val="FFFFFF"/>
                          </a:solidFill>
                        </a:rPr>
                        <a:t>Generador Nx</a:t>
                      </a:r>
                      <a:endParaRPr lang="en-US" sz="1600" dirty="0"/>
                    </a:p>
                  </a:txBody>
                  <a:tcPr marL="109728" marR="109728"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solidFill>
                      <a:srgbClr val="0B3142"/>
                    </a:solidFill>
                  </a:tcPr>
                </a:tc>
                <a:tc>
                  <a:txBody>
                    <a:bodyPr/>
                    <a:lstStyle/>
                    <a:p>
                      <a:pPr indent="0" marL="0">
                        <a:buNone/>
                      </a:pPr>
                      <a:r>
                        <a:rPr lang="en-US" sz="1600" b="1" dirty="0">
                          <a:solidFill>
                            <a:srgbClr val="FFFFFF"/>
                          </a:solidFill>
                        </a:rPr>
                        <a:t>ACA</a:t>
                      </a:r>
                      <a:endParaRPr lang="en-US" sz="1600" dirty="0"/>
                    </a:p>
                  </a:txBody>
                  <a:tcPr marL="109728" marR="109728"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solidFill>
                      <a:srgbClr val="0B3142"/>
                    </a:solidFill>
                  </a:tcPr>
                </a:tc>
                <a:tc>
                  <a:txBody>
                    <a:bodyPr/>
                    <a:lstStyle/>
                    <a:p>
                      <a:pPr indent="0" marL="0">
                        <a:buNone/>
                      </a:pPr>
                      <a:r>
                        <a:rPr lang="en-US" sz="1600" b="1" dirty="0">
                          <a:solidFill>
                            <a:srgbClr val="FFFFFF"/>
                          </a:solidFill>
                        </a:rPr>
                        <a:t>ADF a mano</a:t>
                      </a:r>
                      <a:endParaRPr lang="en-US" sz="1600" dirty="0"/>
                    </a:p>
                  </a:txBody>
                  <a:tcPr marL="109728" marR="109728"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solidFill>
                      <a:srgbClr val="0B3142"/>
                    </a:solidFill>
                  </a:tcPr>
                </a:tc>
              </a:tr>
              <a:tr h="685800">
                <a:tc>
                  <a:txBody>
                    <a:bodyPr/>
                    <a:lstStyle/>
                    <a:p>
                      <a:pPr indent="0" marL="0">
                        <a:buNone/>
                      </a:pPr>
                      <a:r>
                        <a:rPr lang="en-US" sz="1600" b="1" dirty="0">
                          <a:solidFill>
                            <a:srgbClr val="1B2631"/>
                          </a:solidFill>
                        </a:rPr>
                        <a:t>Angular</a:t>
                      </a:r>
                      <a:endParaRPr lang="en-US" sz="1600" dirty="0"/>
                    </a:p>
                  </a:txBody>
                  <a:tcPr marL="109728" marR="109728"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600" dirty="0">
                          <a:solidFill>
                            <a:srgbClr val="1B2631"/>
                          </a:solidFill>
                        </a:rPr>
                        <a:t>14</a:t>
                      </a:r>
                      <a:endParaRPr lang="en-US" sz="1600" dirty="0"/>
                    </a:p>
                  </a:txBody>
                  <a:tcPr marL="109728" marR="109728"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600" dirty="0">
                          <a:solidFill>
                            <a:srgbClr val="1B2631"/>
                          </a:solidFill>
                        </a:rPr>
                        <a:t>19</a:t>
                      </a:r>
                      <a:endParaRPr lang="en-US" sz="1600" dirty="0"/>
                    </a:p>
                  </a:txBody>
                  <a:tcPr marL="109728" marR="109728"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600" dirty="0">
                          <a:solidFill>
                            <a:srgbClr val="1B2631"/>
                          </a:solidFill>
                        </a:rPr>
                        <a:t>20 (master: 21)</a:t>
                      </a:r>
                      <a:endParaRPr lang="en-US" sz="1600" dirty="0"/>
                    </a:p>
                  </a:txBody>
                  <a:tcPr marL="109728" marR="109728"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600" dirty="0">
                          <a:solidFill>
                            <a:srgbClr val="1B2631"/>
                          </a:solidFill>
                        </a:rPr>
                        <a:t>14 a 22</a:t>
                      </a:r>
                      <a:endParaRPr lang="en-US" sz="1600" dirty="0"/>
                    </a:p>
                  </a:txBody>
                  <a:tcPr marL="109728" marR="109728"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r>
              <a:tr h="685800">
                <a:tc>
                  <a:txBody>
                    <a:bodyPr/>
                    <a:lstStyle/>
                    <a:p>
                      <a:pPr indent="0" marL="0">
                        <a:buNone/>
                      </a:pPr>
                      <a:r>
                        <a:rPr lang="en-US" sz="1600" b="1" dirty="0">
                          <a:solidFill>
                            <a:srgbClr val="1B2631"/>
                          </a:solidFill>
                        </a:rPr>
                        <a:t>ADF</a:t>
                      </a:r>
                      <a:endParaRPr lang="en-US" sz="1600" dirty="0"/>
                    </a:p>
                  </a:txBody>
                  <a:tcPr marL="109728" marR="109728"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600" dirty="0">
                          <a:solidFill>
                            <a:srgbClr val="1B2631"/>
                          </a:solidFill>
                        </a:rPr>
                        <a:t>6.1</a:t>
                      </a:r>
                      <a:endParaRPr lang="en-US" sz="1600" dirty="0"/>
                    </a:p>
                  </a:txBody>
                  <a:tcPr marL="109728" marR="109728"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600" dirty="0">
                          <a:solidFill>
                            <a:srgbClr val="1B2631"/>
                          </a:solidFill>
                        </a:rPr>
                        <a:t>8.0</a:t>
                      </a:r>
                      <a:endParaRPr lang="en-US" sz="1600" dirty="0"/>
                    </a:p>
                  </a:txBody>
                  <a:tcPr marL="109728" marR="109728"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600" dirty="0">
                          <a:solidFill>
                            <a:srgbClr val="1B2631"/>
                          </a:solidFill>
                        </a:rPr>
                        <a:t>9.0</a:t>
                      </a:r>
                      <a:endParaRPr lang="en-US" sz="1600" dirty="0"/>
                    </a:p>
                  </a:txBody>
                  <a:tcPr marL="109728" marR="109728"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600" dirty="0">
                          <a:solidFill>
                            <a:srgbClr val="1B2631"/>
                          </a:solidFill>
                        </a:rPr>
                        <a:t>6.9.1 a 9.0.0</a:t>
                      </a:r>
                      <a:endParaRPr lang="en-US" sz="1600" dirty="0"/>
                    </a:p>
                  </a:txBody>
                  <a:tcPr marL="109728" marR="109728"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r>
              <a:tr h="685800">
                <a:tc>
                  <a:txBody>
                    <a:bodyPr/>
                    <a:lstStyle/>
                    <a:p>
                      <a:pPr indent="0" marL="0">
                        <a:buNone/>
                      </a:pPr>
                      <a:r>
                        <a:rPr lang="en-US" sz="1600" b="1" dirty="0">
                          <a:solidFill>
                            <a:srgbClr val="1B2631"/>
                          </a:solidFill>
                        </a:rPr>
                        <a:t>Node</a:t>
                      </a:r>
                      <a:endParaRPr lang="en-US" sz="1600" dirty="0"/>
                    </a:p>
                  </a:txBody>
                  <a:tcPr marL="109728" marR="109728"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600" dirty="0">
                          <a:solidFill>
                            <a:srgbClr val="1B2631"/>
                          </a:solidFill>
                        </a:rPr>
                        <a:t>16.20.2</a:t>
                      </a:r>
                      <a:endParaRPr lang="en-US" sz="1600" dirty="0"/>
                    </a:p>
                  </a:txBody>
                  <a:tcPr marL="109728" marR="109728"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600" dirty="0">
                          <a:solidFill>
                            <a:srgbClr val="1B2631"/>
                          </a:solidFill>
                        </a:rPr>
                        <a:t>24.11.1+</a:t>
                      </a:r>
                      <a:endParaRPr lang="en-US" sz="1600" dirty="0"/>
                    </a:p>
                  </a:txBody>
                  <a:tcPr marL="109728" marR="109728"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600" dirty="0">
                          <a:solidFill>
                            <a:srgbClr val="1B2631"/>
                          </a:solidFill>
                        </a:rPr>
                        <a:t>24.13.1+</a:t>
                      </a:r>
                      <a:endParaRPr lang="en-US" sz="1600" dirty="0"/>
                    </a:p>
                  </a:txBody>
                  <a:tcPr marL="109728" marR="109728"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600" dirty="0">
                          <a:solidFill>
                            <a:srgbClr val="1B2631"/>
                          </a:solidFill>
                        </a:rPr>
                        <a:t>16 a 24.15+</a:t>
                      </a:r>
                      <a:endParaRPr lang="en-US" sz="1600" dirty="0"/>
                    </a:p>
                  </a:txBody>
                  <a:tcPr marL="109728" marR="109728"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r>
              <a:tr h="685800">
                <a:tc>
                  <a:txBody>
                    <a:bodyPr/>
                    <a:lstStyle/>
                    <a:p>
                      <a:pPr indent="0" marL="0">
                        <a:buNone/>
                      </a:pPr>
                      <a:r>
                        <a:rPr lang="en-US" sz="1600" b="1" dirty="0">
                          <a:solidFill>
                            <a:srgbClr val="1B2631"/>
                          </a:solidFill>
                        </a:rPr>
                        <a:t>Gestor</a:t>
                      </a:r>
                      <a:endParaRPr lang="en-US" sz="1600" dirty="0"/>
                    </a:p>
                  </a:txBody>
                  <a:tcPr marL="109728" marR="109728"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600" dirty="0">
                          <a:solidFill>
                            <a:srgbClr val="1B2631"/>
                          </a:solidFill>
                        </a:rPr>
                        <a:t>npm 8</a:t>
                      </a:r>
                      <a:endParaRPr lang="en-US" sz="1600" dirty="0"/>
                    </a:p>
                  </a:txBody>
                  <a:tcPr marL="109728" marR="109728"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600" dirty="0">
                          <a:solidFill>
                            <a:srgbClr val="1B2631"/>
                          </a:solidFill>
                        </a:rPr>
                        <a:t>npm 11</a:t>
                      </a:r>
                      <a:endParaRPr lang="en-US" sz="1600" dirty="0"/>
                    </a:p>
                  </a:txBody>
                  <a:tcPr marL="109728" marR="109728"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600" dirty="0">
                          <a:solidFill>
                            <a:srgbClr val="1B2631"/>
                          </a:solidFill>
                        </a:rPr>
                        <a:t>npm (master: pnpm)</a:t>
                      </a:r>
                      <a:endParaRPr lang="en-US" sz="1600" dirty="0"/>
                    </a:p>
                  </a:txBody>
                  <a:tcPr marL="109728" marR="109728"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600" dirty="0">
                          <a:solidFill>
                            <a:srgbClr val="1B2631"/>
                          </a:solidFill>
                        </a:rPr>
                        <a:t>npm + legacy-peer-deps</a:t>
                      </a:r>
                      <a:endParaRPr lang="en-US" sz="1600" dirty="0"/>
                    </a:p>
                  </a:txBody>
                  <a:tcPr marL="109728" marR="109728"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r>
              <a:tr h="868680">
                <a:tc>
                  <a:txBody>
                    <a:bodyPr/>
                    <a:lstStyle/>
                    <a:p>
                      <a:pPr indent="0" marL="0">
                        <a:buNone/>
                      </a:pPr>
                      <a:r>
                        <a:rPr lang="en-US" sz="1600" b="1" dirty="0">
                          <a:solidFill>
                            <a:srgbClr val="1B2631"/>
                          </a:solidFill>
                        </a:rPr>
                        <a:t>Usar para</a:t>
                      </a:r>
                      <a:endParaRPr lang="en-US" sz="1600" dirty="0"/>
                    </a:p>
                  </a:txBody>
                  <a:tcPr marL="109728" marR="109728"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600" dirty="0">
                          <a:solidFill>
                            <a:srgbClr val="1B2631"/>
                          </a:solidFill>
                        </a:rPr>
                        <a:t>Proyectos heredados</a:t>
                      </a:r>
                      <a:endParaRPr lang="en-US" sz="1600" dirty="0"/>
                    </a:p>
                  </a:txBody>
                  <a:tcPr marL="109728" marR="109728"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600" dirty="0">
                          <a:solidFill>
                            <a:srgbClr val="1B2631"/>
                          </a:solidFill>
                        </a:rPr>
                        <a:t>App ADF nueva</a:t>
                      </a:r>
                      <a:endParaRPr lang="en-US" sz="1600" dirty="0"/>
                    </a:p>
                  </a:txBody>
                  <a:tcPr marL="109728" marR="109728"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600" dirty="0">
                          <a:solidFill>
                            <a:srgbClr val="1B2631"/>
                          </a:solidFill>
                        </a:rPr>
                        <a:t>Gestor documental completo</a:t>
                      </a:r>
                      <a:endParaRPr lang="en-US" sz="1600" dirty="0"/>
                    </a:p>
                  </a:txBody>
                  <a:tcPr marL="109728" marR="109728"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c>
                  <a:txBody>
                    <a:bodyPr/>
                    <a:lstStyle/>
                    <a:p>
                      <a:pPr indent="0" marL="0">
                        <a:buNone/>
                      </a:pPr>
                      <a:r>
                        <a:rPr lang="en-US" sz="1600" dirty="0">
                          <a:solidFill>
                            <a:srgbClr val="1B2631"/>
                          </a:solidFill>
                        </a:rPr>
                        <a:t>Proyecto Angular existente</a:t>
                      </a:r>
                      <a:endParaRPr lang="en-US" sz="1600" dirty="0"/>
                    </a:p>
                  </a:txBody>
                  <a:tcPr marL="109728" marR="109728" marT="0" marB="0" anchor="ctr">
                    <a:lnL w="9525" cap="flat" cmpd="sng" algn="ctr">
                      <a:solidFill>
                        <a:srgbClr val="D5DEE3"/>
                      </a:solidFill>
                      <a:prstDash val="solid"/>
                      <a:round/>
                      <a:headEnd type="none" w="med" len="med"/>
                      <a:tailEnd type="none" w="med" len="med"/>
                    </a:lnL>
                    <a:lnR w="9525" cap="flat" cmpd="sng" algn="ctr">
                      <a:solidFill>
                        <a:srgbClr val="D5DEE3"/>
                      </a:solidFill>
                      <a:prstDash val="solid"/>
                      <a:round/>
                      <a:headEnd type="none" w="med" len="med"/>
                      <a:tailEnd type="none" w="med" len="med"/>
                    </a:lnR>
                    <a:lnT w="9525" cap="flat" cmpd="sng" algn="ctr">
                      <a:solidFill>
                        <a:srgbClr val="D5DEE3"/>
                      </a:solidFill>
                      <a:prstDash val="solid"/>
                      <a:round/>
                      <a:headEnd type="none" w="med" len="med"/>
                      <a:tailEnd type="none" w="med" len="med"/>
                    </a:lnT>
                    <a:lnB w="9525" cap="flat" cmpd="sng" algn="ctr">
                      <a:solidFill>
                        <a:srgbClr val="D5DEE3"/>
                      </a:solidFill>
                      <a:prstDash val="solid"/>
                      <a:round/>
                      <a:headEnd type="none" w="med" len="med"/>
                      <a:tailEnd type="none" w="med" len="med"/>
                    </a:lnB>
                  </a:tcPr>
                </a:tc>
              </a:tr>
            </a:tbl>
          </a:graphicData>
        </a:graphic>
      </p:graphicFrame>
      <p:sp>
        <p:nvSpPr>
          <p:cNvPr id="4" name="Text 1"/>
          <p:cNvSpPr txBox="1"/>
          <p:nvPr/>
        </p:nvSpPr>
        <p:spPr>
          <a:xfrm>
            <a:off x="548640" y="5806440"/>
            <a:ext cx="11064240" cy="411480"/>
          </a:xfrm>
          <a:prstGeom prst="rect">
            <a:avLst/>
          </a:prstGeom>
          <a:noFill/>
          <a:ln/>
        </p:spPr>
        <p:txBody>
          <a:bodyPr wrap="square" lIns="0" tIns="0" rIns="0" bIns="0" rtlCol="0" anchor="ctr"/>
          <a:lstStyle/>
          <a:p>
            <a:pPr indent="0" marL="0">
              <a:buNone/>
            </a:pPr>
            <a:r>
              <a:rPr lang="en-US" sz="1600" i="1" dirty="0">
                <a:solidFill>
                  <a:schemeClr val="tx2"/>
                </a:solidFill>
              </a:rPr>
              <a:t>Regla práctica: miren la versión de Angular del proyecto y busquen su fila en la matriz de versiones.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731520" y="2286000"/>
            <a:ext cx="6035040" cy="1188720"/>
          </a:xfrm>
          <a:prstGeom prst="rect">
            <a:avLst/>
          </a:prstGeom>
          <a:noFill/>
          <a:ln/>
        </p:spPr>
        <p:txBody>
          <a:bodyPr wrap="square" lIns="0" tIns="0" rIns="0" bIns="0" rtlCol="0" anchor="b"/>
          <a:lstStyle/>
          <a:p>
            <a:pPr algn="l" indent="0" marL="0">
              <a:buNone/>
            </a:pPr>
            <a:r>
              <a:rPr lang="en-US" sz="4000" b="1" dirty="0">
                <a:solidFill>
                  <a:schemeClr val="bg1"/>
                </a:solidFill>
              </a:rPr>
              <a:t>Para seguir aprendiendo</a:t>
            </a:r>
            <a:endParaRPr lang="en-US" sz="4000" dirty="0"/>
          </a:p>
        </p:txBody>
      </p:sp>
      <p:sp>
        <p:nvSpPr>
          <p:cNvPr id="3" name="Text 0"/>
          <p:cNvSpPr/>
          <p:nvPr>
            <p:ph idx="101" type="body" hasCustomPrompt="1"/>
          </p:nvPr>
        </p:nvSpPr>
        <p:spPr>
          <a:xfrm>
            <a:off x="731520" y="3611880"/>
            <a:ext cx="6035040" cy="1463040"/>
          </a:xfrm>
          <a:prstGeom prst="rect">
            <a:avLst/>
          </a:prstGeom>
          <a:noFill/>
          <a:ln/>
        </p:spPr>
        <p:txBody>
          <a:bodyPr wrap="square" lIns="0" tIns="0" rIns="0" bIns="0" rtlCol="0" anchor="t"/>
          <a:lstStyle/>
          <a:p>
            <a:pPr algn="l" indent="0" marL="0">
              <a:buNone/>
            </a:pPr>
            <a:r>
              <a:rPr lang="en-US" sz="2000" dirty="0">
                <a:solidFill>
                  <a:schemeClr val="bg2"/>
                </a:solidFill>
              </a:rPr>
              <a:t>Todo el material está en el repositorio alfresco-adf-onboarding</a:t>
            </a:r>
            <a:endParaRPr lang="en-US" sz="2000" dirty="0"/>
          </a:p>
        </p:txBody>
      </p:sp>
      <p:sp>
        <p:nvSpPr>
          <p:cNvPr id="4" name="recurso-docs/00–11-circulo"/>
          <p:cNvSpPr/>
          <p:nvPr/>
        </p:nvSpPr>
        <p:spPr>
          <a:xfrm>
            <a:off x="7132320" y="914400"/>
            <a:ext cx="685800" cy="685800"/>
          </a:xfrm>
          <a:prstGeom prst="ellipse">
            <a:avLst/>
          </a:prstGeom>
          <a:solidFill>
            <a:schemeClr val="accent1"/>
          </a:solidFill>
          <a:ln/>
        </p:spPr>
      </p:sp>
      <p:pic>
        <p:nvPicPr>
          <p:cNvPr id="5" name="recurso-docs/00–11-icono" descr="preencoded.png">    </p:cNvPr>
          <p:cNvPicPr>
            <a:picLocks noChangeAspect="1"/>
          </p:cNvPicPr>
          <p:nvPr/>
        </p:nvPicPr>
        <p:blipFill>
          <a:blip r:embed="rId1"/>
          <a:stretch>
            <a:fillRect/>
          </a:stretch>
        </p:blipFill>
        <p:spPr>
          <a:xfrm>
            <a:off x="7303770" y="1085850"/>
            <a:ext cx="342900" cy="342900"/>
          </a:xfrm>
          <a:prstGeom prst="rect">
            <a:avLst/>
          </a:prstGeom>
        </p:spPr>
      </p:pic>
      <p:sp>
        <p:nvSpPr>
          <p:cNvPr id="6" name="Text 3"/>
          <p:cNvSpPr txBox="1"/>
          <p:nvPr/>
        </p:nvSpPr>
        <p:spPr>
          <a:xfrm>
            <a:off x="8001000" y="896112"/>
            <a:ext cx="3657600" cy="384048"/>
          </a:xfrm>
          <a:prstGeom prst="rect">
            <a:avLst/>
          </a:prstGeom>
          <a:noFill/>
          <a:ln/>
        </p:spPr>
        <p:txBody>
          <a:bodyPr wrap="square" lIns="0" tIns="0" rIns="0" bIns="0" rtlCol="0" anchor="ctr"/>
          <a:lstStyle/>
          <a:p>
            <a:pPr indent="0" marL="0">
              <a:buNone/>
            </a:pPr>
            <a:r>
              <a:rPr lang="en-US" sz="1800" b="1" dirty="0">
                <a:solidFill>
                  <a:schemeClr val="bg1"/>
                </a:solidFill>
              </a:rPr>
              <a:t>docs/00–11</a:t>
            </a:r>
            <a:endParaRPr lang="en-US" sz="1800" dirty="0"/>
          </a:p>
        </p:txBody>
      </p:sp>
      <p:sp>
        <p:nvSpPr>
          <p:cNvPr id="7" name="Text 4"/>
          <p:cNvSpPr txBox="1"/>
          <p:nvPr/>
        </p:nvSpPr>
        <p:spPr>
          <a:xfrm>
            <a:off x="8001000" y="1280160"/>
            <a:ext cx="3657600" cy="731520"/>
          </a:xfrm>
          <a:prstGeom prst="rect">
            <a:avLst/>
          </a:prstGeom>
          <a:noFill/>
          <a:ln/>
        </p:spPr>
        <p:txBody>
          <a:bodyPr wrap="square" lIns="0" tIns="0" rIns="0" bIns="0" rtlCol="0" anchor="t"/>
          <a:lstStyle/>
          <a:p>
            <a:pPr indent="0" marL="0">
              <a:buNone/>
            </a:pPr>
            <a:r>
              <a:rPr lang="en-US" sz="1400" dirty="0">
                <a:solidFill>
                  <a:schemeClr val="bg2"/>
                </a:solidFill>
              </a:rPr>
              <a:t>Guía completa por versión de Angular</a:t>
            </a:r>
            <a:endParaRPr lang="en-US" sz="1400" dirty="0"/>
          </a:p>
        </p:txBody>
      </p:sp>
      <p:sp>
        <p:nvSpPr>
          <p:cNvPr id="8" name="recurso-Tutorial mini app-circulo"/>
          <p:cNvSpPr/>
          <p:nvPr/>
        </p:nvSpPr>
        <p:spPr>
          <a:xfrm>
            <a:off x="7132320" y="2240280"/>
            <a:ext cx="685800" cy="685800"/>
          </a:xfrm>
          <a:prstGeom prst="ellipse">
            <a:avLst/>
          </a:prstGeom>
          <a:solidFill>
            <a:schemeClr val="accent1"/>
          </a:solidFill>
          <a:ln/>
        </p:spPr>
      </p:sp>
      <p:pic>
        <p:nvPicPr>
          <p:cNvPr id="9" name="recurso-Tutorial mini app-icono" descr="preencoded.png">    </p:cNvPr>
          <p:cNvPicPr>
            <a:picLocks noChangeAspect="1"/>
          </p:cNvPicPr>
          <p:nvPr/>
        </p:nvPicPr>
        <p:blipFill>
          <a:blip r:embed="rId2"/>
          <a:stretch>
            <a:fillRect/>
          </a:stretch>
        </p:blipFill>
        <p:spPr>
          <a:xfrm>
            <a:off x="7303770" y="2411730"/>
            <a:ext cx="342900" cy="342900"/>
          </a:xfrm>
          <a:prstGeom prst="rect">
            <a:avLst/>
          </a:prstGeom>
        </p:spPr>
      </p:pic>
      <p:sp>
        <p:nvSpPr>
          <p:cNvPr id="10" name="Text 6"/>
          <p:cNvSpPr txBox="1"/>
          <p:nvPr/>
        </p:nvSpPr>
        <p:spPr>
          <a:xfrm>
            <a:off x="8001000" y="2221992"/>
            <a:ext cx="3657600" cy="384048"/>
          </a:xfrm>
          <a:prstGeom prst="rect">
            <a:avLst/>
          </a:prstGeom>
          <a:noFill/>
          <a:ln/>
        </p:spPr>
        <p:txBody>
          <a:bodyPr wrap="square" lIns="0" tIns="0" rIns="0" bIns="0" rtlCol="0" anchor="ctr"/>
          <a:lstStyle/>
          <a:p>
            <a:pPr indent="0" marL="0">
              <a:buNone/>
            </a:pPr>
            <a:r>
              <a:rPr lang="en-US" sz="1800" b="1" dirty="0">
                <a:solidFill>
                  <a:schemeClr val="bg1"/>
                </a:solidFill>
              </a:rPr>
              <a:t>Tutorial mini app</a:t>
            </a:r>
            <a:endParaRPr lang="en-US" sz="1800" dirty="0"/>
          </a:p>
        </p:txBody>
      </p:sp>
      <p:sp>
        <p:nvSpPr>
          <p:cNvPr id="11" name="Text 7"/>
          <p:cNvSpPr txBox="1"/>
          <p:nvPr/>
        </p:nvSpPr>
        <p:spPr>
          <a:xfrm>
            <a:off x="8001000" y="2606040"/>
            <a:ext cx="3657600" cy="731520"/>
          </a:xfrm>
          <a:prstGeom prst="rect">
            <a:avLst/>
          </a:prstGeom>
          <a:noFill/>
          <a:ln/>
        </p:spPr>
        <p:txBody>
          <a:bodyPr wrap="square" lIns="0" tIns="0" rIns="0" bIns="0" rtlCol="0" anchor="t"/>
          <a:lstStyle/>
          <a:p>
            <a:pPr indent="0" marL="0">
              <a:buNone/>
            </a:pPr>
            <a:r>
              <a:rPr lang="en-US" sz="1400" dirty="0">
                <a:solidFill>
                  <a:schemeClr val="bg2"/>
                </a:solidFill>
              </a:rPr>
              <a:t>Login → documentos → visor (Angular 20 + ADF 9)</a:t>
            </a:r>
            <a:endParaRPr lang="en-US" sz="1400" dirty="0"/>
          </a:p>
        </p:txBody>
      </p:sp>
      <p:sp>
        <p:nvSpPr>
          <p:cNvPr id="12" name="recurso-scripts/-circulo"/>
          <p:cNvSpPr/>
          <p:nvPr/>
        </p:nvSpPr>
        <p:spPr>
          <a:xfrm>
            <a:off x="7132320" y="3566160"/>
            <a:ext cx="685800" cy="685800"/>
          </a:xfrm>
          <a:prstGeom prst="ellipse">
            <a:avLst/>
          </a:prstGeom>
          <a:solidFill>
            <a:schemeClr val="accent1"/>
          </a:solidFill>
          <a:ln/>
        </p:spPr>
      </p:sp>
      <p:pic>
        <p:nvPicPr>
          <p:cNvPr id="13" name="recurso-scripts/-icono" descr="preencoded.png">    </p:cNvPr>
          <p:cNvPicPr>
            <a:picLocks noChangeAspect="1"/>
          </p:cNvPicPr>
          <p:nvPr/>
        </p:nvPicPr>
        <p:blipFill>
          <a:blip r:embed="rId3"/>
          <a:stretch>
            <a:fillRect/>
          </a:stretch>
        </p:blipFill>
        <p:spPr>
          <a:xfrm>
            <a:off x="7303770" y="3737610"/>
            <a:ext cx="342900" cy="342900"/>
          </a:xfrm>
          <a:prstGeom prst="rect">
            <a:avLst/>
          </a:prstGeom>
        </p:spPr>
      </p:pic>
      <p:sp>
        <p:nvSpPr>
          <p:cNvPr id="14" name="Text 9"/>
          <p:cNvSpPr txBox="1"/>
          <p:nvPr/>
        </p:nvSpPr>
        <p:spPr>
          <a:xfrm>
            <a:off x="8001000" y="3547872"/>
            <a:ext cx="3657600" cy="384048"/>
          </a:xfrm>
          <a:prstGeom prst="rect">
            <a:avLst/>
          </a:prstGeom>
          <a:noFill/>
          <a:ln/>
        </p:spPr>
        <p:txBody>
          <a:bodyPr wrap="square" lIns="0" tIns="0" rIns="0" bIns="0" rtlCol="0" anchor="ctr"/>
          <a:lstStyle/>
          <a:p>
            <a:pPr indent="0" marL="0">
              <a:buNone/>
            </a:pPr>
            <a:r>
              <a:rPr lang="en-US" sz="1800" b="1" dirty="0">
                <a:solidFill>
                  <a:schemeClr val="bg1"/>
                </a:solidFill>
              </a:rPr>
              <a:t>scripts/</a:t>
            </a:r>
            <a:endParaRPr lang="en-US" sz="1800" dirty="0"/>
          </a:p>
        </p:txBody>
      </p:sp>
      <p:sp>
        <p:nvSpPr>
          <p:cNvPr id="15" name="Text 10"/>
          <p:cNvSpPr txBox="1"/>
          <p:nvPr/>
        </p:nvSpPr>
        <p:spPr>
          <a:xfrm>
            <a:off x="8001000" y="3931920"/>
            <a:ext cx="3657600" cy="731520"/>
          </a:xfrm>
          <a:prstGeom prst="rect">
            <a:avLst/>
          </a:prstGeom>
          <a:noFill/>
          <a:ln/>
        </p:spPr>
        <p:txBody>
          <a:bodyPr wrap="square" lIns="0" tIns="0" rIns="0" bIns="0" rtlCol="0" anchor="t"/>
          <a:lstStyle/>
          <a:p>
            <a:pPr indent="0" marL="0">
              <a:buNone/>
            </a:pPr>
            <a:r>
              <a:rPr lang="en-US" sz="1400" dirty="0">
                <a:solidFill>
                  <a:schemeClr val="bg2"/>
                </a:solidFill>
              </a:rPr>
              <a:t>probar-angular-adf.sh y probar-aca.sh</a:t>
            </a:r>
            <a:endParaRPr lang="en-US" sz="1400" dirty="0"/>
          </a:p>
        </p:txBody>
      </p:sp>
      <p:sp>
        <p:nvSpPr>
          <p:cNvPr id="16" name="recurso-Repos oficiales-circulo"/>
          <p:cNvSpPr/>
          <p:nvPr/>
        </p:nvSpPr>
        <p:spPr>
          <a:xfrm>
            <a:off x="7132320" y="4892040"/>
            <a:ext cx="685800" cy="685800"/>
          </a:xfrm>
          <a:prstGeom prst="ellipse">
            <a:avLst/>
          </a:prstGeom>
          <a:solidFill>
            <a:schemeClr val="accent1"/>
          </a:solidFill>
          <a:ln/>
        </p:spPr>
      </p:sp>
      <p:pic>
        <p:nvPicPr>
          <p:cNvPr id="17" name="recurso-Repos oficiales-icono" descr="preencoded.png">    </p:cNvPr>
          <p:cNvPicPr>
            <a:picLocks noChangeAspect="1"/>
          </p:cNvPicPr>
          <p:nvPr/>
        </p:nvPicPr>
        <p:blipFill>
          <a:blip r:embed="rId4"/>
          <a:stretch>
            <a:fillRect/>
          </a:stretch>
        </p:blipFill>
        <p:spPr>
          <a:xfrm>
            <a:off x="7303770" y="5063490"/>
            <a:ext cx="342900" cy="342900"/>
          </a:xfrm>
          <a:prstGeom prst="rect">
            <a:avLst/>
          </a:prstGeom>
        </p:spPr>
      </p:pic>
      <p:sp>
        <p:nvSpPr>
          <p:cNvPr id="18" name="Text 12"/>
          <p:cNvSpPr txBox="1"/>
          <p:nvPr/>
        </p:nvSpPr>
        <p:spPr>
          <a:xfrm>
            <a:off x="8001000" y="4873752"/>
            <a:ext cx="3657600" cy="384048"/>
          </a:xfrm>
          <a:prstGeom prst="rect">
            <a:avLst/>
          </a:prstGeom>
          <a:noFill/>
          <a:ln/>
        </p:spPr>
        <p:txBody>
          <a:bodyPr wrap="square" lIns="0" tIns="0" rIns="0" bIns="0" rtlCol="0" anchor="ctr"/>
          <a:lstStyle/>
          <a:p>
            <a:pPr indent="0" marL="0">
              <a:buNone/>
            </a:pPr>
            <a:r>
              <a:rPr lang="en-US" sz="1800" b="1" dirty="0">
                <a:solidFill>
                  <a:schemeClr val="bg1"/>
                </a:solidFill>
              </a:rPr>
              <a:t>Repos oficiales</a:t>
            </a:r>
            <a:endParaRPr lang="en-US" sz="1800" dirty="0"/>
          </a:p>
        </p:txBody>
      </p:sp>
      <p:sp>
        <p:nvSpPr>
          <p:cNvPr id="19" name="Text 13"/>
          <p:cNvSpPr txBox="1"/>
          <p:nvPr/>
        </p:nvSpPr>
        <p:spPr>
          <a:xfrm>
            <a:off x="8001000" y="5257800"/>
            <a:ext cx="3657600" cy="731520"/>
          </a:xfrm>
          <a:prstGeom prst="rect">
            <a:avLst/>
          </a:prstGeom>
          <a:noFill/>
          <a:ln/>
        </p:spPr>
        <p:txBody>
          <a:bodyPr wrap="square" lIns="0" tIns="0" rIns="0" bIns="0" rtlCol="0" anchor="t"/>
          <a:lstStyle/>
          <a:p>
            <a:pPr indent="0" marL="0">
              <a:buNone/>
            </a:pPr>
            <a:r>
              <a:rPr lang="en-US" sz="1400" dirty="0">
                <a:solidFill>
                  <a:schemeClr val="bg2"/>
                </a:solidFill>
              </a:rPr>
              <a:t>alfresco-ng2-components · alfresco-content-app · alfresco-front-end-generators</a:t>
            </a:r>
            <a:endParaRPr lang="en-US" sz="1400" dirty="0"/>
          </a:p>
        </p:txBody>
      </p:sp>
    </p:spTree>
  </p:cSld>
  <p:clrMapOvr>
    <a:masterClrMapping/>
  </p:clrMapOvr>
</p:sld>
</file>

<file path=ppt/theme/theme1.xml><?xml version="1.0" encoding="utf-8"?>
<a:theme xmlns:a="http://schemas.openxmlformats.org/drawingml/2006/main" name="Onboarding ADF">
  <a:themeElements>
    <a:clrScheme name="Onboarding ADF">
      <a:dk1>
        <a:srgbClr val="1B2631"/>
      </a:dk1>
      <a:lt1>
        <a:srgbClr val="FFFFFF"/>
      </a:lt1>
      <a:dk2>
        <a:srgbClr val="0B3142"/>
      </a:dk2>
      <a:lt2>
        <a:srgbClr val="EAF1F4"/>
      </a:lt2>
      <a:accent1>
        <a:srgbClr val="F28C28"/>
      </a:accent1>
      <a:accent2>
        <a:srgbClr val="2E9E5B"/>
      </a:accent2>
      <a:accent3>
        <a:srgbClr val="2B7CC1"/>
      </a:accent3>
      <a:accent4>
        <a:srgbClr val="8E5BB5"/>
      </a:accent4>
      <a:accent5>
        <a:srgbClr val="D64545"/>
      </a:accent5>
      <a:accent6>
        <a:srgbClr val="6B7A86"/>
      </a:accent6>
      <a:hlink>
        <a:srgbClr val="2B7CC1"/>
      </a:hlink>
      <a:folHlink>
        <a:srgbClr val="8E5BB5"/>
      </a:folHlink>
    </a:clrScheme>
    <a:fontScheme name="Onboarding ADF">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Cómo iniciar un proyecto Alfresco ADF</dc:title>
  <dc:subject>PptxGenJS Presentation</dc:subject>
  <dc:creator>Onboarding ADF</dc:creator>
  <cp:lastModifiedBy>Onboarding ADF</cp:lastModifiedBy>
  <cp:revision>1</cp:revision>
  <dcterms:created xsi:type="dcterms:W3CDTF">2026-10-11T05:47:27Z</dcterms:created>
  <dcterms:modified xsi:type="dcterms:W3CDTF">2026-10-11T05:47:27Z</dcterms:modified>
</cp:coreProperties>
</file>