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93592682-286c-15b0-0ef1-be38e4f0dfc4}">
          <p14:sldIdLst>
            <p14:sldId id="256"/>
            <p14:sldId id="257"/>
            <p14:sldId id="258"/>
            <p14:sldId id="259"/>
            <p14:sldId id="260"/>
          </p14:sldIdLst>
        </p14:section>
        <p14:section name="1 · Yeoman" id="{84015c87-3ab8-934c-07b4-27d91b77ff3f}">
          <p14:sldIdLst>
            <p14:sldId id="261"/>
            <p14:sldId id="262"/>
            <p14:sldId id="263"/>
            <p14:sldId id="264"/>
          </p14:sldIdLst>
        </p14:section>
        <p14:section name="2 · Generador Nx" id="{341c7ed0-cd12-6b62-02f9-ab44230a0635}">
          <p14:sldIdLst>
            <p14:sldId id="265"/>
            <p14:sldId id="266"/>
            <p14:sldId id="267"/>
            <p14:sldId id="268"/>
          </p14:sldIdLst>
        </p14:section>
        <p14:section name="3 · ACA" id="{c02ae48b-6c5e-6277-79fa-80c410731c79}">
          <p14:sldIdLst>
            <p14:sldId id="269"/>
            <p14:sldId id="270"/>
            <p14:sldId id="271"/>
            <p14:sldId id="272"/>
          </p14:sldIdLst>
        </p14:section>
        <p14:section name="4 · ADF a mano" id="{4e7fd75f-4dea-0fae-4174-a0dc77301509}">
          <p14:sldIdLst>
            <p14:sldId id="273"/>
            <p14:sldId id="274"/>
            <p14:sldId id="275"/>
            <p14:sldId id="276"/>
          </p14:sldIdLst>
        </p14:section>
        <p14:section name="Cierre" id="{65fd8339-2e9c-5946-d27c-31a30c4e48ad}">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Objetivo: que al terminar cada participante sepa elegir y ejecutar la forma correcta de iniciar un proyecto ADF según la versión de Angular que tenga. Todo lo que se muestra se probó en Windows 11 entre el 10 y el 11 de octubre de 2026. El material completo está en el repositorio alfresco-adf-onboarding.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formas de arrancar. Mostramos el ejemplo más actual de cada una. Yeoman quedó congelado en Angular 14. Los generadores Nx son la forma oficial actual pero siempre generan Angular 19. ACA 8.0.0 es la última estable (Angular 20) y master ya está en Angular 21. Para la última versión de Angular (22) solo existe el camino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ADF son librerías Angular que hablan con la API REST de Alfresco Content Services. En desarrollo, la app llama a su propio origen (localhost:4200/alfresco) y el proxy de Angular reenvía a ACS en el 8080. Por eso en app.config.json el ecmHost apunta a la propia app. Sin ACS levantado la app abre, pero el login responde 504.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se mezclan versiones se rompe la instalación (ERESOLVE), el build o la app en ejecución. Los peerDependencies de ADF dicen &gt;=16 para todo, por eso no sirven. El dato confiable es la versión del compilador de Angular que queda dentro del paquete. Con grep sobre el .mjs se obtiene.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nvm-windows cambia el Node de todo el sistema y los paquetes globales son por versión de Node: si instalan yo con Node 16, no existe con Node 24. Para un aula alcanza con tres versiones. ACS Community 26 en Docker: la primera vez tarda varios minutos; comprobar con el endpoint probes/-ready-.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Yeoman fue el template clásico. Su última versión es la 6.1.1 y genera Angular 14 con ADF 6.1. No existe para Angular 16, 18, 20 ni 22, y ng update no sirve porque ADF 6 no funciona con Angular 15+. Lo vemos para entender proyectos heredados.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crítico es deasync, que llega a través de generator-alfresco-common. En Windows hace falta Visual Studio Build Tools 2022 con 'Desarrollo para el escritorio con C++'. La 2026 no la reconoce el node-gyp de Node 16. Con Python 3.12 o superior hay que instalar setuptools. Si algo de esto no se puede instalar, en dos diapositivas vemos la alternativa.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Comprobado: yo generó el proyecto, npm install terminó y ng serve compiló. El valor de --blueprint es el name del package.json de la plantilla (adf-cli-acs-template), no la carpeta. El subgenerador de licencia pregunta nombre, email y web incluso en modo no interactivo.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Recomendado para onboarding: nadie tiene que instalar varios GB de herramientas. El resultado es idéntico a ejecutar yo, porque el generador no reemplaza nada en la plantilla.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generadores Nx reemplazan a Yeoman. Todas sus versiones (1.0.0 a 1.0.4) generan Angular 19.2.6 con ADF 8.0.0 y js-api 9. No tienen opción para elegir otra versión de Angular.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flags, create-nx-workspace pregunta: Workspace empty, Stack none, Prettier No, CI skip, Remote caching skip. También existe empty-app para una app sin componentes. Comprobado con Node 24.19.0 y npm 11.17.0.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template sale con las URLs vacías en proxy.conf.js: hay que completar ecmHost. Con el template automate también hay que completar variables OAuth en app.config.json. Comprobado: npm install y nx build template terminaron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publicar el blog en Hyland Connect, la mención @alfresco se perdió (el foro la interpreta como usuario). El paso de instalar build-angular sin versión trae Angular 22 y rompe un template de Angular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 es un gestor documental completo hecho con ADF. Se usa como template oficial y se extiende sin modificar su código. Para Angular 14 existe ACA 4.4.1 y para Angular 16 ACA 5.3.0, ambos con Node 18; no hay ACA para Angular 18 ni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Comprobado: ACA 8.0.0 instaló en 40 segundos, compiló en 40 segundos y abrió el login con Angular 20.3.25. Master usa pnpm: el preinstall ejecuta only-allow pnpm. pnpm lint usa sintaxis POSIX, hay que correrlo en Git Bash.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guía 'Deploy Alfresco Content App' de docs.hyland.com para ADW 8.0 indica Node 18, npm y variables APP_CONFIG_*. Probamos cuatro versiones de ACA y todas usan solo BASE_URL, que lee app/proxy.conf.js.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documentación de ACA (carpeta docs/ del repo y alfresco-content-app.netlify.app) tiene tutoriales: primera extensión, visor personalizado, listas de archivos, formulario de búsqueda. ADW, la versión Enterprise, se extiende igual con @alfresco/adw-generators.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Angular 22 no hay generador ni ACA. Usamos ADF 9.0.0, compilado con Angular 20, y funciona sin errores. Probado con Angular 22.2. La guía del repositorio tiene la misma receta para Angular 14, 16, 18 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lista completa de paquetes está en docs/06-adf-manual.md: también @mat-datetimepicker/core, @angular/material-date-fns-adapter@22, date-fns@2, angular-oauth2-oidc@19, minimatch, pdfjs-dist y cropperjs. Para componentes de documentos se suma @alfresco/adf-content-services@9.0.0.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ADF 9 los componentes son standalone: se importa cada uno (LoginComponent, DocumentListComponent...). En ADF 6 y 7, en cambio, se usa CoreModule.forRoot() más AuthModule.forRoot({ useHash: true }). Comprobado: con esta configuración el login se abre en Chrome sin errores en consola.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aparecieron en las pruebas. El primero es el más engañoso: si app.config.json queda en src/assets, el servidor devuelve index.html, ADF dice 'validation errors' y la app queda en blanco sin ningún otro error en ADF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para decidir. Aula moderna: generadores Nx o ACA 8.0.0 con Node 24. Proyecto existente: ADF a mano según su Angular. Proyecto heredado en Angular 14: Yeoman o ACA 4.4.1.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sugeridos: levantar ACS con Docker y hacer el tutorial completo con datos reales; crear una extensión de ACA; practicar agregar ADF a un proyecto Angular propio.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66160"/>
            <a:ext cx="1069848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03504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11880"/>
            <a:ext cx="603504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Onboarding Alfresco ADF · octubre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rPr>
              <a:t>Cómo iniciar un proyecto Alfresco ADF</a:t>
            </a:r>
            <a:endParaRPr lang="en-US" sz="4400" dirty="0"/>
          </a:p>
        </p:txBody>
      </p:sp>
      <p:sp>
        <p:nvSpPr>
          <p:cNvPr id="3" name="Text 0"/>
          <p:cNvSpPr/>
          <p:nvPr>
            <p:ph idx="101" type="body" hasCustomPrompt="1"/>
          </p:nvPr>
        </p:nvSpPr>
        <p:spPr>
          <a:xfrm>
            <a:off x="731520" y="3566160"/>
            <a:ext cx="10698480" cy="1097280"/>
          </a:xfrm>
          <a:prstGeom prst="rect">
            <a:avLst/>
          </a:prstGeom>
          <a:noFill/>
          <a:ln/>
        </p:spPr>
        <p:txBody>
          <a:bodyPr wrap="square" lIns="0" tIns="0" rIns="0" bIns="0" rtlCol="0" anchor="t"/>
          <a:lstStyle/>
          <a:p>
            <a:pPr algn="l" indent="0" marL="0">
              <a:buNone/>
            </a:pPr>
            <a:r>
              <a:rPr lang="en-US" sz="2200" dirty="0">
                <a:solidFill>
                  <a:schemeClr val="bg2"/>
                </a:solidFill>
              </a:rPr>
              <a:t>Yeoman · Generadores Nx · ACA · ADF a mano — el ejemplo más actual de cada camino, paso a paso</a:t>
            </a:r>
            <a:endParaRPr lang="en-US" sz="2200" dirty="0"/>
          </a:p>
        </p:txBody>
      </p:sp>
      <p:sp>
        <p:nvSpPr>
          <p:cNvPr id="4" name="portada-yeoman-circulo"/>
          <p:cNvSpPr/>
          <p:nvPr/>
        </p:nvSpPr>
        <p:spPr>
          <a:xfrm>
            <a:off x="731520" y="5120640"/>
            <a:ext cx="685800" cy="685800"/>
          </a:xfrm>
          <a:prstGeom prst="ellipse">
            <a:avLst/>
          </a:prstGeom>
          <a:solidFill>
            <a:schemeClr val="accent4"/>
          </a:solidFill>
          <a:ln/>
        </p:spPr>
      </p:sp>
      <p:pic>
        <p:nvPicPr>
          <p:cNvPr id="5" name="portada-yeoman-icono" descr="preencoded.png">    </p:cNvPr>
          <p:cNvPicPr>
            <a:picLocks noChangeAspect="1"/>
          </p:cNvPicPr>
          <p:nvPr/>
        </p:nvPicPr>
        <p:blipFill>
          <a:blip r:embed="rId1"/>
          <a:stretch>
            <a:fillRect/>
          </a:stretch>
        </p:blipFill>
        <p:spPr>
          <a:xfrm>
            <a:off x="902970" y="5292090"/>
            <a:ext cx="342900" cy="342900"/>
          </a:xfrm>
          <a:prstGeom prst="rect">
            <a:avLst/>
          </a:prstGeom>
        </p:spPr>
      </p:pic>
      <p:sp>
        <p:nvSpPr>
          <p:cNvPr id="6" name="portada-nx-circulo"/>
          <p:cNvSpPr/>
          <p:nvPr/>
        </p:nvSpPr>
        <p:spPr>
          <a:xfrm>
            <a:off x="1645920" y="5120640"/>
            <a:ext cx="685800" cy="685800"/>
          </a:xfrm>
          <a:prstGeom prst="ellipse">
            <a:avLst/>
          </a:prstGeom>
          <a:solidFill>
            <a:schemeClr val="accent3"/>
          </a:solidFill>
          <a:ln/>
        </p:spPr>
      </p:sp>
      <p:pic>
        <p:nvPicPr>
          <p:cNvPr id="7" name="portada-nx-icono" descr="preencoded.png">    </p:cNvPr>
          <p:cNvPicPr>
            <a:picLocks noChangeAspect="1"/>
          </p:cNvPicPr>
          <p:nvPr/>
        </p:nvPicPr>
        <p:blipFill>
          <a:blip r:embed="rId2"/>
          <a:stretch>
            <a:fillRect/>
          </a:stretch>
        </p:blipFill>
        <p:spPr>
          <a:xfrm>
            <a:off x="1817370" y="5292090"/>
            <a:ext cx="342900" cy="342900"/>
          </a:xfrm>
          <a:prstGeom prst="rect">
            <a:avLst/>
          </a:prstGeom>
        </p:spPr>
      </p:pic>
      <p:sp>
        <p:nvSpPr>
          <p:cNvPr id="8" name="portada-aca-circulo"/>
          <p:cNvSpPr/>
          <p:nvPr/>
        </p:nvSpPr>
        <p:spPr>
          <a:xfrm>
            <a:off x="2560320" y="5120640"/>
            <a:ext cx="685800" cy="685800"/>
          </a:xfrm>
          <a:prstGeom prst="ellipse">
            <a:avLst/>
          </a:prstGeom>
          <a:solidFill>
            <a:schemeClr val="accent2"/>
          </a:solidFill>
          <a:ln/>
        </p:spPr>
      </p:sp>
      <p:pic>
        <p:nvPicPr>
          <p:cNvPr id="9" name="portada-aca-icono" descr="preencoded.png">    </p:cNvPr>
          <p:cNvPicPr>
            <a:picLocks noChangeAspect="1"/>
          </p:cNvPicPr>
          <p:nvPr/>
        </p:nvPicPr>
        <p:blipFill>
          <a:blip r:embed="rId3"/>
          <a:stretch>
            <a:fillRect/>
          </a:stretch>
        </p:blipFill>
        <p:spPr>
          <a:xfrm>
            <a:off x="2731770" y="5292090"/>
            <a:ext cx="342900" cy="342900"/>
          </a:xfrm>
          <a:prstGeom prst="rect">
            <a:avLst/>
          </a:prstGeom>
        </p:spPr>
      </p:pic>
      <p:sp>
        <p:nvSpPr>
          <p:cNvPr id="10" name="portada-manual-circulo"/>
          <p:cNvSpPr/>
          <p:nvPr/>
        </p:nvSpPr>
        <p:spPr>
          <a:xfrm>
            <a:off x="3474720" y="5120640"/>
            <a:ext cx="685800" cy="685800"/>
          </a:xfrm>
          <a:prstGeom prst="ellipse">
            <a:avLst/>
          </a:prstGeom>
          <a:solidFill>
            <a:schemeClr val="accent1"/>
          </a:solidFill>
          <a:ln/>
        </p:spPr>
      </p:sp>
      <p:pic>
        <p:nvPicPr>
          <p:cNvPr id="11" name="portada-manual-icono" descr="preencoded.png">    </p:cNvPr>
          <p:cNvPicPr>
            <a:picLocks noChangeAspect="1"/>
          </p:cNvPicPr>
          <p:nvPr/>
        </p:nvPicPr>
        <p:blipFill>
          <a:blip r:embed="rId4"/>
          <a:stretch>
            <a:fillRect/>
          </a:stretch>
        </p:blipFill>
        <p:spPr>
          <a:xfrm>
            <a:off x="3646170" y="5292090"/>
            <a:ext cx="342900" cy="342900"/>
          </a:xfrm>
          <a:prstGeom prst="rect">
            <a:avLst/>
          </a:prstGeom>
        </p:spPr>
      </p:pic>
      <p:sp>
        <p:nvSpPr>
          <p:cNvPr id="12" name="Text 6"/>
          <p:cNvSpPr txBox="1"/>
          <p:nvPr/>
        </p:nvSpPr>
        <p:spPr>
          <a:xfrm>
            <a:off x="4572000" y="5257800"/>
            <a:ext cx="6858000" cy="411480"/>
          </a:xfrm>
          <a:prstGeom prst="rect">
            <a:avLst/>
          </a:prstGeom>
          <a:noFill/>
          <a:ln/>
        </p:spPr>
        <p:txBody>
          <a:bodyPr wrap="square" lIns="0" tIns="0" rIns="0" bIns="0" rtlCol="0" anchor="ctr"/>
          <a:lstStyle/>
          <a:p>
            <a:pPr algn="r" indent="0" marL="0">
              <a:buNone/>
            </a:pPr>
            <a:r>
              <a:rPr lang="en-US" sz="1600" dirty="0">
                <a:solidFill>
                  <a:schemeClr val="bg2"/>
                </a:solidFill>
              </a:rPr>
              <a:t>Onboarding · octubre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Cuatro caminos para empezar un proyecto ADF</a:t>
            </a:r>
            <a:endParaRPr lang="en-US" sz="3400" dirty="0"/>
          </a:p>
        </p:txBody>
      </p:sp>
      <p:sp>
        <p:nvSpPr>
          <p:cNvPr id="3" name="camino-yeoman"/>
          <p:cNvSpPr/>
          <p:nvPr/>
        </p:nvSpPr>
        <p:spPr>
          <a:xfrm>
            <a:off x="548640" y="1417320"/>
            <a:ext cx="2628900" cy="4663440"/>
          </a:xfrm>
          <a:prstGeom prst="roundRect">
            <a:avLst>
              <a:gd name="adj" fmla="val 3478"/>
            </a:avLst>
          </a:prstGeom>
          <a:solidFill>
            <a:schemeClr val="bg2"/>
          </a:solidFill>
          <a:ln/>
        </p:spPr>
      </p:sp>
      <p:sp>
        <p:nvSpPr>
          <p:cNvPr id="4" name="camino-yeoman-circulo"/>
          <p:cNvSpPr/>
          <p:nvPr/>
        </p:nvSpPr>
        <p:spPr>
          <a:xfrm>
            <a:off x="822960" y="1691640"/>
            <a:ext cx="777240" cy="777240"/>
          </a:xfrm>
          <a:prstGeom prst="ellipse">
            <a:avLst/>
          </a:prstGeom>
          <a:solidFill>
            <a:schemeClr val="accent4"/>
          </a:solidFill>
          <a:ln/>
        </p:spPr>
      </p:sp>
      <p:pic>
        <p:nvPicPr>
          <p:cNvPr id="5" name="camino-yeoman-icono"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822960" y="2651760"/>
            <a:ext cx="2148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Yeoman</a:t>
            </a:r>
            <a:endParaRPr lang="en-US" sz="2200" dirty="0"/>
          </a:p>
        </p:txBody>
      </p:sp>
      <p:sp>
        <p:nvSpPr>
          <p:cNvPr id="7" name="Text 4"/>
          <p:cNvSpPr txBox="1"/>
          <p:nvPr/>
        </p:nvSpPr>
        <p:spPr>
          <a:xfrm>
            <a:off x="822960" y="3154680"/>
            <a:ext cx="2148840" cy="731520"/>
          </a:xfrm>
          <a:prstGeom prst="rect">
            <a:avLst/>
          </a:prstGeom>
          <a:noFill/>
          <a:ln/>
        </p:spPr>
        <p:txBody>
          <a:bodyPr wrap="square" lIns="0" tIns="0" rIns="0" bIns="0" rtlCol="0" anchor="t"/>
          <a:lstStyle/>
          <a:p>
            <a:pPr indent="0" marL="0">
              <a:buNone/>
            </a:pPr>
            <a:r>
              <a:rPr lang="en-US" sz="1400" dirty="0">
                <a:solidFill>
                  <a:schemeClr val="accent6"/>
                </a:solidFill>
              </a:rPr>
              <a:t>generator-alfresco-adf-app 6.1.1</a:t>
            </a:r>
            <a:endParaRPr lang="en-US" sz="1400" dirty="0"/>
          </a:p>
        </p:txBody>
      </p:sp>
      <p:sp>
        <p:nvSpPr>
          <p:cNvPr id="8" name="Text 5"/>
          <p:cNvSpPr txBox="1"/>
          <p:nvPr/>
        </p:nvSpPr>
        <p:spPr>
          <a:xfrm>
            <a:off x="822960" y="3931920"/>
            <a:ext cx="2148840" cy="411480"/>
          </a:xfrm>
          <a:prstGeom prst="rect">
            <a:avLst/>
          </a:prstGeom>
          <a:noFill/>
          <a:ln/>
        </p:spPr>
        <p:txBody>
          <a:bodyPr wrap="square" lIns="0" tIns="0" rIns="0" bIns="0" rtlCol="0" anchor="ctr"/>
          <a:lstStyle/>
          <a:p>
            <a:pPr indent="0" marL="0">
              <a:buNone/>
            </a:pPr>
            <a:r>
              <a:rPr lang="en-US" sz="1600" b="1" dirty="0">
                <a:solidFill>
                  <a:schemeClr val="accent4"/>
                </a:solidFill>
              </a:rPr>
              <a:t>Angular 14 · ADF 6.1</a:t>
            </a:r>
            <a:endParaRPr lang="en-US" sz="1600" dirty="0"/>
          </a:p>
        </p:txBody>
      </p:sp>
      <p:sp>
        <p:nvSpPr>
          <p:cNvPr id="9" name="Text 6"/>
          <p:cNvSpPr txBox="1"/>
          <p:nvPr/>
        </p:nvSpPr>
        <p:spPr>
          <a:xfrm>
            <a:off x="822960" y="4389120"/>
            <a:ext cx="2148840" cy="731520"/>
          </a:xfrm>
          <a:prstGeom prst="rect">
            <a:avLst/>
          </a:prstGeom>
          <a:noFill/>
          <a:ln/>
        </p:spPr>
        <p:txBody>
          <a:bodyPr wrap="square" lIns="0" tIns="0" rIns="0" bIns="0" rtlCol="0" anchor="t"/>
          <a:lstStyle/>
          <a:p>
            <a:pPr indent="0" marL="0">
              <a:buNone/>
            </a:pPr>
            <a:r>
              <a:rPr lang="en-US" sz="1400" dirty="0">
                <a:solidFill>
                  <a:schemeClr val="tx1"/>
                </a:solidFill>
              </a:rPr>
              <a:t>Node 16.20.2</a:t>
            </a:r>
            <a:endParaRPr lang="en-US" sz="1400" dirty="0"/>
          </a:p>
        </p:txBody>
      </p:sp>
      <p:sp>
        <p:nvSpPr>
          <p:cNvPr id="10" name="camino-yeoman-chip"/>
          <p:cNvSpPr/>
          <p:nvPr/>
        </p:nvSpPr>
        <p:spPr>
          <a:xfrm>
            <a:off x="822960" y="5394960"/>
            <a:ext cx="2080260" cy="347472"/>
          </a:xfrm>
          <a:prstGeom prst="roundRect">
            <a:avLst>
              <a:gd name="adj" fmla="val 50000"/>
            </a:avLst>
          </a:prstGeom>
          <a:solidFill>
            <a:schemeClr val="accent6"/>
          </a:solidFill>
          <a:ln/>
        </p:spPr>
      </p:sp>
      <p:sp>
        <p:nvSpPr>
          <p:cNvPr id="11" name="camino-yeoman-chip-texto"/>
          <p:cNvSpPr txBox="1"/>
          <p:nvPr/>
        </p:nvSpPr>
        <p:spPr>
          <a:xfrm>
            <a:off x="822960" y="5394960"/>
            <a:ext cx="2080260" cy="347472"/>
          </a:xfrm>
          <a:prstGeom prst="rect">
            <a:avLst/>
          </a:prstGeom>
          <a:noFill/>
          <a:ln/>
        </p:spPr>
        <p:txBody>
          <a:bodyPr wrap="square" lIns="0" tIns="0" rIns="0" bIns="0" rtlCol="0" anchor="ctr"/>
          <a:lstStyle/>
          <a:p>
            <a:pPr algn="ctr" indent="0" marL="0">
              <a:buNone/>
            </a:pPr>
            <a:r>
              <a:rPr lang="en-US" sz="1200" b="1" dirty="0">
                <a:solidFill>
                  <a:schemeClr val="bg1"/>
                </a:solidFill>
              </a:rPr>
              <a:t>Obsoleto</a:t>
            </a:r>
            <a:endParaRPr lang="en-US" sz="1200" dirty="0"/>
          </a:p>
        </p:txBody>
      </p:sp>
      <p:sp>
        <p:nvSpPr>
          <p:cNvPr id="12" name="camino-nx"/>
          <p:cNvSpPr/>
          <p:nvPr/>
        </p:nvSpPr>
        <p:spPr>
          <a:xfrm>
            <a:off x="3360420" y="1417320"/>
            <a:ext cx="2628900" cy="4663440"/>
          </a:xfrm>
          <a:prstGeom prst="roundRect">
            <a:avLst>
              <a:gd name="adj" fmla="val 3478"/>
            </a:avLst>
          </a:prstGeom>
          <a:solidFill>
            <a:schemeClr val="bg2"/>
          </a:solidFill>
          <a:ln/>
        </p:spPr>
      </p:sp>
      <p:sp>
        <p:nvSpPr>
          <p:cNvPr id="13" name="camino-nx-circulo"/>
          <p:cNvSpPr/>
          <p:nvPr/>
        </p:nvSpPr>
        <p:spPr>
          <a:xfrm>
            <a:off x="3634740" y="1691640"/>
            <a:ext cx="777240" cy="777240"/>
          </a:xfrm>
          <a:prstGeom prst="ellipse">
            <a:avLst/>
          </a:prstGeom>
          <a:solidFill>
            <a:schemeClr val="accent3"/>
          </a:solidFill>
          <a:ln/>
        </p:spPr>
      </p:sp>
      <p:pic>
        <p:nvPicPr>
          <p:cNvPr id="14" name="camino-nx-icono" descr="preencoded.png">    </p:cNvPr>
          <p:cNvPicPr>
            <a:picLocks noChangeAspect="1"/>
          </p:cNvPicPr>
          <p:nvPr/>
        </p:nvPicPr>
        <p:blipFill>
          <a:blip r:embed="rId2"/>
          <a:stretch>
            <a:fillRect/>
          </a:stretch>
        </p:blipFill>
        <p:spPr>
          <a:xfrm>
            <a:off x="3829050" y="1885950"/>
            <a:ext cx="388620" cy="388620"/>
          </a:xfrm>
          <a:prstGeom prst="rect">
            <a:avLst/>
          </a:prstGeom>
        </p:spPr>
      </p:pic>
      <p:sp>
        <p:nvSpPr>
          <p:cNvPr id="15" name="Text 11"/>
          <p:cNvSpPr txBox="1"/>
          <p:nvPr/>
        </p:nvSpPr>
        <p:spPr>
          <a:xfrm>
            <a:off x="3634740" y="2651760"/>
            <a:ext cx="2148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Generador Nx</a:t>
            </a:r>
            <a:endParaRPr lang="en-US" sz="2200" dirty="0"/>
          </a:p>
        </p:txBody>
      </p:sp>
      <p:sp>
        <p:nvSpPr>
          <p:cNvPr id="16" name="Text 12"/>
          <p:cNvSpPr txBox="1"/>
          <p:nvPr/>
        </p:nvSpPr>
        <p:spPr>
          <a:xfrm>
            <a:off x="3634740" y="3154680"/>
            <a:ext cx="2148840" cy="731520"/>
          </a:xfrm>
          <a:prstGeom prst="rect">
            <a:avLst/>
          </a:prstGeom>
          <a:noFill/>
          <a:ln/>
        </p:spPr>
        <p:txBody>
          <a:bodyPr wrap="square" lIns="0" tIns="0" rIns="0" bIns="0" rtlCol="0" anchor="t"/>
          <a:lstStyle/>
          <a:p>
            <a:pPr indent="0" marL="0">
              <a:buNone/>
            </a:pPr>
            <a:r>
              <a:rPr lang="en-US" sz="1400" dirty="0">
                <a:solidFill>
                  <a:schemeClr val="accent6"/>
                </a:solidFill>
              </a:rPr>
              <a:t>@alfresco/adf-generators 1.0.4</a:t>
            </a:r>
            <a:endParaRPr lang="en-US" sz="1400" dirty="0"/>
          </a:p>
        </p:txBody>
      </p:sp>
      <p:sp>
        <p:nvSpPr>
          <p:cNvPr id="17" name="Text 13"/>
          <p:cNvSpPr txBox="1"/>
          <p:nvPr/>
        </p:nvSpPr>
        <p:spPr>
          <a:xfrm>
            <a:off x="3634740" y="3931920"/>
            <a:ext cx="2148840" cy="411480"/>
          </a:xfrm>
          <a:prstGeom prst="rect">
            <a:avLst/>
          </a:prstGeom>
          <a:noFill/>
          <a:ln/>
        </p:spPr>
        <p:txBody>
          <a:bodyPr wrap="square" lIns="0" tIns="0" rIns="0" bIns="0" rtlCol="0" anchor="ctr"/>
          <a:lstStyle/>
          <a:p>
            <a:pPr indent="0" marL="0">
              <a:buNone/>
            </a:pPr>
            <a:r>
              <a:rPr lang="en-US" sz="1600" b="1" dirty="0">
                <a:solidFill>
                  <a:schemeClr val="accent3"/>
                </a:solidFill>
              </a:rPr>
              <a:t>Angular 19 · ADF 8.0</a:t>
            </a:r>
            <a:endParaRPr lang="en-US" sz="1600" dirty="0"/>
          </a:p>
        </p:txBody>
      </p:sp>
      <p:sp>
        <p:nvSpPr>
          <p:cNvPr id="18" name="Text 14"/>
          <p:cNvSpPr txBox="1"/>
          <p:nvPr/>
        </p:nvSpPr>
        <p:spPr>
          <a:xfrm>
            <a:off x="3634740" y="4389120"/>
            <a:ext cx="2148840" cy="731520"/>
          </a:xfrm>
          <a:prstGeom prst="rect">
            <a:avLst/>
          </a:prstGeom>
          <a:noFill/>
          <a:ln/>
        </p:spPr>
        <p:txBody>
          <a:bodyPr wrap="square" lIns="0" tIns="0" rIns="0" bIns="0" rtlCol="0" anchor="t"/>
          <a:lstStyle/>
          <a:p>
            <a:pPr indent="0" marL="0">
              <a:buNone/>
            </a:pPr>
            <a:r>
              <a:rPr lang="en-US" sz="1400" dirty="0">
                <a:solidFill>
                  <a:schemeClr val="tx1"/>
                </a:solidFill>
              </a:rPr>
              <a:t>Node 24</a:t>
            </a:r>
            <a:endParaRPr lang="en-US" sz="1400" dirty="0"/>
          </a:p>
        </p:txBody>
      </p:sp>
      <p:sp>
        <p:nvSpPr>
          <p:cNvPr id="19" name="camino-nx-chip"/>
          <p:cNvSpPr/>
          <p:nvPr/>
        </p:nvSpPr>
        <p:spPr>
          <a:xfrm>
            <a:off x="3634740" y="5394960"/>
            <a:ext cx="2080260" cy="347472"/>
          </a:xfrm>
          <a:prstGeom prst="roundRect">
            <a:avLst>
              <a:gd name="adj" fmla="val 50000"/>
            </a:avLst>
          </a:prstGeom>
          <a:solidFill>
            <a:schemeClr val="accent3"/>
          </a:solidFill>
          <a:ln/>
        </p:spPr>
      </p:sp>
      <p:sp>
        <p:nvSpPr>
          <p:cNvPr id="20" name="camino-nx-chip-texto"/>
          <p:cNvSpPr txBox="1"/>
          <p:nvPr/>
        </p:nvSpPr>
        <p:spPr>
          <a:xfrm>
            <a:off x="3634740" y="5394960"/>
            <a:ext cx="2080260" cy="347472"/>
          </a:xfrm>
          <a:prstGeom prst="rect">
            <a:avLst/>
          </a:prstGeom>
          <a:noFill/>
          <a:ln/>
        </p:spPr>
        <p:txBody>
          <a:bodyPr wrap="square" lIns="0" tIns="0" rIns="0" bIns="0" rtlCol="0" anchor="ctr"/>
          <a:lstStyle/>
          <a:p>
            <a:pPr algn="ctr" indent="0" marL="0">
              <a:buNone/>
            </a:pPr>
            <a:r>
              <a:rPr lang="en-US" sz="1200" b="1" dirty="0">
                <a:solidFill>
                  <a:schemeClr val="bg1"/>
                </a:solidFill>
              </a:rPr>
              <a:t>Oficial actual</a:t>
            </a:r>
            <a:endParaRPr lang="en-US" sz="1200" dirty="0"/>
          </a:p>
        </p:txBody>
      </p:sp>
      <p:sp>
        <p:nvSpPr>
          <p:cNvPr id="21" name="camino-aca"/>
          <p:cNvSpPr/>
          <p:nvPr/>
        </p:nvSpPr>
        <p:spPr>
          <a:xfrm>
            <a:off x="6172200" y="1417320"/>
            <a:ext cx="2628900" cy="4663440"/>
          </a:xfrm>
          <a:prstGeom prst="roundRect">
            <a:avLst>
              <a:gd name="adj" fmla="val 3478"/>
            </a:avLst>
          </a:prstGeom>
          <a:solidFill>
            <a:schemeClr val="bg2"/>
          </a:solidFill>
          <a:ln/>
        </p:spPr>
      </p:sp>
      <p:sp>
        <p:nvSpPr>
          <p:cNvPr id="22" name="camino-aca-circulo"/>
          <p:cNvSpPr/>
          <p:nvPr/>
        </p:nvSpPr>
        <p:spPr>
          <a:xfrm>
            <a:off x="6446520" y="1691640"/>
            <a:ext cx="777240" cy="777240"/>
          </a:xfrm>
          <a:prstGeom prst="ellipse">
            <a:avLst/>
          </a:prstGeom>
          <a:solidFill>
            <a:schemeClr val="accent2"/>
          </a:solidFill>
          <a:ln/>
        </p:spPr>
      </p:sp>
      <p:pic>
        <p:nvPicPr>
          <p:cNvPr id="23" name="camino-aca-icono" descr="preencoded.png">    </p:cNvPr>
          <p:cNvPicPr>
            <a:picLocks noChangeAspect="1"/>
          </p:cNvPicPr>
          <p:nvPr/>
        </p:nvPicPr>
        <p:blipFill>
          <a:blip r:embed="rId3"/>
          <a:stretch>
            <a:fillRect/>
          </a:stretch>
        </p:blipFill>
        <p:spPr>
          <a:xfrm>
            <a:off x="6640830" y="1885950"/>
            <a:ext cx="388620" cy="388620"/>
          </a:xfrm>
          <a:prstGeom prst="rect">
            <a:avLst/>
          </a:prstGeom>
        </p:spPr>
      </p:pic>
      <p:sp>
        <p:nvSpPr>
          <p:cNvPr id="24" name="Text 19"/>
          <p:cNvSpPr txBox="1"/>
          <p:nvPr/>
        </p:nvSpPr>
        <p:spPr>
          <a:xfrm>
            <a:off x="6446520" y="2651760"/>
            <a:ext cx="2148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ACA</a:t>
            </a:r>
            <a:endParaRPr lang="en-US" sz="2200" dirty="0"/>
          </a:p>
        </p:txBody>
      </p:sp>
      <p:sp>
        <p:nvSpPr>
          <p:cNvPr id="25" name="Text 20"/>
          <p:cNvSpPr txBox="1"/>
          <p:nvPr/>
        </p:nvSpPr>
        <p:spPr>
          <a:xfrm>
            <a:off x="6446520" y="3154680"/>
            <a:ext cx="2148840" cy="731520"/>
          </a:xfrm>
          <a:prstGeom prst="rect">
            <a:avLst/>
          </a:prstGeom>
          <a:noFill/>
          <a:ln/>
        </p:spPr>
        <p:txBody>
          <a:bodyPr wrap="square" lIns="0" tIns="0" rIns="0" bIns="0" rtlCol="0" anchor="t"/>
          <a:lstStyle/>
          <a:p>
            <a:pPr indent="0" marL="0">
              <a:buNone/>
            </a:pPr>
            <a:r>
              <a:rPr lang="en-US" sz="1400" dirty="0">
                <a:solidFill>
                  <a:schemeClr val="accent6"/>
                </a:solidFill>
              </a:rPr>
              <a:t>Alfresco Content App 8.0.0</a:t>
            </a:r>
            <a:endParaRPr lang="en-US" sz="1400" dirty="0"/>
          </a:p>
        </p:txBody>
      </p:sp>
      <p:sp>
        <p:nvSpPr>
          <p:cNvPr id="26" name="Text 21"/>
          <p:cNvSpPr txBox="1"/>
          <p:nvPr/>
        </p:nvSpPr>
        <p:spPr>
          <a:xfrm>
            <a:off x="6446520" y="3931920"/>
            <a:ext cx="2148840" cy="411480"/>
          </a:xfrm>
          <a:prstGeom prst="rect">
            <a:avLst/>
          </a:prstGeom>
          <a:noFill/>
          <a:ln/>
        </p:spPr>
        <p:txBody>
          <a:bodyPr wrap="square" lIns="0" tIns="0" rIns="0" bIns="0" rtlCol="0" anchor="ctr"/>
          <a:lstStyle/>
          <a:p>
            <a:pPr indent="0" marL="0">
              <a:buNone/>
            </a:pPr>
            <a:r>
              <a:rPr lang="en-US" sz="1600" b="1" dirty="0">
                <a:solidFill>
                  <a:schemeClr val="accent2"/>
                </a:solidFill>
              </a:rPr>
              <a:t>Angular 20 · ADF 9.0</a:t>
            </a:r>
            <a:endParaRPr lang="en-US" sz="1600" dirty="0"/>
          </a:p>
        </p:txBody>
      </p:sp>
      <p:sp>
        <p:nvSpPr>
          <p:cNvPr id="27" name="Text 22"/>
          <p:cNvSpPr txBox="1"/>
          <p:nvPr/>
        </p:nvSpPr>
        <p:spPr>
          <a:xfrm>
            <a:off x="6446520" y="4389120"/>
            <a:ext cx="2148840" cy="731520"/>
          </a:xfrm>
          <a:prstGeom prst="rect">
            <a:avLst/>
          </a:prstGeom>
          <a:noFill/>
          <a:ln/>
        </p:spPr>
        <p:txBody>
          <a:bodyPr wrap="square" lIns="0" tIns="0" rIns="0" bIns="0" rtlCol="0" anchor="t"/>
          <a:lstStyle/>
          <a:p>
            <a:pPr indent="0" marL="0">
              <a:buNone/>
            </a:pPr>
            <a:r>
              <a:rPr lang="en-US" sz="1400" dirty="0">
                <a:solidFill>
                  <a:schemeClr val="tx1"/>
                </a:solidFill>
              </a:rPr>
              <a:t>Node 24 (master: Angular 21)</a:t>
            </a:r>
            <a:endParaRPr lang="en-US" sz="1400" dirty="0"/>
          </a:p>
        </p:txBody>
      </p:sp>
      <p:sp>
        <p:nvSpPr>
          <p:cNvPr id="28" name="camino-aca-chip"/>
          <p:cNvSpPr/>
          <p:nvPr/>
        </p:nvSpPr>
        <p:spPr>
          <a:xfrm>
            <a:off x="6446520" y="5394960"/>
            <a:ext cx="2080260" cy="347472"/>
          </a:xfrm>
          <a:prstGeom prst="roundRect">
            <a:avLst>
              <a:gd name="adj" fmla="val 50000"/>
            </a:avLst>
          </a:prstGeom>
          <a:solidFill>
            <a:schemeClr val="accent2"/>
          </a:solidFill>
          <a:ln/>
        </p:spPr>
      </p:sp>
      <p:sp>
        <p:nvSpPr>
          <p:cNvPr id="29" name="camino-aca-chip-texto"/>
          <p:cNvSpPr txBox="1"/>
          <p:nvPr/>
        </p:nvSpPr>
        <p:spPr>
          <a:xfrm>
            <a:off x="6446520" y="5394960"/>
            <a:ext cx="2080260" cy="347472"/>
          </a:xfrm>
          <a:prstGeom prst="rect">
            <a:avLst/>
          </a:prstGeom>
          <a:noFill/>
          <a:ln/>
        </p:spPr>
        <p:txBody>
          <a:bodyPr wrap="square" lIns="0" tIns="0" rIns="0" bIns="0" rtlCol="0" anchor="ctr"/>
          <a:lstStyle/>
          <a:p>
            <a:pPr algn="ctr" indent="0" marL="0">
              <a:buNone/>
            </a:pPr>
            <a:r>
              <a:rPr lang="en-US" sz="1200" b="1" dirty="0">
                <a:solidFill>
                  <a:schemeClr val="bg1"/>
                </a:solidFill>
              </a:rPr>
              <a:t>App de referencia</a:t>
            </a:r>
            <a:endParaRPr lang="en-US" sz="1200" dirty="0"/>
          </a:p>
        </p:txBody>
      </p:sp>
      <p:sp>
        <p:nvSpPr>
          <p:cNvPr id="30" name="camino-manual"/>
          <p:cNvSpPr/>
          <p:nvPr/>
        </p:nvSpPr>
        <p:spPr>
          <a:xfrm>
            <a:off x="8983980" y="1417320"/>
            <a:ext cx="2628900" cy="4663440"/>
          </a:xfrm>
          <a:prstGeom prst="roundRect">
            <a:avLst>
              <a:gd name="adj" fmla="val 3478"/>
            </a:avLst>
          </a:prstGeom>
          <a:solidFill>
            <a:schemeClr val="bg2"/>
          </a:solidFill>
          <a:ln/>
        </p:spPr>
      </p:sp>
      <p:sp>
        <p:nvSpPr>
          <p:cNvPr id="31" name="camino-manual-circulo"/>
          <p:cNvSpPr/>
          <p:nvPr/>
        </p:nvSpPr>
        <p:spPr>
          <a:xfrm>
            <a:off x="9258300" y="1691640"/>
            <a:ext cx="777240" cy="777240"/>
          </a:xfrm>
          <a:prstGeom prst="ellipse">
            <a:avLst/>
          </a:prstGeom>
          <a:solidFill>
            <a:schemeClr val="accent1"/>
          </a:solidFill>
          <a:ln/>
        </p:spPr>
      </p:sp>
      <p:pic>
        <p:nvPicPr>
          <p:cNvPr id="32" name="camino-manual-icono" descr="preencoded.png">    </p:cNvPr>
          <p:cNvPicPr>
            <a:picLocks noChangeAspect="1"/>
          </p:cNvPicPr>
          <p:nvPr/>
        </p:nvPicPr>
        <p:blipFill>
          <a:blip r:embed="rId4"/>
          <a:stretch>
            <a:fillRect/>
          </a:stretch>
        </p:blipFill>
        <p:spPr>
          <a:xfrm>
            <a:off x="9452610" y="1885950"/>
            <a:ext cx="388620" cy="388620"/>
          </a:xfrm>
          <a:prstGeom prst="rect">
            <a:avLst/>
          </a:prstGeom>
        </p:spPr>
      </p:pic>
      <p:sp>
        <p:nvSpPr>
          <p:cNvPr id="33" name="Text 27"/>
          <p:cNvSpPr txBox="1"/>
          <p:nvPr/>
        </p:nvSpPr>
        <p:spPr>
          <a:xfrm>
            <a:off x="9258300" y="2651760"/>
            <a:ext cx="2148840" cy="457200"/>
          </a:xfrm>
          <a:prstGeom prst="rect">
            <a:avLst/>
          </a:prstGeom>
          <a:noFill/>
          <a:ln/>
        </p:spPr>
        <p:txBody>
          <a:bodyPr wrap="square" lIns="0" tIns="0" rIns="0" bIns="0" rtlCol="0" anchor="ctr"/>
          <a:lstStyle/>
          <a:p>
            <a:pPr indent="0" marL="0">
              <a:buNone/>
            </a:pPr>
            <a:r>
              <a:rPr lang="en-US" sz="2200" b="1" dirty="0">
                <a:solidFill>
                  <a:schemeClr val="tx2"/>
                </a:solidFill>
                <a:latin typeface="Arial" pitchFamily="34" charset="0"/>
                <a:ea typeface="Arial" pitchFamily="34" charset="-122"/>
                <a:cs typeface="Arial" pitchFamily="34" charset="-120"/>
              </a:rPr>
              <a:t>ADF a mano</a:t>
            </a:r>
            <a:endParaRPr lang="en-US" sz="2200" dirty="0"/>
          </a:p>
        </p:txBody>
      </p:sp>
      <p:sp>
        <p:nvSpPr>
          <p:cNvPr id="34" name="Text 28"/>
          <p:cNvSpPr txBox="1"/>
          <p:nvPr/>
        </p:nvSpPr>
        <p:spPr>
          <a:xfrm>
            <a:off x="9258300" y="3154680"/>
            <a:ext cx="2148840" cy="731520"/>
          </a:xfrm>
          <a:prstGeom prst="rect">
            <a:avLst/>
          </a:prstGeom>
          <a:noFill/>
          <a:ln/>
        </p:spPr>
        <p:txBody>
          <a:bodyPr wrap="square" lIns="0" tIns="0" rIns="0" bIns="0" rtlCol="0" anchor="t"/>
          <a:lstStyle/>
          <a:p>
            <a:pPr indent="0" marL="0">
              <a:buNone/>
            </a:pPr>
            <a:r>
              <a:rPr lang="en-US" sz="1400" dirty="0">
                <a:solidFill>
                  <a:schemeClr val="accent6"/>
                </a:solidFill>
              </a:rPr>
              <a:t>Angular CLI + paquetes ADF</a:t>
            </a:r>
            <a:endParaRPr lang="en-US" sz="1400" dirty="0"/>
          </a:p>
        </p:txBody>
      </p:sp>
      <p:sp>
        <p:nvSpPr>
          <p:cNvPr id="35" name="Text 29"/>
          <p:cNvSpPr txBox="1"/>
          <p:nvPr/>
        </p:nvSpPr>
        <p:spPr>
          <a:xfrm>
            <a:off x="9258300" y="3931920"/>
            <a:ext cx="2148840" cy="411480"/>
          </a:xfrm>
          <a:prstGeom prst="rect">
            <a:avLst/>
          </a:prstGeom>
          <a:noFill/>
          <a:ln/>
        </p:spPr>
        <p:txBody>
          <a:bodyPr wrap="square" lIns="0" tIns="0" rIns="0" bIns="0" rtlCol="0" anchor="ctr"/>
          <a:lstStyle/>
          <a:p>
            <a:pPr indent="0" marL="0">
              <a:buNone/>
            </a:pPr>
            <a:r>
              <a:rPr lang="en-US" sz="1600" b="1" dirty="0">
                <a:solidFill>
                  <a:schemeClr val="accent1"/>
                </a:solidFill>
              </a:rPr>
              <a:t>Angular 22 · ADF 9.0.0</a:t>
            </a:r>
            <a:endParaRPr lang="en-US" sz="1600" dirty="0"/>
          </a:p>
        </p:txBody>
      </p:sp>
      <p:sp>
        <p:nvSpPr>
          <p:cNvPr id="36" name="Text 30"/>
          <p:cNvSpPr txBox="1"/>
          <p:nvPr/>
        </p:nvSpPr>
        <p:spPr>
          <a:xfrm>
            <a:off x="9258300" y="4389120"/>
            <a:ext cx="2148840" cy="731520"/>
          </a:xfrm>
          <a:prstGeom prst="rect">
            <a:avLst/>
          </a:prstGeom>
          <a:noFill/>
          <a:ln/>
        </p:spPr>
        <p:txBody>
          <a:bodyPr wrap="square" lIns="0" tIns="0" rIns="0" bIns="0" rtlCol="0" anchor="t"/>
          <a:lstStyle/>
          <a:p>
            <a:pPr indent="0" marL="0">
              <a:buNone/>
            </a:pPr>
            <a:r>
              <a:rPr lang="en-US" sz="1400" dirty="0">
                <a:solidFill>
                  <a:schemeClr val="tx1"/>
                </a:solidFill>
              </a:rPr>
              <a:t>Node 24.15+</a:t>
            </a:r>
            <a:endParaRPr lang="en-US" sz="1400" dirty="0"/>
          </a:p>
        </p:txBody>
      </p:sp>
      <p:sp>
        <p:nvSpPr>
          <p:cNvPr id="37" name="camino-manual-chip"/>
          <p:cNvSpPr/>
          <p:nvPr/>
        </p:nvSpPr>
        <p:spPr>
          <a:xfrm>
            <a:off x="9258300" y="5394960"/>
            <a:ext cx="2080260" cy="347472"/>
          </a:xfrm>
          <a:prstGeom prst="roundRect">
            <a:avLst>
              <a:gd name="adj" fmla="val 50000"/>
            </a:avLst>
          </a:prstGeom>
          <a:solidFill>
            <a:schemeClr val="accent1"/>
          </a:solidFill>
          <a:ln/>
        </p:spPr>
      </p:sp>
      <p:sp>
        <p:nvSpPr>
          <p:cNvPr id="38" name="camino-manual-chip-texto"/>
          <p:cNvSpPr txBox="1"/>
          <p:nvPr/>
        </p:nvSpPr>
        <p:spPr>
          <a:xfrm>
            <a:off x="9258300" y="5394960"/>
            <a:ext cx="2080260" cy="347472"/>
          </a:xfrm>
          <a:prstGeom prst="rect">
            <a:avLst/>
          </a:prstGeom>
          <a:noFill/>
          <a:ln/>
        </p:spPr>
        <p:txBody>
          <a:bodyPr wrap="square" lIns="0" tIns="0" rIns="0" bIns="0" rtlCol="0" anchor="ctr"/>
          <a:lstStyle/>
          <a:p>
            <a:pPr algn="ctr" indent="0" marL="0">
              <a:buNone/>
            </a:pPr>
            <a:r>
              <a:rPr lang="en-US" sz="1200" b="1" dirty="0">
                <a:solidFill>
                  <a:schemeClr val="bg1"/>
                </a:solidFill>
              </a:rPr>
              <a:t>Proyectos existentes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Cómo encaja una app ADF con Alfresco</a:t>
            </a:r>
            <a:endParaRPr lang="en-US" sz="3400" dirty="0"/>
          </a:p>
        </p:txBody>
      </p:sp>
      <p:sp>
        <p:nvSpPr>
          <p:cNvPr id="3" name="arq-Navegador"/>
          <p:cNvSpPr/>
          <p:nvPr/>
        </p:nvSpPr>
        <p:spPr>
          <a:xfrm>
            <a:off x="548640" y="1554480"/>
            <a:ext cx="3291840" cy="2377440"/>
          </a:xfrm>
          <a:prstGeom prst="roundRect">
            <a:avLst>
              <a:gd name="adj" fmla="val 3846"/>
            </a:avLst>
          </a:prstGeom>
          <a:solidFill>
            <a:schemeClr val="bg2"/>
          </a:solidFill>
          <a:ln/>
        </p:spPr>
      </p:sp>
      <p:sp>
        <p:nvSpPr>
          <p:cNvPr id="4" name="arq-Navegador-circulo"/>
          <p:cNvSpPr/>
          <p:nvPr/>
        </p:nvSpPr>
        <p:spPr>
          <a:xfrm>
            <a:off x="1828800" y="1783080"/>
            <a:ext cx="731520" cy="731520"/>
          </a:xfrm>
          <a:prstGeom prst="ellipse">
            <a:avLst/>
          </a:prstGeom>
          <a:solidFill>
            <a:schemeClr val="accent1"/>
          </a:solidFill>
          <a:ln/>
        </p:spPr>
      </p:sp>
      <p:pic>
        <p:nvPicPr>
          <p:cNvPr id="5" name="arq-Navegador-icono" descr="preencoded.png">    </p:cNvPr>
          <p:cNvPicPr>
            <a:picLocks noChangeAspect="1"/>
          </p:cNvPicPr>
          <p:nvPr/>
        </p:nvPicPr>
        <p:blipFill>
          <a:blip r:embed="rId1"/>
          <a:stretch>
            <a:fillRect/>
          </a:stretch>
        </p:blipFill>
        <p:spPr>
          <a:xfrm>
            <a:off x="2011680" y="1965960"/>
            <a:ext cx="365760" cy="365760"/>
          </a:xfrm>
          <a:prstGeom prst="rect">
            <a:avLst/>
          </a:prstGeom>
        </p:spPr>
      </p:pic>
      <p:sp>
        <p:nvSpPr>
          <p:cNvPr id="6" name="Text 3"/>
          <p:cNvSpPr txBox="1"/>
          <p:nvPr/>
        </p:nvSpPr>
        <p:spPr>
          <a:xfrm>
            <a:off x="731520" y="2651760"/>
            <a:ext cx="2926080" cy="457200"/>
          </a:xfrm>
          <a:prstGeom prst="rect">
            <a:avLst/>
          </a:prstGeom>
          <a:noFill/>
          <a:ln/>
        </p:spPr>
        <p:txBody>
          <a:bodyPr wrap="square" lIns="0" tIns="0" rIns="0" bIns="0" rtlCol="0" anchor="ctr"/>
          <a:lstStyle/>
          <a:p>
            <a:pPr algn="ctr" indent="0" marL="0">
              <a:buNone/>
            </a:pPr>
            <a:r>
              <a:rPr lang="en-US" sz="2000" b="1" dirty="0">
                <a:solidFill>
                  <a:schemeClr val="tx2"/>
                </a:solidFill>
              </a:rPr>
              <a:t>Navegador</a:t>
            </a:r>
            <a:endParaRPr lang="en-US" sz="2000" dirty="0"/>
          </a:p>
        </p:txBody>
      </p:sp>
      <p:sp>
        <p:nvSpPr>
          <p:cNvPr id="7" name="Text 4"/>
          <p:cNvSpPr txBox="1"/>
          <p:nvPr/>
        </p:nvSpPr>
        <p:spPr>
          <a:xfrm>
            <a:off x="731520" y="3108960"/>
            <a:ext cx="2926080" cy="640080"/>
          </a:xfrm>
          <a:prstGeom prst="rect">
            <a:avLst/>
          </a:prstGeom>
          <a:noFill/>
          <a:ln/>
        </p:spPr>
        <p:txBody>
          <a:bodyPr wrap="square" lIns="0" tIns="0" rIns="0" bIns="0" rtlCol="0" anchor="t"/>
          <a:lstStyle/>
          <a:p>
            <a:pPr algn="ctr" indent="0" marL="0">
              <a:buNone/>
            </a:pPr>
            <a:r>
              <a:rPr lang="en-US" sz="1400" dirty="0">
                <a:solidFill>
                  <a:schemeClr val="tx1"/>
                </a:solidFill>
              </a:rPr>
              <a:t>App Angular + componentes ADF</a:t>
            </a:r>
            <a:endParaRPr lang="en-US" sz="1400" dirty="0"/>
          </a:p>
        </p:txBody>
      </p:sp>
      <p:sp>
        <p:nvSpPr>
          <p:cNvPr id="8" name="arq-ng serve :4200"/>
          <p:cNvSpPr/>
          <p:nvPr/>
        </p:nvSpPr>
        <p:spPr>
          <a:xfrm>
            <a:off x="4434840" y="1554480"/>
            <a:ext cx="3291840" cy="2377440"/>
          </a:xfrm>
          <a:prstGeom prst="roundRect">
            <a:avLst>
              <a:gd name="adj" fmla="val 3846"/>
            </a:avLst>
          </a:prstGeom>
          <a:solidFill>
            <a:schemeClr val="bg2"/>
          </a:solidFill>
          <a:ln/>
        </p:spPr>
      </p:sp>
      <p:sp>
        <p:nvSpPr>
          <p:cNvPr id="9" name="arq-ng serve :4200-circulo"/>
          <p:cNvSpPr/>
          <p:nvPr/>
        </p:nvSpPr>
        <p:spPr>
          <a:xfrm>
            <a:off x="5715000" y="1783080"/>
            <a:ext cx="731520" cy="731520"/>
          </a:xfrm>
          <a:prstGeom prst="ellipse">
            <a:avLst/>
          </a:prstGeom>
          <a:solidFill>
            <a:schemeClr val="accent3"/>
          </a:solidFill>
          <a:ln/>
        </p:spPr>
      </p:sp>
      <p:pic>
        <p:nvPicPr>
          <p:cNvPr id="10" name="arq-ng serve :4200-icono" descr="preencoded.png">    </p:cNvPr>
          <p:cNvPicPr>
            <a:picLocks noChangeAspect="1"/>
          </p:cNvPicPr>
          <p:nvPr/>
        </p:nvPicPr>
        <p:blipFill>
          <a:blip r:embed="rId2"/>
          <a:stretch>
            <a:fillRect/>
          </a:stretch>
        </p:blipFill>
        <p:spPr>
          <a:xfrm>
            <a:off x="5897880" y="1965960"/>
            <a:ext cx="365760" cy="365760"/>
          </a:xfrm>
          <a:prstGeom prst="rect">
            <a:avLst/>
          </a:prstGeom>
        </p:spPr>
      </p:pic>
      <p:sp>
        <p:nvSpPr>
          <p:cNvPr id="11" name="Text 7"/>
          <p:cNvSpPr txBox="1"/>
          <p:nvPr/>
        </p:nvSpPr>
        <p:spPr>
          <a:xfrm>
            <a:off x="4617720" y="2651760"/>
            <a:ext cx="2926080" cy="457200"/>
          </a:xfrm>
          <a:prstGeom prst="rect">
            <a:avLst/>
          </a:prstGeom>
          <a:noFill/>
          <a:ln/>
        </p:spPr>
        <p:txBody>
          <a:bodyPr wrap="square" lIns="0" tIns="0" rIns="0" bIns="0" rtlCol="0" anchor="ctr"/>
          <a:lstStyle/>
          <a:p>
            <a:pPr algn="ctr" indent="0" marL="0">
              <a:buNone/>
            </a:pPr>
            <a:r>
              <a:rPr lang="en-US" sz="2000" b="1" dirty="0">
                <a:solidFill>
                  <a:schemeClr val="tx2"/>
                </a:solidFill>
              </a:rPr>
              <a:t>ng serve :4200</a:t>
            </a:r>
            <a:endParaRPr lang="en-US" sz="2000" dirty="0"/>
          </a:p>
        </p:txBody>
      </p:sp>
      <p:sp>
        <p:nvSpPr>
          <p:cNvPr id="12" name="Text 8"/>
          <p:cNvSpPr txBox="1"/>
          <p:nvPr/>
        </p:nvSpPr>
        <p:spPr>
          <a:xfrm>
            <a:off x="4617720" y="3108960"/>
            <a:ext cx="2926080" cy="640080"/>
          </a:xfrm>
          <a:prstGeom prst="rect">
            <a:avLst/>
          </a:prstGeom>
          <a:noFill/>
          <a:ln/>
        </p:spPr>
        <p:txBody>
          <a:bodyPr wrap="square" lIns="0" tIns="0" rIns="0" bIns="0" rtlCol="0" anchor="t"/>
          <a:lstStyle/>
          <a:p>
            <a:pPr algn="ctr" indent="0" marL="0">
              <a:buNone/>
            </a:pPr>
            <a:r>
              <a:rPr lang="en-US" sz="1400" dirty="0">
                <a:solidFill>
                  <a:schemeClr val="tx1"/>
                </a:solidFill>
              </a:rPr>
              <a:t>Proxy de desarrollo /alfresco</a:t>
            </a:r>
            <a:endParaRPr lang="en-US" sz="1400" dirty="0"/>
          </a:p>
        </p:txBody>
      </p:sp>
      <p:sp>
        <p:nvSpPr>
          <p:cNvPr id="13" name="arq-ACS :8080"/>
          <p:cNvSpPr/>
          <p:nvPr/>
        </p:nvSpPr>
        <p:spPr>
          <a:xfrm>
            <a:off x="8321040" y="1554480"/>
            <a:ext cx="3291840" cy="2377440"/>
          </a:xfrm>
          <a:prstGeom prst="roundRect">
            <a:avLst>
              <a:gd name="adj" fmla="val 3846"/>
            </a:avLst>
          </a:prstGeom>
          <a:solidFill>
            <a:schemeClr val="bg2"/>
          </a:solidFill>
          <a:ln/>
        </p:spPr>
      </p:sp>
      <p:sp>
        <p:nvSpPr>
          <p:cNvPr id="14" name="arq-ACS :8080-circulo"/>
          <p:cNvSpPr/>
          <p:nvPr/>
        </p:nvSpPr>
        <p:spPr>
          <a:xfrm>
            <a:off x="9601200" y="1783080"/>
            <a:ext cx="731520" cy="731520"/>
          </a:xfrm>
          <a:prstGeom prst="ellipse">
            <a:avLst/>
          </a:prstGeom>
          <a:solidFill>
            <a:schemeClr val="accent2"/>
          </a:solidFill>
          <a:ln/>
        </p:spPr>
      </p:sp>
      <p:pic>
        <p:nvPicPr>
          <p:cNvPr id="15" name="arq-ACS :8080-icono" descr="preencoded.png">    </p:cNvPr>
          <p:cNvPicPr>
            <a:picLocks noChangeAspect="1"/>
          </p:cNvPicPr>
          <p:nvPr/>
        </p:nvPicPr>
        <p:blipFill>
          <a:blip r:embed="rId3"/>
          <a:stretch>
            <a:fillRect/>
          </a:stretch>
        </p:blipFill>
        <p:spPr>
          <a:xfrm>
            <a:off x="9784080" y="1965960"/>
            <a:ext cx="365760" cy="365760"/>
          </a:xfrm>
          <a:prstGeom prst="rect">
            <a:avLst/>
          </a:prstGeom>
        </p:spPr>
      </p:pic>
      <p:sp>
        <p:nvSpPr>
          <p:cNvPr id="16" name="Text 11"/>
          <p:cNvSpPr txBox="1"/>
          <p:nvPr/>
        </p:nvSpPr>
        <p:spPr>
          <a:xfrm>
            <a:off x="8503920" y="2651760"/>
            <a:ext cx="2926080" cy="457200"/>
          </a:xfrm>
          <a:prstGeom prst="rect">
            <a:avLst/>
          </a:prstGeom>
          <a:noFill/>
          <a:ln/>
        </p:spPr>
        <p:txBody>
          <a:bodyPr wrap="square" lIns="0" tIns="0" rIns="0" bIns="0" rtlCol="0" anchor="ctr"/>
          <a:lstStyle/>
          <a:p>
            <a:pPr algn="ctr" indent="0" marL="0">
              <a:buNone/>
            </a:pPr>
            <a:r>
              <a:rPr lang="en-US" sz="2000" b="1" dirty="0">
                <a:solidFill>
                  <a:schemeClr val="tx2"/>
                </a:solidFill>
              </a:rPr>
              <a:t>ACS :8080</a:t>
            </a:r>
            <a:endParaRPr lang="en-US" sz="2000" dirty="0"/>
          </a:p>
        </p:txBody>
      </p:sp>
      <p:sp>
        <p:nvSpPr>
          <p:cNvPr id="17" name="Text 12"/>
          <p:cNvSpPr txBox="1"/>
          <p:nvPr/>
        </p:nvSpPr>
        <p:spPr>
          <a:xfrm>
            <a:off x="8503920" y="3108960"/>
            <a:ext cx="2926080" cy="640080"/>
          </a:xfrm>
          <a:prstGeom prst="rect">
            <a:avLst/>
          </a:prstGeom>
          <a:noFill/>
          <a:ln/>
        </p:spPr>
        <p:txBody>
          <a:bodyPr wrap="square" lIns="0" tIns="0" rIns="0" bIns="0" rtlCol="0" anchor="t"/>
          <a:lstStyle/>
          <a:p>
            <a:pPr algn="ctr" indent="0" marL="0">
              <a:buNone/>
            </a:pPr>
            <a:r>
              <a:rPr lang="en-US" sz="1400" dirty="0">
                <a:solidFill>
                  <a:schemeClr val="tx1"/>
                </a:solidFill>
              </a:rPr>
              <a:t>Alfresco Content Services (Docker)</a:t>
            </a:r>
            <a:endParaRPr lang="en-US" sz="1400" dirty="0"/>
          </a:p>
        </p:txBody>
      </p:sp>
      <p:sp>
        <p:nvSpPr>
          <p:cNvPr id="18" name="arq-flecha-4.25"/>
          <p:cNvSpPr/>
          <p:nvPr/>
        </p:nvSpPr>
        <p:spPr>
          <a:xfrm>
            <a:off x="3886200" y="2514600"/>
            <a:ext cx="502920" cy="457200"/>
          </a:xfrm>
          <a:prstGeom prst="rightArrow">
            <a:avLst/>
          </a:prstGeom>
          <a:solidFill>
            <a:schemeClr val="accent6"/>
          </a:solidFill>
          <a:ln/>
        </p:spPr>
      </p:sp>
      <p:sp>
        <p:nvSpPr>
          <p:cNvPr id="19" name="arq-flecha-8.5"/>
          <p:cNvSpPr/>
          <p:nvPr/>
        </p:nvSpPr>
        <p:spPr>
          <a:xfrm>
            <a:off x="7772400" y="2514600"/>
            <a:ext cx="502920" cy="457200"/>
          </a:xfrm>
          <a:prstGeom prst="rightArrow">
            <a:avLst/>
          </a:prstGeom>
          <a:solidFill>
            <a:schemeClr val="accent6"/>
          </a:solidFill>
          <a:ln/>
        </p:spPr>
      </p:sp>
      <p:sp>
        <p:nvSpPr>
          <p:cNvPr id="20" name="Text 15"/>
          <p:cNvSpPr txBox="1"/>
          <p:nvPr/>
        </p:nvSpPr>
        <p:spPr>
          <a:xfrm>
            <a:off x="548640" y="4343400"/>
            <a:ext cx="11064240" cy="457200"/>
          </a:xfrm>
          <a:prstGeom prst="rect">
            <a:avLst/>
          </a:prstGeom>
          <a:noFill/>
          <a:ln/>
        </p:spPr>
        <p:txBody>
          <a:bodyPr wrap="square" lIns="0" tIns="0" rIns="0" bIns="0" rtlCol="0" anchor="ctr"/>
          <a:lstStyle/>
          <a:p>
            <a:pPr indent="0" marL="0">
              <a:buNone/>
            </a:pPr>
            <a:r>
              <a:rPr lang="en-US" sz="1600" b="1" dirty="0">
                <a:solidFill>
                  <a:schemeClr val="tx2"/>
                </a:solidFill>
              </a:rPr>
              <a:t>app.config.json: </a:t>
            </a:r>
            <a:pPr indent="0" marL="0">
              <a:buNone/>
            </a:pPr>
            <a:r>
              <a:rPr lang="en-US" sz="1600" dirty="0">
                <a:solidFill>
                  <a:schemeClr val="tx1"/>
                </a:solidFill>
              </a:rPr>
              <a:t>se lee al arrancar: ecmHost, authType (BASIC/OAUTH), providers (ECM/BPM/ALL)</a:t>
            </a:r>
            <a:endParaRPr lang="en-US" sz="1600" dirty="0"/>
          </a:p>
        </p:txBody>
      </p:sp>
      <p:sp>
        <p:nvSpPr>
          <p:cNvPr id="21" name="Text 16"/>
          <p:cNvSpPr txBox="1"/>
          <p:nvPr/>
        </p:nvSpPr>
        <p:spPr>
          <a:xfrm>
            <a:off x="548640" y="4892040"/>
            <a:ext cx="11064240" cy="457200"/>
          </a:xfrm>
          <a:prstGeom prst="rect">
            <a:avLst/>
          </a:prstGeom>
          <a:noFill/>
          <a:ln/>
        </p:spPr>
        <p:txBody>
          <a:bodyPr wrap="square" lIns="0" tIns="0" rIns="0" bIns="0" rtlCol="0" anchor="ctr"/>
          <a:lstStyle/>
          <a:p>
            <a:pPr indent="0" marL="0">
              <a:buNone/>
            </a:pPr>
            <a:r>
              <a:rPr lang="en-US" sz="1600" b="1" dirty="0">
                <a:solidFill>
                  <a:schemeClr val="tx2"/>
                </a:solidFill>
              </a:rPr>
              <a:t>Proxy: </a:t>
            </a:r>
            <a:pPr indent="0" marL="0">
              <a:buNone/>
            </a:pPr>
            <a:r>
              <a:rPr lang="en-US" sz="1600" dirty="0">
                <a:solidFill>
                  <a:schemeClr val="tx1"/>
                </a:solidFill>
              </a:rPr>
              <a:t>evita CORS en desarrollo; ACA lo configura con BASE_URL en .env</a:t>
            </a:r>
            <a:endParaRPr lang="en-US" sz="1600" dirty="0"/>
          </a:p>
        </p:txBody>
      </p:sp>
      <p:sp>
        <p:nvSpPr>
          <p:cNvPr id="22" name="Text 17"/>
          <p:cNvSpPr txBox="1"/>
          <p:nvPr/>
        </p:nvSpPr>
        <p:spPr>
          <a:xfrm>
            <a:off x="548640" y="5440680"/>
            <a:ext cx="11064240" cy="457200"/>
          </a:xfrm>
          <a:prstGeom prst="rect">
            <a:avLst/>
          </a:prstGeom>
          <a:noFill/>
          <a:ln/>
        </p:spPr>
        <p:txBody>
          <a:bodyPr wrap="square" lIns="0" tIns="0" rIns="0" bIns="0" rtlCol="0" anchor="ctr"/>
          <a:lstStyle/>
          <a:p>
            <a:pPr indent="0" marL="0">
              <a:buNone/>
            </a:pPr>
            <a:r>
              <a:rPr lang="en-US" sz="1600" b="1" dirty="0">
                <a:solidFill>
                  <a:schemeClr val="tx2"/>
                </a:solidFill>
              </a:rPr>
              <a:t>Producción: </a:t>
            </a:r>
            <a:pPr indent="0" marL="0">
              <a:buNone/>
            </a:pPr>
            <a:r>
              <a:rPr lang="en-US" sz="1600" dirty="0">
                <a:solidFill>
                  <a:schemeClr val="tx1"/>
                </a:solidFill>
              </a:rPr>
              <a:t>app y ACS bajo el mismo dominio (Nginx/Traefik) o CORS habilitado en ACS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Regla de oro: el ADF debe corresponder al Angular</a:t>
            </a:r>
            <a:endParaRPr lang="en-US" sz="3400" dirty="0"/>
          </a:p>
        </p:txBody>
      </p:sp>
      <p:sp>
        <p:nvSpPr>
          <p:cNvPr id="3" name="regla-callout"/>
          <p:cNvSpPr/>
          <p:nvPr/>
        </p:nvSpPr>
        <p:spPr>
          <a:xfrm>
            <a:off x="548640" y="1417320"/>
            <a:ext cx="4206240" cy="4663440"/>
          </a:xfrm>
          <a:prstGeom prst="roundRect">
            <a:avLst>
              <a:gd name="adj" fmla="val 2174"/>
            </a:avLst>
          </a:prstGeom>
          <a:solidFill>
            <a:schemeClr val="tx2"/>
          </a:solidFill>
          <a:ln/>
        </p:spPr>
      </p:sp>
      <p:sp>
        <p:nvSpPr>
          <p:cNvPr id="4" name="Text 2"/>
          <p:cNvSpPr txBox="1"/>
          <p:nvPr/>
        </p:nvSpPr>
        <p:spPr>
          <a:xfrm>
            <a:off x="822960" y="1783080"/>
            <a:ext cx="3657600" cy="8229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ADF 9.0.0</a:t>
            </a:r>
            <a:endParaRPr lang="en-US" sz="4400" dirty="0"/>
          </a:p>
        </p:txBody>
      </p:sp>
      <p:sp>
        <p:nvSpPr>
          <p:cNvPr id="5" name="Text 3"/>
          <p:cNvSpPr txBox="1"/>
          <p:nvPr/>
        </p:nvSpPr>
        <p:spPr>
          <a:xfrm>
            <a:off x="822960" y="2606040"/>
            <a:ext cx="3657600" cy="457200"/>
          </a:xfrm>
          <a:prstGeom prst="rect">
            <a:avLst/>
          </a:prstGeom>
          <a:noFill/>
          <a:ln/>
        </p:spPr>
        <p:txBody>
          <a:bodyPr wrap="square" lIns="0" tIns="0" rIns="0" bIns="0" rtlCol="0" anchor="ctr"/>
          <a:lstStyle/>
          <a:p>
            <a:pPr indent="0" marL="0">
              <a:buNone/>
            </a:pPr>
            <a:r>
              <a:rPr lang="en-US" sz="1800" dirty="0">
                <a:solidFill>
                  <a:schemeClr val="bg1"/>
                </a:solidFill>
              </a:rPr>
              <a:t>se compiló con Angular 20.3.25</a:t>
            </a:r>
            <a:endParaRPr lang="en-US" sz="1800" dirty="0"/>
          </a:p>
        </p:txBody>
      </p:sp>
      <p:sp>
        <p:nvSpPr>
          <p:cNvPr id="6" name="Text 4"/>
          <p:cNvSpPr txBox="1"/>
          <p:nvPr/>
        </p:nvSpPr>
        <p:spPr>
          <a:xfrm>
            <a:off x="822960" y="3291840"/>
            <a:ext cx="3657600" cy="1371600"/>
          </a:xfrm>
          <a:prstGeom prst="rect">
            <a:avLst/>
          </a:prstGeom>
          <a:noFill/>
          <a:ln/>
        </p:spPr>
        <p:txBody>
          <a:bodyPr wrap="square" lIns="0" tIns="0" rIns="0" bIns="0" rtlCol="0" anchor="t"/>
          <a:lstStyle/>
          <a:p>
            <a:pPr indent="0" marL="0">
              <a:buNone/>
            </a:pPr>
            <a:r>
              <a:rPr lang="en-US" sz="1500" dirty="0">
                <a:solidFill>
                  <a:schemeClr val="bg2"/>
                </a:solidFill>
              </a:rPr>
              <a:t>La versión real está grabada dentro del paquete (ɵɵngDeclareComponent → version). Los peerDependencies (&gt;=16) no lo dicen.</a:t>
            </a:r>
            <a:endParaRPr lang="en-US" sz="1500" dirty="0"/>
          </a:p>
        </p:txBody>
      </p:sp>
      <p:sp>
        <p:nvSpPr>
          <p:cNvPr id="7" name="Text 5"/>
          <p:cNvSpPr txBox="1"/>
          <p:nvPr/>
        </p:nvSpPr>
        <p:spPr>
          <a:xfrm>
            <a:off x="822960" y="4754880"/>
            <a:ext cx="3657600" cy="1097280"/>
          </a:xfrm>
          <a:prstGeom prst="rect">
            <a:avLst/>
          </a:prstGeom>
          <a:noFill/>
          <a:ln/>
        </p:spPr>
        <p:txBody>
          <a:bodyPr wrap="square" lIns="0" tIns="0" rIns="0" bIns="0" rtlCol="0" anchor="t"/>
          <a:lstStyle/>
          <a:p>
            <a:pPr indent="0" marL="0">
              <a:buNone/>
            </a:pPr>
            <a:r>
              <a:rPr lang="en-US" sz="1500" i="1" dirty="0">
                <a:solidFill>
                  <a:schemeClr val="bg1"/>
                </a:solidFill>
              </a:rPr>
              <a:t>No existe ADF compilado con Angular 18, 21 ni 22: se usa el anterior y funciona.</a:t>
            </a:r>
            <a:endParaRPr lang="en-US" sz="1500" dirty="0"/>
          </a:p>
        </p:txBody>
      </p:sp>
      <p:graphicFrame>
        <p:nvGraphicFramePr>
          <p:cNvPr id="5" name="regla-tabla"/>
          <p:cNvGraphicFramePr>
            <a:graphicFrameLocks noGrp="1"/>
          </p:cNvGraphicFramePr>
          <p:nvPr>
            <p:extLst>
              <p:ext uri="{D42A27DB-BD31-4B8C-83A1-F6EECF244321}">
                <p14:modId xmlns:p14="http://schemas.microsoft.com/office/powerpoint/2010/main" val="1579011935"/>
              </p:ext>
            </p:extLst>
          </p:nvPr>
        </p:nvGraphicFramePr>
        <p:xfrm>
          <a:off x="5120640" y="1417320"/>
          <a:ext cx="6492240" cy="914400"/>
        </p:xfrm>
        <a:graphic>
          <a:graphicData uri="http://schemas.openxmlformats.org/drawingml/2006/table">
            <a:tbl>
              <a:tblPr/>
              <a:tblGrid>
                <a:gridCol w="1097280"/>
                <a:gridCol w="2286000"/>
                <a:gridCol w="1554480"/>
                <a:gridCol w="1554480"/>
              </a:tblGrid>
              <a:tr h="566928">
                <a:tc>
                  <a:txBody>
                    <a:bodyPr/>
                    <a:lstStyle/>
                    <a:p>
                      <a:pPr indent="0" marL="0">
                        <a:buNone/>
                      </a:pPr>
                      <a:r>
                        <a:rPr lang="en-US" sz="1500" b="1" dirty="0">
                          <a:solidFill>
                            <a:srgbClr val="FFFFFF"/>
                          </a:solidFill>
                        </a:rPr>
                        <a:t>Angular</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500" b="1" dirty="0">
                          <a:solidFill>
                            <a:srgbClr val="FFFFFF"/>
                          </a:solidFill>
                        </a:rPr>
                        <a:t>ADF</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500" b="1" dirty="0">
                          <a:solidFill>
                            <a:srgbClr val="FFFFFF"/>
                          </a:solidFill>
                        </a:rPr>
                        <a:t>js-api</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500" b="1" dirty="0">
                          <a:solidFill>
                            <a:srgbClr val="FFFFFF"/>
                          </a:solidFill>
                        </a:rPr>
                        <a:t>Node probado</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r>
              <a:tr h="566928">
                <a:tc>
                  <a:txBody>
                    <a:bodyPr/>
                    <a:lstStyle/>
                    <a:p>
                      <a:pPr indent="0" marL="0">
                        <a:buNone/>
                      </a:pPr>
                      <a:r>
                        <a:rPr lang="en-US" sz="1500" dirty="0">
                          <a:solidFill>
                            <a:srgbClr val="1B2631"/>
                          </a:solidFill>
                        </a:rPr>
                        <a:t>14</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6.9.1</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7.8.1</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16.20.2</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631"/>
                          </a:solidFill>
                        </a:rPr>
                        <a:t>16</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7.0.0-alpha.7</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8.0.0-alpha.7</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16.20.2</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631"/>
                          </a:solidFill>
                        </a:rPr>
                        <a:t>18</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7.0.1 (de Angular 17)</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8.0.1</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24.19.0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631"/>
                          </a:solidFill>
                        </a:rPr>
                        <a:t>19</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8.0.0 (template Nx)</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9.0.0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24.19.0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631"/>
                          </a:solidFill>
                        </a:rPr>
                        <a:t>20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9.0.0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10.0.0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24.19.0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66928">
                <a:tc>
                  <a:txBody>
                    <a:bodyPr/>
                    <a:lstStyle/>
                    <a:p>
                      <a:pPr indent="0" marL="0">
                        <a:buNone/>
                      </a:pPr>
                      <a:r>
                        <a:rPr lang="en-US" sz="1500" dirty="0">
                          <a:solidFill>
                            <a:srgbClr val="1B2631"/>
                          </a:solidFill>
                        </a:rPr>
                        <a:t>22</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9.0.0 (de Angular 20)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10.0.0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500" dirty="0">
                          <a:solidFill>
                            <a:srgbClr val="1B2631"/>
                          </a:solidFill>
                        </a:rPr>
                        <a:t>24.19.0</a:t>
                      </a:r>
                      <a:endParaRPr lang="en-US" sz="1500" dirty="0"/>
                    </a:p>
                  </a:txBody>
                  <a:tcPr marL="91440" marR="91440"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Preparar el entorno: tres versiones de Node y un ACS</a:t>
            </a:r>
            <a:endParaRPr lang="en-US" sz="3400" dirty="0"/>
          </a:p>
        </p:txBody>
      </p:sp>
      <p:sp>
        <p:nvSpPr>
          <p:cNvPr id="3" name="env-nvm-circulo"/>
          <p:cNvSpPr/>
          <p:nvPr/>
        </p:nvSpPr>
        <p:spPr>
          <a:xfrm>
            <a:off x="548640" y="1371600"/>
            <a:ext cx="640080" cy="640080"/>
          </a:xfrm>
          <a:prstGeom prst="ellipse">
            <a:avLst/>
          </a:prstGeom>
          <a:solidFill>
            <a:schemeClr val="accent3"/>
          </a:solidFill>
          <a:ln/>
        </p:spPr>
      </p:sp>
      <p:pic>
        <p:nvPicPr>
          <p:cNvPr id="4" name="env-nvm-icono" descr="preencoded.png">    </p:cNvPr>
          <p:cNvPicPr>
            <a:picLocks noChangeAspect="1"/>
          </p:cNvPicPr>
          <p:nvPr/>
        </p:nvPicPr>
        <p:blipFill>
          <a:blip r:embed="rId1"/>
          <a:stretch>
            <a:fillRect/>
          </a:stretch>
        </p:blipFill>
        <p:spPr>
          <a:xfrm>
            <a:off x="708660" y="1531620"/>
            <a:ext cx="320040" cy="320040"/>
          </a:xfrm>
          <a:prstGeom prst="rect">
            <a:avLst/>
          </a:prstGeom>
        </p:spPr>
      </p:pic>
      <p:sp>
        <p:nvSpPr>
          <p:cNvPr id="5" name="Text 2"/>
          <p:cNvSpPr txBox="1"/>
          <p:nvPr/>
        </p:nvSpPr>
        <p:spPr>
          <a:xfrm>
            <a:off x="1325880" y="1371600"/>
            <a:ext cx="2148840" cy="640080"/>
          </a:xfrm>
          <a:prstGeom prst="rect">
            <a:avLst/>
          </a:prstGeom>
          <a:noFill/>
          <a:ln/>
        </p:spPr>
        <p:txBody>
          <a:bodyPr wrap="square" lIns="0" tIns="0" rIns="0" bIns="0" rtlCol="0" anchor="ctr"/>
          <a:lstStyle/>
          <a:p>
            <a:pPr indent="0" marL="0">
              <a:buNone/>
            </a:pPr>
            <a:r>
              <a:rPr lang="en-US" sz="2000" b="1" dirty="0">
                <a:solidFill>
                  <a:schemeClr val="tx2"/>
                </a:solidFill>
              </a:rPr>
              <a:t>nvm</a:t>
            </a:r>
            <a:endParaRPr lang="en-US" sz="2000" dirty="0"/>
          </a:p>
        </p:txBody>
      </p:sp>
      <p:sp>
        <p:nvSpPr>
          <p:cNvPr id="6" name="env-nvm-fondo"/>
          <p:cNvSpPr/>
          <p:nvPr/>
        </p:nvSpPr>
        <p:spPr>
          <a:xfrm>
            <a:off x="548640" y="2194560"/>
            <a:ext cx="2926080" cy="2651760"/>
          </a:xfrm>
          <a:prstGeom prst="roundRect">
            <a:avLst>
              <a:gd name="adj" fmla="val 2759"/>
            </a:avLst>
          </a:prstGeom>
          <a:solidFill>
            <a:schemeClr val="tx2"/>
          </a:solidFill>
          <a:ln/>
        </p:spPr>
      </p:sp>
      <p:sp>
        <p:nvSpPr>
          <p:cNvPr id="7" name="env-nvm-codigo"/>
          <p:cNvSpPr txBox="1"/>
          <p:nvPr/>
        </p:nvSpPr>
        <p:spPr>
          <a:xfrm>
            <a:off x="777240" y="2359152"/>
            <a:ext cx="2468880" cy="232257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install 24</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install 18.20.8</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install 16.20.2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24</a:t>
            </a:r>
            <a:endParaRPr lang="en-US" sz="1400" dirty="0"/>
          </a:p>
        </p:txBody>
      </p:sp>
      <p:sp>
        <p:nvSpPr>
          <p:cNvPr id="8" name="Text 5"/>
          <p:cNvSpPr txBox="1"/>
          <p:nvPr/>
        </p:nvSpPr>
        <p:spPr>
          <a:xfrm>
            <a:off x="548640" y="5029200"/>
            <a:ext cx="2926080" cy="822960"/>
          </a:xfrm>
          <a:prstGeom prst="rect">
            <a:avLst/>
          </a:prstGeom>
          <a:noFill/>
          <a:ln/>
        </p:spPr>
        <p:txBody>
          <a:bodyPr wrap="square" lIns="0" tIns="0" rIns="0" bIns="0" rtlCol="0" anchor="t"/>
          <a:lstStyle/>
          <a:p>
            <a:pPr indent="0" marL="0">
              <a:buNone/>
            </a:pPr>
            <a:r>
              <a:rPr lang="en-US" sz="1400" dirty="0">
                <a:solidFill>
                  <a:schemeClr val="tx1"/>
                </a:solidFill>
              </a:rPr>
              <a:t>24: Nx, ACA 8/master, ADF 9 · 18: ACA 4/5 · 16: Yeoman</a:t>
            </a:r>
            <a:endParaRPr lang="en-US" sz="1400" dirty="0"/>
          </a:p>
        </p:txBody>
      </p:sp>
      <p:sp>
        <p:nvSpPr>
          <p:cNvPr id="9" name="env-ACS con Docker-circulo"/>
          <p:cNvSpPr/>
          <p:nvPr/>
        </p:nvSpPr>
        <p:spPr>
          <a:xfrm>
            <a:off x="3657600" y="1371600"/>
            <a:ext cx="640080" cy="640080"/>
          </a:xfrm>
          <a:prstGeom prst="ellipse">
            <a:avLst/>
          </a:prstGeom>
          <a:solidFill>
            <a:schemeClr val="accent2"/>
          </a:solidFill>
          <a:ln/>
        </p:spPr>
      </p:sp>
      <p:pic>
        <p:nvPicPr>
          <p:cNvPr id="10" name="env-ACS con Docker-icono" descr="preencoded.png">    </p:cNvPr>
          <p:cNvPicPr>
            <a:picLocks noChangeAspect="1"/>
          </p:cNvPicPr>
          <p:nvPr/>
        </p:nvPicPr>
        <p:blipFill>
          <a:blip r:embed="rId2"/>
          <a:stretch>
            <a:fillRect/>
          </a:stretch>
        </p:blipFill>
        <p:spPr>
          <a:xfrm>
            <a:off x="3817620" y="1531620"/>
            <a:ext cx="320040" cy="320040"/>
          </a:xfrm>
          <a:prstGeom prst="rect">
            <a:avLst/>
          </a:prstGeom>
        </p:spPr>
      </p:pic>
      <p:sp>
        <p:nvSpPr>
          <p:cNvPr id="11" name="Text 7"/>
          <p:cNvSpPr txBox="1"/>
          <p:nvPr/>
        </p:nvSpPr>
        <p:spPr>
          <a:xfrm>
            <a:off x="4434840" y="1371600"/>
            <a:ext cx="3703320" cy="640080"/>
          </a:xfrm>
          <a:prstGeom prst="rect">
            <a:avLst/>
          </a:prstGeom>
          <a:noFill/>
          <a:ln/>
        </p:spPr>
        <p:txBody>
          <a:bodyPr wrap="square" lIns="0" tIns="0" rIns="0" bIns="0" rtlCol="0" anchor="ctr"/>
          <a:lstStyle/>
          <a:p>
            <a:pPr indent="0" marL="0">
              <a:buNone/>
            </a:pPr>
            <a:r>
              <a:rPr lang="en-US" sz="2000" b="1" dirty="0">
                <a:solidFill>
                  <a:schemeClr val="tx2"/>
                </a:solidFill>
              </a:rPr>
              <a:t>ACS con Docker</a:t>
            </a:r>
            <a:endParaRPr lang="en-US" sz="2000" dirty="0"/>
          </a:p>
        </p:txBody>
      </p:sp>
      <p:sp>
        <p:nvSpPr>
          <p:cNvPr id="12" name="env-ACS con Docker-fondo"/>
          <p:cNvSpPr/>
          <p:nvPr/>
        </p:nvSpPr>
        <p:spPr>
          <a:xfrm>
            <a:off x="3657600" y="2194560"/>
            <a:ext cx="4480560" cy="2651760"/>
          </a:xfrm>
          <a:prstGeom prst="roundRect">
            <a:avLst>
              <a:gd name="adj" fmla="val 2759"/>
            </a:avLst>
          </a:prstGeom>
          <a:solidFill>
            <a:schemeClr val="tx2"/>
          </a:solidFill>
          <a:ln/>
        </p:spPr>
      </p:sp>
      <p:sp>
        <p:nvSpPr>
          <p:cNvPr id="13" name="env-ACS con Docker-codigo"/>
          <p:cNvSpPr txBox="1"/>
          <p:nvPr/>
        </p:nvSpPr>
        <p:spPr>
          <a:xfrm>
            <a:off x="3886200" y="2359152"/>
            <a:ext cx="4023360" cy="2322576"/>
          </a:xfrm>
          <a:prstGeom prst="rect">
            <a:avLst/>
          </a:prstGeom>
          <a:noFill/>
          <a:ln/>
        </p:spPr>
        <p:txBody>
          <a:bodyPr wrap="square" lIns="0" tIns="0" rIns="0" bIns="0" rtlCol="0" anchor="t"/>
          <a:lstStyle/>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&lt;repo&gt;: github.com/Alfresco/</a:t>
            </a:r>
            <a:endParaRPr lang="en-US" sz="1400" dirty="0"/>
          </a:p>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acs-deployment.git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git clone --depth 1 &lt;repo&gt;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acs-deployment\docker-compose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docker compose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-f community-compose.yaml up -d</a:t>
            </a:r>
            <a:endParaRPr lang="en-US" sz="1400" dirty="0"/>
          </a:p>
        </p:txBody>
      </p:sp>
      <p:sp>
        <p:nvSpPr>
          <p:cNvPr id="14" name="Text 10"/>
          <p:cNvSpPr txBox="1"/>
          <p:nvPr/>
        </p:nvSpPr>
        <p:spPr>
          <a:xfrm>
            <a:off x="3657600" y="5029200"/>
            <a:ext cx="4480560" cy="822960"/>
          </a:xfrm>
          <a:prstGeom prst="rect">
            <a:avLst/>
          </a:prstGeom>
          <a:noFill/>
          <a:ln/>
        </p:spPr>
        <p:txBody>
          <a:bodyPr wrap="square" lIns="0" tIns="0" rIns="0" bIns="0" rtlCol="0" anchor="t"/>
          <a:lstStyle/>
          <a:p>
            <a:pPr indent="0" marL="0">
              <a:buNone/>
            </a:pPr>
            <a:r>
              <a:rPr lang="en-US" sz="1400" dirty="0">
                <a:solidFill>
                  <a:schemeClr val="tx1"/>
                </a:solidFill>
              </a:rPr>
              <a:t>admin / admin · 8–12 GB de RAM para Docker</a:t>
            </a:r>
            <a:endParaRPr lang="en-US" sz="1400" dirty="0"/>
          </a:p>
        </p:txBody>
      </p:sp>
      <p:sp>
        <p:nvSpPr>
          <p:cNvPr id="15" name="env-Solo para Yeoman-circulo"/>
          <p:cNvSpPr/>
          <p:nvPr/>
        </p:nvSpPr>
        <p:spPr>
          <a:xfrm>
            <a:off x="8321040" y="1371600"/>
            <a:ext cx="640080" cy="640080"/>
          </a:xfrm>
          <a:prstGeom prst="ellipse">
            <a:avLst/>
          </a:prstGeom>
          <a:solidFill>
            <a:schemeClr val="accent4"/>
          </a:solidFill>
          <a:ln/>
        </p:spPr>
      </p:sp>
      <p:pic>
        <p:nvPicPr>
          <p:cNvPr id="16" name="env-Solo para Yeoman-icono" descr="preencoded.png">    </p:cNvPr>
          <p:cNvPicPr>
            <a:picLocks noChangeAspect="1"/>
          </p:cNvPicPr>
          <p:nvPr/>
        </p:nvPicPr>
        <p:blipFill>
          <a:blip r:embed="rId3"/>
          <a:stretch>
            <a:fillRect/>
          </a:stretch>
        </p:blipFill>
        <p:spPr>
          <a:xfrm>
            <a:off x="8481060" y="1531620"/>
            <a:ext cx="320040" cy="320040"/>
          </a:xfrm>
          <a:prstGeom prst="rect">
            <a:avLst/>
          </a:prstGeom>
        </p:spPr>
      </p:pic>
      <p:sp>
        <p:nvSpPr>
          <p:cNvPr id="17" name="Text 12"/>
          <p:cNvSpPr txBox="1"/>
          <p:nvPr/>
        </p:nvSpPr>
        <p:spPr>
          <a:xfrm>
            <a:off x="9098280" y="1371600"/>
            <a:ext cx="2514600" cy="640080"/>
          </a:xfrm>
          <a:prstGeom prst="rect">
            <a:avLst/>
          </a:prstGeom>
          <a:noFill/>
          <a:ln/>
        </p:spPr>
        <p:txBody>
          <a:bodyPr wrap="square" lIns="0" tIns="0" rIns="0" bIns="0" rtlCol="0" anchor="ctr"/>
          <a:lstStyle/>
          <a:p>
            <a:pPr indent="0" marL="0">
              <a:buNone/>
            </a:pPr>
            <a:r>
              <a:rPr lang="en-US" sz="2000" b="1" dirty="0">
                <a:solidFill>
                  <a:schemeClr val="tx2"/>
                </a:solidFill>
              </a:rPr>
              <a:t>Solo para Yeoman</a:t>
            </a:r>
            <a:endParaRPr lang="en-US" sz="2000" dirty="0"/>
          </a:p>
        </p:txBody>
      </p:sp>
      <p:sp>
        <p:nvSpPr>
          <p:cNvPr id="18" name="env-Solo para Yeoman-fondo"/>
          <p:cNvSpPr/>
          <p:nvPr/>
        </p:nvSpPr>
        <p:spPr>
          <a:xfrm>
            <a:off x="8321040" y="2194560"/>
            <a:ext cx="3291840" cy="2651760"/>
          </a:xfrm>
          <a:prstGeom prst="roundRect">
            <a:avLst>
              <a:gd name="adj" fmla="val 2759"/>
            </a:avLst>
          </a:prstGeom>
          <a:solidFill>
            <a:schemeClr val="tx2"/>
          </a:solidFill>
          <a:ln/>
        </p:spPr>
      </p:sp>
      <p:sp>
        <p:nvSpPr>
          <p:cNvPr id="19" name="env-Solo para Yeoman-codigo"/>
          <p:cNvSpPr txBox="1"/>
          <p:nvPr/>
        </p:nvSpPr>
        <p:spPr>
          <a:xfrm>
            <a:off x="8549640" y="2359152"/>
            <a:ext cx="2834640" cy="2322576"/>
          </a:xfrm>
          <a:prstGeom prst="rect">
            <a:avLst/>
          </a:prstGeom>
          <a:noFill/>
          <a:ln/>
        </p:spPr>
        <p:txBody>
          <a:bodyPr wrap="square" lIns="0" tIns="0" rIns="0" bIns="0" rtlCol="0" anchor="t"/>
          <a:lstStyle/>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VS Build Tools 2022</a:t>
            </a:r>
            <a:endParaRPr lang="en-US" sz="1400" dirty="0"/>
          </a:p>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 Desarrollo C++</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pip install setuptools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config set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msvs_version 2022</a:t>
            </a:r>
            <a:endParaRPr lang="en-US" sz="1400" dirty="0"/>
          </a:p>
        </p:txBody>
      </p:sp>
      <p:sp>
        <p:nvSpPr>
          <p:cNvPr id="20" name="Text 15"/>
          <p:cNvSpPr txBox="1"/>
          <p:nvPr/>
        </p:nvSpPr>
        <p:spPr>
          <a:xfrm>
            <a:off x="8321040" y="5029200"/>
            <a:ext cx="3291840" cy="822960"/>
          </a:xfrm>
          <a:prstGeom prst="rect">
            <a:avLst/>
          </a:prstGeom>
          <a:noFill/>
          <a:ln/>
        </p:spPr>
        <p:txBody>
          <a:bodyPr wrap="square" lIns="0" tIns="0" rIns="0" bIns="0" rtlCol="0" anchor="t"/>
          <a:lstStyle/>
          <a:p>
            <a:pPr indent="0" marL="0">
              <a:buNone/>
            </a:pPr>
            <a:r>
              <a:rPr lang="en-US" sz="1400" dirty="0">
                <a:solidFill>
                  <a:schemeClr val="tx1"/>
                </a:solidFill>
              </a:rPr>
              <a:t>Build Tools 2022, no la 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035040" cy="1188720"/>
          </a:xfrm>
          <a:prstGeom prst="rect">
            <a:avLst/>
          </a:prstGeom>
          <a:noFill/>
          <a:ln/>
        </p:spPr>
        <p:txBody>
          <a:bodyPr wrap="square" lIns="0" tIns="0" rIns="0" bIns="0" rtlCol="0" anchor="b"/>
          <a:lstStyle/>
          <a:p>
            <a:pPr algn="l" indent="0" marL="0">
              <a:buNone/>
            </a:pPr>
            <a:r>
              <a:rPr lang="en-US" sz="4000" b="1" dirty="0">
                <a:solidFill>
                  <a:schemeClr val="bg1"/>
                </a:solidFill>
              </a:rPr>
              <a:t>1 · Yeoman</a:t>
            </a:r>
            <a:endParaRPr lang="en-US" sz="4000" dirty="0"/>
          </a:p>
        </p:txBody>
      </p:sp>
      <p:sp>
        <p:nvSpPr>
          <p:cNvPr id="3" name="Text 0"/>
          <p:cNvSpPr/>
          <p:nvPr>
            <p:ph idx="101" type="body" hasCustomPrompt="1"/>
          </p:nvPr>
        </p:nvSpPr>
        <p:spPr>
          <a:xfrm>
            <a:off x="731520" y="3611880"/>
            <a:ext cx="6035040" cy="1463040"/>
          </a:xfrm>
          <a:prstGeom prst="rect">
            <a:avLst/>
          </a:prstGeom>
          <a:noFill/>
          <a:ln/>
        </p:spPr>
        <p:txBody>
          <a:bodyPr wrap="square" lIns="0" tIns="0" rIns="0" bIns="0" rtlCol="0" anchor="t"/>
          <a:lstStyle/>
          <a:p>
            <a:pPr algn="l" indent="0" marL="0">
              <a:buNone/>
            </a:pPr>
            <a:r>
              <a:rPr lang="en-US" sz="2000" dirty="0">
                <a:solidFill>
                  <a:schemeClr val="bg2"/>
                </a:solidFill>
              </a:rPr>
              <a:t>generator-alfresco-adf-app 6.1.1 (junio 2023). Obsoleto: sirve para mantener proyectos antiguos.</a:t>
            </a:r>
            <a:endParaRPr lang="en-US" sz="2000" dirty="0"/>
          </a:p>
        </p:txBody>
      </p:sp>
      <p:sp>
        <p:nvSpPr>
          <p:cNvPr id="4" name="seccion-circulo"/>
          <p:cNvSpPr/>
          <p:nvPr/>
        </p:nvSpPr>
        <p:spPr>
          <a:xfrm>
            <a:off x="731520" y="1051560"/>
            <a:ext cx="1005840" cy="1005840"/>
          </a:xfrm>
          <a:prstGeom prst="ellipse">
            <a:avLst/>
          </a:prstGeom>
          <a:solidFill>
            <a:schemeClr val="accent4"/>
          </a:solidFill>
          <a:ln/>
        </p:spPr>
      </p:sp>
      <p:pic>
        <p:nvPicPr>
          <p:cNvPr id="5" name="seccion-icono" descr="preencoded.png">    </p:cNvPr>
          <p:cNvPicPr>
            <a:picLocks noChangeAspect="1"/>
          </p:cNvPicPr>
          <p:nvPr/>
        </p:nvPicPr>
        <p:blipFill>
          <a:blip r:embed="rId1"/>
          <a:stretch>
            <a:fillRect/>
          </a:stretch>
        </p:blipFill>
        <p:spPr>
          <a:xfrm>
            <a:off x="982980" y="1303020"/>
            <a:ext cx="502920" cy="502920"/>
          </a:xfrm>
          <a:prstGeom prst="rect">
            <a:avLst/>
          </a:prstGeom>
        </p:spPr>
      </p:pic>
      <p:sp>
        <p:nvSpPr>
          <p:cNvPr id="6" name="seccion-dato"/>
          <p:cNvSpPr/>
          <p:nvPr/>
        </p:nvSpPr>
        <p:spPr>
          <a:xfrm>
            <a:off x="7498080" y="1828800"/>
            <a:ext cx="3931920" cy="3200400"/>
          </a:xfrm>
          <a:prstGeom prst="roundRect">
            <a:avLst>
              <a:gd name="adj" fmla="val 4286"/>
            </a:avLst>
          </a:prstGeom>
          <a:solidFill>
            <a:schemeClr val="accent4"/>
          </a:solidFill>
          <a:ln/>
        </p:spPr>
      </p:sp>
      <p:sp>
        <p:nvSpPr>
          <p:cNvPr id="7" name="Text 4"/>
          <p:cNvSpPr txBox="1"/>
          <p:nvPr/>
        </p:nvSpPr>
        <p:spPr>
          <a:xfrm>
            <a:off x="7680960" y="2103120"/>
            <a:ext cx="3566160" cy="1737360"/>
          </a:xfrm>
          <a:prstGeom prst="rect">
            <a:avLst/>
          </a:prstGeom>
          <a:no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Angular 14</a:t>
            </a:r>
            <a:endParaRPr lang="en-US" sz="4000" dirty="0"/>
          </a:p>
        </p:txBody>
      </p:sp>
      <p:sp>
        <p:nvSpPr>
          <p:cNvPr id="8" name="Text 5"/>
          <p:cNvSpPr txBox="1"/>
          <p:nvPr/>
        </p:nvSpPr>
        <p:spPr>
          <a:xfrm>
            <a:off x="7680960" y="3840480"/>
            <a:ext cx="3566160" cy="1005840"/>
          </a:xfrm>
          <a:prstGeom prst="rect">
            <a:avLst/>
          </a:prstGeom>
          <a:noFill/>
          <a:ln/>
        </p:spPr>
        <p:txBody>
          <a:bodyPr wrap="square" lIns="0" tIns="0" rIns="0" bIns="0" rtlCol="0" anchor="t"/>
          <a:lstStyle/>
          <a:p>
            <a:pPr algn="ctr" indent="0" marL="0">
              <a:buNone/>
            </a:pPr>
            <a:r>
              <a:rPr lang="en-US" sz="1600" dirty="0">
                <a:solidFill>
                  <a:schemeClr val="bg1"/>
                </a:solidFill>
              </a:rPr>
              <a:t>ADF 6.1 · Node 16.20.2 · npm 8.19.4</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Yeoman: requisitos</a:t>
            </a:r>
            <a:endParaRPr lang="en-US" sz="3400" dirty="0"/>
          </a:p>
        </p:txBody>
      </p:sp>
      <p:sp>
        <p:nvSpPr>
          <p:cNvPr id="3" name="yreq-Node 16.20.2 + npm 8.19.4-circulo"/>
          <p:cNvSpPr/>
          <p:nvPr/>
        </p:nvSpPr>
        <p:spPr>
          <a:xfrm>
            <a:off x="548640" y="1417320"/>
            <a:ext cx="731520" cy="731520"/>
          </a:xfrm>
          <a:prstGeom prst="ellipse">
            <a:avLst/>
          </a:prstGeom>
          <a:solidFill>
            <a:schemeClr val="accent4"/>
          </a:solidFill>
          <a:ln/>
        </p:spPr>
      </p:sp>
      <p:pic>
        <p:nvPicPr>
          <p:cNvPr id="4" name="yreq-Node 16.20.2 + npm 8.19.4-icono" descr="preencoded.png">    </p:cNvPr>
          <p:cNvPicPr>
            <a:picLocks noChangeAspect="1"/>
          </p:cNvPicPr>
          <p:nvPr/>
        </p:nvPicPr>
        <p:blipFill>
          <a:blip r:embed="rId1"/>
          <a:stretch>
            <a:fillRect/>
          </a:stretch>
        </p:blipFill>
        <p:spPr>
          <a:xfrm>
            <a:off x="731520" y="1600200"/>
            <a:ext cx="365760" cy="365760"/>
          </a:xfrm>
          <a:prstGeom prst="rect">
            <a:avLst/>
          </a:prstGeom>
        </p:spPr>
      </p:pic>
      <p:sp>
        <p:nvSpPr>
          <p:cNvPr id="5" name="Text 2"/>
          <p:cNvSpPr txBox="1"/>
          <p:nvPr/>
        </p:nvSpPr>
        <p:spPr>
          <a:xfrm>
            <a:off x="1508760" y="1417320"/>
            <a:ext cx="5486400" cy="384048"/>
          </a:xfrm>
          <a:prstGeom prst="rect">
            <a:avLst/>
          </a:prstGeom>
          <a:noFill/>
          <a:ln/>
        </p:spPr>
        <p:txBody>
          <a:bodyPr wrap="square" lIns="0" tIns="0" rIns="0" bIns="0" rtlCol="0" anchor="ctr"/>
          <a:lstStyle/>
          <a:p>
            <a:pPr indent="0" marL="0">
              <a:buNone/>
            </a:pPr>
            <a:r>
              <a:rPr lang="en-US" sz="2000" b="1" dirty="0">
                <a:solidFill>
                  <a:schemeClr val="tx2"/>
                </a:solidFill>
              </a:rPr>
              <a:t>Node 16.20.2 + npm 8.19.4</a:t>
            </a:r>
            <a:endParaRPr lang="en-US" sz="2000" dirty="0"/>
          </a:p>
        </p:txBody>
      </p:sp>
      <p:sp>
        <p:nvSpPr>
          <p:cNvPr id="6" name="Text 3"/>
          <p:cNvSpPr txBox="1"/>
          <p:nvPr/>
        </p:nvSpPr>
        <p:spPr>
          <a:xfrm>
            <a:off x="1508760" y="1801368"/>
            <a:ext cx="5486400" cy="548640"/>
          </a:xfrm>
          <a:prstGeom prst="rect">
            <a:avLst/>
          </a:prstGeom>
          <a:noFill/>
          <a:ln/>
        </p:spPr>
        <p:txBody>
          <a:bodyPr wrap="square" lIns="0" tIns="0" rIns="0" bIns="0" rtlCol="0" anchor="t"/>
          <a:lstStyle/>
          <a:p>
            <a:pPr indent="0" marL="0">
              <a:buNone/>
            </a:pPr>
            <a:r>
              <a:rPr lang="en-US" sz="1500" dirty="0">
                <a:solidFill>
                  <a:schemeClr val="tx1"/>
                </a:solidFill>
              </a:rPr>
              <a:t>Angular 14 soporta oficialmente Node 14.15+ y 16.10+</a:t>
            </a:r>
            <a:endParaRPr lang="en-US" sz="1500" dirty="0"/>
          </a:p>
        </p:txBody>
      </p:sp>
      <p:sp>
        <p:nvSpPr>
          <p:cNvPr id="7" name="yreq-yo 4.3.1 + generador 6.1.1-circulo"/>
          <p:cNvSpPr/>
          <p:nvPr/>
        </p:nvSpPr>
        <p:spPr>
          <a:xfrm>
            <a:off x="548640" y="2606040"/>
            <a:ext cx="731520" cy="731520"/>
          </a:xfrm>
          <a:prstGeom prst="ellipse">
            <a:avLst/>
          </a:prstGeom>
          <a:solidFill>
            <a:schemeClr val="accent4"/>
          </a:solidFill>
          <a:ln/>
        </p:spPr>
      </p:sp>
      <p:pic>
        <p:nvPicPr>
          <p:cNvPr id="8" name="yreq-yo 4.3.1 + generador 6.1.1-icono" descr="preencoded.png">    </p:cNvPr>
          <p:cNvPicPr>
            <a:picLocks noChangeAspect="1"/>
          </p:cNvPicPr>
          <p:nvPr/>
        </p:nvPicPr>
        <p:blipFill>
          <a:blip r:embed="rId2"/>
          <a:stretch>
            <a:fillRect/>
          </a:stretch>
        </p:blipFill>
        <p:spPr>
          <a:xfrm>
            <a:off x="731520" y="2788920"/>
            <a:ext cx="365760" cy="365760"/>
          </a:xfrm>
          <a:prstGeom prst="rect">
            <a:avLst/>
          </a:prstGeom>
        </p:spPr>
      </p:pic>
      <p:sp>
        <p:nvSpPr>
          <p:cNvPr id="9" name="Text 5"/>
          <p:cNvSpPr txBox="1"/>
          <p:nvPr/>
        </p:nvSpPr>
        <p:spPr>
          <a:xfrm>
            <a:off x="1508760" y="2606040"/>
            <a:ext cx="5486400" cy="384048"/>
          </a:xfrm>
          <a:prstGeom prst="rect">
            <a:avLst/>
          </a:prstGeom>
          <a:noFill/>
          <a:ln/>
        </p:spPr>
        <p:txBody>
          <a:bodyPr wrap="square" lIns="0" tIns="0" rIns="0" bIns="0" rtlCol="0" anchor="ctr"/>
          <a:lstStyle/>
          <a:p>
            <a:pPr indent="0" marL="0">
              <a:buNone/>
            </a:pPr>
            <a:r>
              <a:rPr lang="en-US" sz="2000" b="1" dirty="0">
                <a:solidFill>
                  <a:schemeClr val="tx2"/>
                </a:solidFill>
              </a:rPr>
              <a:t>yo 4.3.1 + generador 6.1.1</a:t>
            </a:r>
            <a:endParaRPr lang="en-US" sz="2000" dirty="0"/>
          </a:p>
        </p:txBody>
      </p:sp>
      <p:sp>
        <p:nvSpPr>
          <p:cNvPr id="10" name="Text 6"/>
          <p:cNvSpPr txBox="1"/>
          <p:nvPr/>
        </p:nvSpPr>
        <p:spPr>
          <a:xfrm>
            <a:off x="1508760" y="2990088"/>
            <a:ext cx="5486400" cy="548640"/>
          </a:xfrm>
          <a:prstGeom prst="rect">
            <a:avLst/>
          </a:prstGeom>
          <a:noFill/>
          <a:ln/>
        </p:spPr>
        <p:txBody>
          <a:bodyPr wrap="square" lIns="0" tIns="0" rIns="0" bIns="0" rtlCol="0" anchor="t"/>
          <a:lstStyle/>
          <a:p>
            <a:pPr indent="0" marL="0">
              <a:buNone/>
            </a:pPr>
            <a:r>
              <a:rPr lang="en-US" sz="1500" dirty="0">
                <a:solidFill>
                  <a:schemeClr val="tx1"/>
                </a:solidFill>
              </a:rPr>
              <a:t>yo 7 exige Node 20+ y no funciona con este generador</a:t>
            </a:r>
            <a:endParaRPr lang="en-US" sz="1500" dirty="0"/>
          </a:p>
        </p:txBody>
      </p:sp>
      <p:sp>
        <p:nvSpPr>
          <p:cNvPr id="11" name="yreq-Visual Studio Build Tools 2022 con C++-circulo"/>
          <p:cNvSpPr/>
          <p:nvPr/>
        </p:nvSpPr>
        <p:spPr>
          <a:xfrm>
            <a:off x="548640" y="3794760"/>
            <a:ext cx="731520" cy="731520"/>
          </a:xfrm>
          <a:prstGeom prst="ellipse">
            <a:avLst/>
          </a:prstGeom>
          <a:solidFill>
            <a:schemeClr val="accent4"/>
          </a:solidFill>
          <a:ln/>
        </p:spPr>
      </p:sp>
      <p:pic>
        <p:nvPicPr>
          <p:cNvPr id="12" name="yreq-Visual Studio Build Tools 2022 con C++-icono" descr="preencoded.png">    </p:cNvPr>
          <p:cNvPicPr>
            <a:picLocks noChangeAspect="1"/>
          </p:cNvPicPr>
          <p:nvPr/>
        </p:nvPicPr>
        <p:blipFill>
          <a:blip r:embed="rId3"/>
          <a:stretch>
            <a:fillRect/>
          </a:stretch>
        </p:blipFill>
        <p:spPr>
          <a:xfrm>
            <a:off x="731520" y="3977640"/>
            <a:ext cx="365760" cy="365760"/>
          </a:xfrm>
          <a:prstGeom prst="rect">
            <a:avLst/>
          </a:prstGeom>
        </p:spPr>
      </p:pic>
      <p:sp>
        <p:nvSpPr>
          <p:cNvPr id="13" name="Text 8"/>
          <p:cNvSpPr txBox="1"/>
          <p:nvPr/>
        </p:nvSpPr>
        <p:spPr>
          <a:xfrm>
            <a:off x="1508760" y="3794760"/>
            <a:ext cx="5486400" cy="384048"/>
          </a:xfrm>
          <a:prstGeom prst="rect">
            <a:avLst/>
          </a:prstGeom>
          <a:noFill/>
          <a:ln/>
        </p:spPr>
        <p:txBody>
          <a:bodyPr wrap="square" lIns="0" tIns="0" rIns="0" bIns="0" rtlCol="0" anchor="ctr"/>
          <a:lstStyle/>
          <a:p>
            <a:pPr indent="0" marL="0">
              <a:buNone/>
            </a:pPr>
            <a:r>
              <a:rPr lang="en-US" sz="2000" b="1" dirty="0">
                <a:solidFill>
                  <a:schemeClr val="tx2"/>
                </a:solidFill>
              </a:rPr>
              <a:t>Visual Studio Build Tools 2022 con C++</a:t>
            </a:r>
            <a:endParaRPr lang="en-US" sz="2000" dirty="0"/>
          </a:p>
        </p:txBody>
      </p:sp>
      <p:sp>
        <p:nvSpPr>
          <p:cNvPr id="14" name="Text 9"/>
          <p:cNvSpPr txBox="1"/>
          <p:nvPr/>
        </p:nvSpPr>
        <p:spPr>
          <a:xfrm>
            <a:off x="1508760" y="4178808"/>
            <a:ext cx="5486400" cy="548640"/>
          </a:xfrm>
          <a:prstGeom prst="rect">
            <a:avLst/>
          </a:prstGeom>
          <a:noFill/>
          <a:ln/>
        </p:spPr>
        <p:txBody>
          <a:bodyPr wrap="square" lIns="0" tIns="0" rIns="0" bIns="0" rtlCol="0" anchor="t"/>
          <a:lstStyle/>
          <a:p>
            <a:pPr indent="0" marL="0">
              <a:buNone/>
            </a:pPr>
            <a:r>
              <a:rPr lang="en-US" sz="1500" dirty="0">
                <a:solidFill>
                  <a:schemeClr val="tx1"/>
                </a:solidFill>
              </a:rPr>
              <a:t>El generador compila deasync (módulo nativo). node-gyp 9 no reconoce VS 2026</a:t>
            </a:r>
            <a:endParaRPr lang="en-US" sz="1500" dirty="0"/>
          </a:p>
        </p:txBody>
      </p:sp>
      <p:sp>
        <p:nvSpPr>
          <p:cNvPr id="15" name="yreq-Python 3 + setuptools (si es ≥ 3.12)-circulo"/>
          <p:cNvSpPr/>
          <p:nvPr/>
        </p:nvSpPr>
        <p:spPr>
          <a:xfrm>
            <a:off x="548640" y="4983480"/>
            <a:ext cx="731520" cy="731520"/>
          </a:xfrm>
          <a:prstGeom prst="ellipse">
            <a:avLst/>
          </a:prstGeom>
          <a:solidFill>
            <a:schemeClr val="accent4"/>
          </a:solidFill>
          <a:ln/>
        </p:spPr>
      </p:sp>
      <p:pic>
        <p:nvPicPr>
          <p:cNvPr id="16" name="yreq-Python 3 + setuptools (si es ≥ 3.12)-icono" descr="preencoded.png">    </p:cNvPr>
          <p:cNvPicPr>
            <a:picLocks noChangeAspect="1"/>
          </p:cNvPicPr>
          <p:nvPr/>
        </p:nvPicPr>
        <p:blipFill>
          <a:blip r:embed="rId4"/>
          <a:stretch>
            <a:fillRect/>
          </a:stretch>
        </p:blipFill>
        <p:spPr>
          <a:xfrm>
            <a:off x="731520" y="5166360"/>
            <a:ext cx="365760" cy="365760"/>
          </a:xfrm>
          <a:prstGeom prst="rect">
            <a:avLst/>
          </a:prstGeom>
        </p:spPr>
      </p:pic>
      <p:sp>
        <p:nvSpPr>
          <p:cNvPr id="17" name="Text 11"/>
          <p:cNvSpPr txBox="1"/>
          <p:nvPr/>
        </p:nvSpPr>
        <p:spPr>
          <a:xfrm>
            <a:off x="1508760" y="4983480"/>
            <a:ext cx="5486400" cy="384048"/>
          </a:xfrm>
          <a:prstGeom prst="rect">
            <a:avLst/>
          </a:prstGeom>
          <a:noFill/>
          <a:ln/>
        </p:spPr>
        <p:txBody>
          <a:bodyPr wrap="square" lIns="0" tIns="0" rIns="0" bIns="0" rtlCol="0" anchor="ctr"/>
          <a:lstStyle/>
          <a:p>
            <a:pPr indent="0" marL="0">
              <a:buNone/>
            </a:pPr>
            <a:r>
              <a:rPr lang="en-US" sz="2000" b="1" dirty="0">
                <a:solidFill>
                  <a:schemeClr val="tx2"/>
                </a:solidFill>
              </a:rPr>
              <a:t>Python 3 + setuptools (si es ≥ 3.12)</a:t>
            </a:r>
            <a:endParaRPr lang="en-US" sz="2000" dirty="0"/>
          </a:p>
        </p:txBody>
      </p:sp>
      <p:sp>
        <p:nvSpPr>
          <p:cNvPr id="18" name="Text 12"/>
          <p:cNvSpPr txBox="1"/>
          <p:nvPr/>
        </p:nvSpPr>
        <p:spPr>
          <a:xfrm>
            <a:off x="1508760" y="5367528"/>
            <a:ext cx="5486400" cy="548640"/>
          </a:xfrm>
          <a:prstGeom prst="rect">
            <a:avLst/>
          </a:prstGeom>
          <a:noFill/>
          <a:ln/>
        </p:spPr>
        <p:txBody>
          <a:bodyPr wrap="square" lIns="0" tIns="0" rIns="0" bIns="0" rtlCol="0" anchor="t"/>
          <a:lstStyle/>
          <a:p>
            <a:pPr indent="0" marL="0">
              <a:buNone/>
            </a:pPr>
            <a:r>
              <a:rPr lang="en-US" sz="1500" dirty="0">
                <a:solidFill>
                  <a:schemeClr val="tx1"/>
                </a:solidFill>
              </a:rPr>
              <a:t>node-gyp 9 importa distutils, eliminado en Python 3.12</a:t>
            </a:r>
            <a:endParaRPr lang="en-US" sz="1500" dirty="0"/>
          </a:p>
        </p:txBody>
      </p:sp>
      <p:sp>
        <p:nvSpPr>
          <p:cNvPr id="19" name="yreq-deasync"/>
          <p:cNvSpPr/>
          <p:nvPr/>
        </p:nvSpPr>
        <p:spPr>
          <a:xfrm>
            <a:off x="7406640" y="1417320"/>
            <a:ext cx="4206240" cy="4663440"/>
          </a:xfrm>
          <a:prstGeom prst="roundRect">
            <a:avLst>
              <a:gd name="adj" fmla="val 2174"/>
            </a:avLst>
          </a:prstGeom>
          <a:solidFill>
            <a:schemeClr val="bg2"/>
          </a:solidFill>
          <a:ln/>
        </p:spPr>
      </p:sp>
      <p:sp>
        <p:nvSpPr>
          <p:cNvPr id="20" name="Text 14"/>
          <p:cNvSpPr txBox="1"/>
          <p:nvPr/>
        </p:nvSpPr>
        <p:spPr>
          <a:xfrm>
            <a:off x="7680960" y="1645920"/>
            <a:ext cx="3657600" cy="457200"/>
          </a:xfrm>
          <a:prstGeom prst="rect">
            <a:avLst/>
          </a:prstGeom>
          <a:noFill/>
          <a:ln/>
        </p:spPr>
        <p:txBody>
          <a:bodyPr wrap="square" lIns="0" tIns="0" rIns="0" bIns="0" rtlCol="0" anchor="ctr"/>
          <a:lstStyle/>
          <a:p>
            <a:pPr indent="0" marL="0">
              <a:buNone/>
            </a:pPr>
            <a:r>
              <a:rPr lang="en-US" sz="2000" b="1" dirty="0">
                <a:solidFill>
                  <a:schemeClr val="tx2"/>
                </a:solidFill>
              </a:rPr>
              <a:t>¿Por qué compila?</a:t>
            </a:r>
            <a:endParaRPr lang="en-US" sz="2000" dirty="0"/>
          </a:p>
        </p:txBody>
      </p:sp>
      <p:graphicFrame>
        <p:nvGraphicFramePr>
          <p:cNvPr id="8" name="yreq-tabla"/>
          <p:cNvGraphicFramePr>
            <a:graphicFrameLocks noGrp="1"/>
          </p:cNvGraphicFramePr>
          <p:nvPr>
            <p:extLst>
              <p:ext uri="{D42A27DB-BD31-4B8C-83A1-F6EECF244321}">
                <p14:modId xmlns:p14="http://schemas.microsoft.com/office/powerpoint/2010/main" val="1579011935"/>
              </p:ext>
            </p:extLst>
          </p:nvPr>
        </p:nvGraphicFramePr>
        <p:xfrm>
          <a:off x="7680960" y="2240280"/>
          <a:ext cx="3657600" cy="914400"/>
        </p:xfrm>
        <a:graphic>
          <a:graphicData uri="http://schemas.openxmlformats.org/drawingml/2006/table">
            <a:tbl>
              <a:tblPr/>
              <a:tblGrid>
                <a:gridCol w="1325880"/>
                <a:gridCol w="1051560"/>
                <a:gridCol w="1280160"/>
              </a:tblGrid>
              <a:tr h="457200">
                <a:tc>
                  <a:txBody>
                    <a:bodyPr/>
                    <a:lstStyle/>
                    <a:p>
                      <a:pPr indent="0" marL="0">
                        <a:buNone/>
                      </a:pPr>
                      <a:r>
                        <a:rPr lang="en-US" sz="1400" b="1" dirty="0">
                          <a:solidFill>
                            <a:srgbClr val="FFFFFF"/>
                          </a:solidFill>
                        </a:rPr>
                        <a:t>Generador</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0B3142"/>
                    </a:solidFill>
                  </a:tcPr>
                </a:tc>
                <a:tc>
                  <a:txBody>
                    <a:bodyPr/>
                    <a:lstStyle/>
                    <a:p>
                      <a:pPr indent="0" marL="0">
                        <a:buNone/>
                      </a:pPr>
                      <a:r>
                        <a:rPr lang="en-US" sz="1400" b="1" dirty="0">
                          <a:solidFill>
                            <a:srgbClr val="FFFFFF"/>
                          </a:solidFill>
                        </a:rPr>
                        <a:t>deasync</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0B3142"/>
                    </a:solidFill>
                  </a:tcPr>
                </a:tc>
                <a:tc>
                  <a:txBody>
                    <a:bodyPr/>
                    <a:lstStyle/>
                    <a:p>
                      <a:pPr indent="0" marL="0">
                        <a:buNone/>
                      </a:pPr>
                      <a:r>
                        <a:rPr lang="en-US" sz="1400" b="1" dirty="0">
                          <a:solidFill>
                            <a:srgbClr val="FFFFFF"/>
                          </a:solidFill>
                        </a:rPr>
                        <a:t>¿Compila?</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0B3142"/>
                    </a:solidFill>
                  </a:tcPr>
                </a:tc>
              </a:tr>
              <a:tr h="457200">
                <a:tc>
                  <a:txBody>
                    <a:bodyPr/>
                    <a:lstStyle/>
                    <a:p>
                      <a:pPr indent="0" marL="0">
                        <a:buNone/>
                      </a:pPr>
                      <a:r>
                        <a:rPr lang="en-US" sz="1400" dirty="0">
                          <a:solidFill>
                            <a:srgbClr val="1B2631"/>
                          </a:solidFill>
                        </a:rPr>
                        <a:t>2.0.0</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no usa</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No</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631"/>
                          </a:solidFill>
                        </a:rPr>
                        <a:t>2.1 – 2.6.3</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0.1.12</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Node ≥ 10</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631"/>
                          </a:solidFill>
                        </a:rPr>
                        <a:t>3.0 – 6.1.1</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0.1.14</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c>
                  <a:txBody>
                    <a:bodyPr/>
                    <a:lstStyle/>
                    <a:p>
                      <a:pPr indent="0" marL="0">
                        <a:buNone/>
                      </a:pPr>
                      <a:r>
                        <a:rPr lang="en-US" sz="1400" dirty="0">
                          <a:solidFill>
                            <a:srgbClr val="1B2631"/>
                          </a:solidFill>
                        </a:rPr>
                        <a:t>Siempre</a:t>
                      </a:r>
                      <a:endParaRPr lang="en-US" sz="1400" dirty="0"/>
                    </a:p>
                  </a:txBody>
                  <a:tcPr marL="73152" marR="73152" marT="0" marB="0">
                    <a:lnL w="9525" cap="flat" cmpd="sng" algn="ctr">
                      <a:solidFill>
                        <a:srgbClr val="C9D5DB"/>
                      </a:solidFill>
                      <a:prstDash val="solid"/>
                      <a:round/>
                      <a:headEnd type="none" w="med" len="med"/>
                      <a:tailEnd type="none" w="med" len="med"/>
                    </a:lnL>
                    <a:lnR w="9525" cap="flat" cmpd="sng" algn="ctr">
                      <a:solidFill>
                        <a:srgbClr val="C9D5DB"/>
                      </a:solidFill>
                      <a:prstDash val="solid"/>
                      <a:round/>
                      <a:headEnd type="none" w="med" len="med"/>
                      <a:tailEnd type="none" w="med" len="med"/>
                    </a:lnR>
                    <a:lnT w="9525" cap="flat" cmpd="sng" algn="ctr">
                      <a:solidFill>
                        <a:srgbClr val="C9D5DB"/>
                      </a:solidFill>
                      <a:prstDash val="solid"/>
                      <a:round/>
                      <a:headEnd type="none" w="med" len="med"/>
                      <a:tailEnd type="none" w="med" len="med"/>
                    </a:lnT>
                    <a:lnB w="9525" cap="flat" cmpd="sng" algn="ctr">
                      <a:solidFill>
                        <a:srgbClr val="C9D5DB"/>
                      </a:solidFill>
                      <a:prstDash val="solid"/>
                      <a:round/>
                      <a:headEnd type="none" w="med" len="med"/>
                      <a:tailEnd type="none" w="med" len="med"/>
                    </a:lnB>
                    <a:solidFill>
                      <a:srgbClr val="FFFFFF"/>
                    </a:solidFill>
                  </a:tcPr>
                </a:tc>
              </a:tr>
            </a:tbl>
          </a:graphicData>
        </a:graphic>
      </p:graphicFrame>
      <p:sp>
        <p:nvSpPr>
          <p:cNvPr id="22" name="Text 15"/>
          <p:cNvSpPr txBox="1"/>
          <p:nvPr/>
        </p:nvSpPr>
        <p:spPr>
          <a:xfrm>
            <a:off x="7680960" y="4343400"/>
            <a:ext cx="3657600" cy="1280160"/>
          </a:xfrm>
          <a:prstGeom prst="rect">
            <a:avLst/>
          </a:prstGeom>
          <a:noFill/>
          <a:ln/>
        </p:spPr>
        <p:txBody>
          <a:bodyPr wrap="square" lIns="0" tIns="0" rIns="0" bIns="0" rtlCol="0" anchor="t"/>
          <a:lstStyle/>
          <a:p>
            <a:pPr indent="0" marL="0">
              <a:buNone/>
            </a:pPr>
            <a:r>
              <a:rPr lang="en-US" sz="1500" dirty="0">
                <a:solidFill>
                  <a:schemeClr val="tx1"/>
                </a:solidFill>
              </a:rPr>
              <a:t>deasync solo trae binarios hasta Node 11, y yo 4 ya exige Node ≥ 12.10.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Yeoman: crear e iniciar el proyecto</a:t>
            </a:r>
            <a:endParaRPr lang="en-US" sz="3400" dirty="0"/>
          </a:p>
        </p:txBody>
      </p:sp>
      <p:sp>
        <p:nvSpPr>
          <p:cNvPr id="3" name="ypasos-fondo"/>
          <p:cNvSpPr/>
          <p:nvPr/>
        </p:nvSpPr>
        <p:spPr>
          <a:xfrm>
            <a:off x="548640" y="1417320"/>
            <a:ext cx="6949440" cy="4663440"/>
          </a:xfrm>
          <a:prstGeom prst="roundRect">
            <a:avLst>
              <a:gd name="adj" fmla="val 1569"/>
            </a:avLst>
          </a:prstGeom>
          <a:solidFill>
            <a:schemeClr val="tx2"/>
          </a:solidFill>
          <a:ln/>
        </p:spPr>
      </p:sp>
      <p:sp>
        <p:nvSpPr>
          <p:cNvPr id="4" name="ypasos-codigo"/>
          <p:cNvSpPr txBox="1"/>
          <p:nvPr/>
        </p:nvSpPr>
        <p:spPr>
          <a:xfrm>
            <a:off x="777240" y="1581912"/>
            <a:ext cx="6492240" cy="43342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16.20.2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config set msvs_version 2022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install -g yo@4.3.1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generator-alfresco-adf-app@6.1.1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yo alfresco-adf-app</a:t>
            </a:r>
            <a:endParaRPr lang="en-US" sz="1400" dirty="0"/>
          </a:p>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nombre: mi-app · blueprint: ACS</a:t>
            </a:r>
            <a:endParaRPr lang="en-US" sz="1400" dirty="0"/>
          </a:p>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instalar ahora: No · licencia: MIT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mi-app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install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2–3 min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start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ng serve app → :4200</a:t>
            </a:r>
            <a:endParaRPr lang="en-US" sz="1400" dirty="0"/>
          </a:p>
        </p:txBody>
      </p:sp>
      <p:sp>
        <p:nvSpPr>
          <p:cNvPr id="5" name="Text 3"/>
          <p:cNvSpPr txBox="1"/>
          <p:nvPr/>
        </p:nvSpPr>
        <p:spPr>
          <a:xfrm>
            <a:off x="7863840" y="1417320"/>
            <a:ext cx="3749040" cy="457200"/>
          </a:xfrm>
          <a:prstGeom prst="rect">
            <a:avLst/>
          </a:prstGeom>
          <a:noFill/>
          <a:ln/>
        </p:spPr>
        <p:txBody>
          <a:bodyPr wrap="square" lIns="0" tIns="0" rIns="0" bIns="0" rtlCol="0" anchor="ctr"/>
          <a:lstStyle/>
          <a:p>
            <a:pPr indent="0" marL="0">
              <a:buNone/>
            </a:pPr>
            <a:r>
              <a:rPr lang="en-US" sz="2000" b="1" dirty="0">
                <a:solidFill>
                  <a:schemeClr val="tx2"/>
                </a:solidFill>
              </a:rPr>
              <a:t>Lo que genera</a:t>
            </a:r>
            <a:endParaRPr lang="en-US" sz="2000" dirty="0"/>
          </a:p>
        </p:txBody>
      </p:sp>
      <p:sp>
        <p:nvSpPr>
          <p:cNvPr id="6" name="Text 4"/>
          <p:cNvSpPr txBox="1"/>
          <p:nvPr/>
        </p:nvSpPr>
        <p:spPr>
          <a:xfrm>
            <a:off x="7863840" y="1920240"/>
            <a:ext cx="374904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proxy.conf.js → localhost:8080</a:t>
            </a:r>
            <a:endParaRPr lang="en-US" sz="1500" dirty="0"/>
          </a:p>
          <a:p>
            <a:pPr marL="342900" indent="-342900">
              <a:spcAft>
                <a:spcPts val="600"/>
              </a:spcAft>
              <a:buSzPct val="100000"/>
              <a:buChar char="•"/>
            </a:pPr>
            <a:r>
              <a:rPr lang="en-US" sz="1500" dirty="0">
                <a:solidFill>
                  <a:schemeClr val="tx1"/>
                </a:solidFill>
              </a:rPr>
              <a:t>src/app.config.json</a:t>
            </a:r>
            <a:endParaRPr lang="en-US" sz="1500" dirty="0"/>
          </a:p>
          <a:p>
            <a:pPr marL="342900" indent="-342900">
              <a:spcAft>
                <a:spcPts val="600"/>
              </a:spcAft>
              <a:buSzPct val="100000"/>
              <a:buChar char="•"/>
            </a:pPr>
            <a:r>
              <a:rPr lang="en-US" sz="1500" dirty="0">
                <a:solidFill>
                  <a:schemeClr val="tx1"/>
                </a:solidFill>
              </a:rPr>
              <a:t>Login, home, documentos y visor</a:t>
            </a:r>
            <a:endParaRPr lang="en-US" sz="1500" dirty="0"/>
          </a:p>
          <a:p>
            <a:pPr marL="342900" indent="-342900">
              <a:spcAft>
                <a:spcPts val="600"/>
              </a:spcAft>
              <a:buSzPct val="100000"/>
              <a:buChar char="•"/>
            </a:pPr>
            <a:r>
              <a:rPr lang="en-US" sz="1500" dirty="0">
                <a:solidFill>
                  <a:schemeClr val="tx1"/>
                </a:solidFill>
              </a:rPr>
              <a:t>CoreModule.forRoot() + ContentModule</a:t>
            </a:r>
            <a:endParaRPr lang="en-US" sz="1500" dirty="0"/>
          </a:p>
        </p:txBody>
      </p:sp>
      <p:sp>
        <p:nvSpPr>
          <p:cNvPr id="7" name="ypasos-ojo"/>
          <p:cNvSpPr/>
          <p:nvPr/>
        </p:nvSpPr>
        <p:spPr>
          <a:xfrm>
            <a:off x="7863840" y="4114800"/>
            <a:ext cx="3749040" cy="1965960"/>
          </a:xfrm>
          <a:prstGeom prst="roundRect">
            <a:avLst>
              <a:gd name="adj" fmla="val 4651"/>
            </a:avLst>
          </a:prstGeom>
          <a:solidFill>
            <a:schemeClr val="bg2"/>
          </a:solidFill>
          <a:ln/>
        </p:spPr>
      </p:sp>
      <p:sp>
        <p:nvSpPr>
          <p:cNvPr id="8" name="Text 6"/>
          <p:cNvSpPr txBox="1"/>
          <p:nvPr/>
        </p:nvSpPr>
        <p:spPr>
          <a:xfrm>
            <a:off x="8092440" y="4251960"/>
            <a:ext cx="3291840" cy="365760"/>
          </a:xfrm>
          <a:prstGeom prst="rect">
            <a:avLst/>
          </a:prstGeom>
          <a:noFill/>
          <a:ln/>
        </p:spPr>
        <p:txBody>
          <a:bodyPr wrap="square" lIns="0" tIns="0" rIns="0" bIns="0" rtlCol="0" anchor="ctr"/>
          <a:lstStyle/>
          <a:p>
            <a:pPr indent="0" marL="0">
              <a:buNone/>
            </a:pPr>
            <a:r>
              <a:rPr lang="en-US" sz="1600" b="1" dirty="0">
                <a:solidFill>
                  <a:schemeClr val="accent5"/>
                </a:solidFill>
              </a:rPr>
              <a:t>Ojo</a:t>
            </a:r>
            <a:endParaRPr lang="en-US" sz="1600" dirty="0"/>
          </a:p>
        </p:txBody>
      </p:sp>
      <p:sp>
        <p:nvSpPr>
          <p:cNvPr id="9" name="Text 7"/>
          <p:cNvSpPr txBox="1"/>
          <p:nvPr/>
        </p:nvSpPr>
        <p:spPr>
          <a:xfrm>
            <a:off x="8092440" y="4617720"/>
            <a:ext cx="3291840" cy="1371600"/>
          </a:xfrm>
          <a:prstGeom prst="rect">
            <a:avLst/>
          </a:prstGeom>
          <a:noFill/>
          <a:ln/>
        </p:spPr>
        <p:txBody>
          <a:bodyPr wrap="square" lIns="0" tIns="0" rIns="0" bIns="0" rtlCol="0" anchor="t"/>
          <a:lstStyle/>
          <a:p>
            <a:pPr indent="0" marL="0">
              <a:buNone/>
            </a:pPr>
            <a:r>
              <a:rPr lang="en-US" sz="1400" dirty="0">
                <a:solidFill>
                  <a:schemeClr val="tx1"/>
                </a:solidFill>
              </a:rPr>
              <a:t>El package.json conserva el nombre adf-cli-acs-template y el LICENSE se crea en la carpeta padre.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Atajo para el aula: copiar la plantilla sin yo</a:t>
            </a:r>
            <a:endParaRPr lang="en-US" sz="3400" dirty="0"/>
          </a:p>
        </p:txBody>
      </p:sp>
      <p:sp>
        <p:nvSpPr>
          <p:cNvPr id="3" name="Text 1"/>
          <p:cNvSpPr txBox="1"/>
          <p:nvPr/>
        </p:nvSpPr>
        <p:spPr>
          <a:xfrm>
            <a:off x="548640" y="1371600"/>
            <a:ext cx="11064240" cy="457200"/>
          </a:xfrm>
          <a:prstGeom prst="rect">
            <a:avLst/>
          </a:prstGeom>
          <a:noFill/>
          <a:ln/>
        </p:spPr>
        <p:txBody>
          <a:bodyPr wrap="square" lIns="0" tIns="0" rIns="0" bIns="0" rtlCol="0" anchor="ctr"/>
          <a:lstStyle/>
          <a:p>
            <a:pPr indent="0" marL="0">
              <a:buNone/>
            </a:pPr>
            <a:r>
              <a:rPr lang="en-US" sz="1600" dirty="0">
                <a:solidFill>
                  <a:schemeClr val="tx1"/>
                </a:solidFill>
              </a:rPr>
              <a:t>El generador solo copia una carpeta. Se puede extraer del paquete npm y evitar Visual Studio:</a:t>
            </a:r>
            <a:endParaRPr lang="en-US" sz="1600" dirty="0"/>
          </a:p>
        </p:txBody>
      </p:sp>
      <p:sp>
        <p:nvSpPr>
          <p:cNvPr id="4" name="yatajo-fondo"/>
          <p:cNvSpPr/>
          <p:nvPr/>
        </p:nvSpPr>
        <p:spPr>
          <a:xfrm>
            <a:off x="548640" y="1965960"/>
            <a:ext cx="6035040" cy="3017520"/>
          </a:xfrm>
          <a:prstGeom prst="roundRect">
            <a:avLst>
              <a:gd name="adj" fmla="val 2424"/>
            </a:avLst>
          </a:prstGeom>
          <a:solidFill>
            <a:schemeClr val="tx2"/>
          </a:solidFill>
          <a:ln/>
        </p:spPr>
      </p:sp>
      <p:sp>
        <p:nvSpPr>
          <p:cNvPr id="5" name="yatajo-codigo"/>
          <p:cNvSpPr txBox="1"/>
          <p:nvPr/>
        </p:nvSpPr>
        <p:spPr>
          <a:xfrm>
            <a:off x="777240" y="2130552"/>
            <a:ext cx="5577840" cy="268833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16.20.2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pack generator-alfresco-adf-app@6.1.1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tar xzf generator-alfresco-adf-app-6.1.1.tgz</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Copy-Item -Recurse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package\app\templates\adf-cli-acs-template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..\mi-app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..\mi-app ; npm install ; npm start</a:t>
            </a:r>
            <a:endParaRPr lang="en-US" sz="1400" dirty="0"/>
          </a:p>
        </p:txBody>
      </p:sp>
      <p:graphicFrame>
        <p:nvGraphicFramePr>
          <p:cNvPr id="10" name="yatajo-tabla"/>
          <p:cNvGraphicFramePr>
            <a:graphicFrameLocks noGrp="1"/>
          </p:cNvGraphicFramePr>
          <p:nvPr>
            <p:extLst>
              <p:ext uri="{D42A27DB-BD31-4B8C-83A1-F6EECF244321}">
                <p14:modId xmlns:p14="http://schemas.microsoft.com/office/powerpoint/2010/main" val="1579011935"/>
              </p:ext>
            </p:extLst>
          </p:nvPr>
        </p:nvGraphicFramePr>
        <p:xfrm>
          <a:off x="6903720" y="1965960"/>
          <a:ext cx="4709160" cy="914400"/>
        </p:xfrm>
        <a:graphic>
          <a:graphicData uri="http://schemas.openxmlformats.org/drawingml/2006/table">
            <a:tbl>
              <a:tblPr/>
              <a:tblGrid>
                <a:gridCol w="2240280"/>
                <a:gridCol w="2468880"/>
              </a:tblGrid>
              <a:tr h="603504">
                <a:tc>
                  <a:txBody>
                    <a:bodyPr/>
                    <a:lstStyle/>
                    <a:p>
                      <a:pPr indent="0" marL="0">
                        <a:buNone/>
                      </a:pPr>
                      <a:r>
                        <a:rPr lang="en-US" sz="1400" b="1" dirty="0">
                          <a:solidFill>
                            <a:srgbClr val="FFFFFF"/>
                          </a:solidFill>
                        </a:rPr>
                        <a:t>Error</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400" b="1" dirty="0">
                          <a:solidFill>
                            <a:srgbClr val="FFFFFF"/>
                          </a:solidFill>
                        </a:rPr>
                        <a:t>Solución</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r>
              <a:tr h="603504">
                <a:tc>
                  <a:txBody>
                    <a:bodyPr/>
                    <a:lstStyle/>
                    <a:p>
                      <a:pPr indent="0" marL="0">
                        <a:buNone/>
                      </a:pPr>
                      <a:r>
                        <a:rPr lang="en-US" sz="1400" dirty="0">
                          <a:solidFill>
                            <a:srgbClr val="1B2631"/>
                          </a:solidFill>
                        </a:rPr>
                        <a:t>gyp ERR! find VS</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400" dirty="0">
                          <a:solidFill>
                            <a:srgbClr val="1B2631"/>
                          </a:solidFill>
                        </a:rPr>
                        <a:t>Build Tools 2022 + msvs_version 2022</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03504">
                <a:tc>
                  <a:txBody>
                    <a:bodyPr/>
                    <a:lstStyle/>
                    <a:p>
                      <a:pPr indent="0" marL="0">
                        <a:buNone/>
                      </a:pPr>
                      <a:r>
                        <a:rPr lang="en-US" sz="1400" dirty="0">
                          <a:solidFill>
                            <a:srgbClr val="1B2631"/>
                          </a:solidFill>
                        </a:rPr>
                        <a:t>No module named 'distutils'</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400" dirty="0">
                          <a:solidFill>
                            <a:srgbClr val="1B2631"/>
                          </a:solidFill>
                        </a:rPr>
                        <a:t>pip install setuptools</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03504">
                <a:tc>
                  <a:txBody>
                    <a:bodyPr/>
                    <a:lstStyle/>
                    <a:p>
                      <a:pPr indent="0" marL="0">
                        <a:buNone/>
                      </a:pPr>
                      <a:r>
                        <a:rPr lang="en-US" sz="1400" dirty="0">
                          <a:solidFill>
                            <a:srgbClr val="1B2631"/>
                          </a:solidFill>
                        </a:rPr>
                        <a:t>Could not locate the bindings file</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400" dirty="0">
                          <a:solidFill>
                            <a:srgbClr val="1B2631"/>
                          </a:solidFill>
                        </a:rPr>
                        <a:t>Corregir lo anterior y reinstalar</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03504">
                <a:tc>
                  <a:txBody>
                    <a:bodyPr/>
                    <a:lstStyle/>
                    <a:p>
                      <a:pPr indent="0" marL="0">
                        <a:buNone/>
                      </a:pPr>
                      <a:r>
                        <a:rPr lang="en-US" sz="1400" dirty="0">
                          <a:solidFill>
                            <a:srgbClr val="1B2631"/>
                          </a:solidFill>
                        </a:rPr>
                        <a:t>yo: command not found</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400" dirty="0">
                          <a:solidFill>
                            <a:srgbClr val="1B2631"/>
                          </a:solidFill>
                        </a:rPr>
                        <a:t>nvm use 16.20.2</a:t>
                      </a:r>
                      <a:endParaRPr lang="en-US" sz="1400" dirty="0"/>
                    </a:p>
                  </a:txBody>
                  <a:tcPr marL="73152" marR="73152"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7" name="Text 4"/>
          <p:cNvSpPr txBox="1"/>
          <p:nvPr/>
        </p:nvSpPr>
        <p:spPr>
          <a:xfrm>
            <a:off x="548640" y="5257800"/>
            <a:ext cx="11064240" cy="457200"/>
          </a:xfrm>
          <a:prstGeom prst="rect">
            <a:avLst/>
          </a:prstGeom>
          <a:noFill/>
          <a:ln/>
        </p:spPr>
        <p:txBody>
          <a:bodyPr wrap="square" lIns="0" tIns="0" rIns="0" bIns="0" rtlCol="0" anchor="ctr"/>
          <a:lstStyle/>
          <a:p>
            <a:pPr indent="0" marL="0">
              <a:buNone/>
            </a:pPr>
            <a:r>
              <a:rPr lang="en-US" sz="1500" i="1" dirty="0">
                <a:solidFill>
                  <a:schemeClr val="accent6"/>
                </a:solidFill>
              </a:rPr>
              <a:t>Comprobado: npm install y ng build terminan bien con Node 16.20.2.</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035040" cy="1188720"/>
          </a:xfrm>
          <a:prstGeom prst="rect">
            <a:avLst/>
          </a:prstGeom>
          <a:noFill/>
          <a:ln/>
        </p:spPr>
        <p:txBody>
          <a:bodyPr wrap="square" lIns="0" tIns="0" rIns="0" bIns="0" rtlCol="0" anchor="b"/>
          <a:lstStyle/>
          <a:p>
            <a:pPr algn="l" indent="0" marL="0">
              <a:buNone/>
            </a:pPr>
            <a:r>
              <a:rPr lang="en-US" sz="4000" b="1" dirty="0">
                <a:solidFill>
                  <a:schemeClr val="bg1"/>
                </a:solidFill>
              </a:rPr>
              <a:t>2 · Generador Nx</a:t>
            </a:r>
            <a:endParaRPr lang="en-US" sz="4000" dirty="0"/>
          </a:p>
        </p:txBody>
      </p:sp>
      <p:sp>
        <p:nvSpPr>
          <p:cNvPr id="3" name="Text 0"/>
          <p:cNvSpPr/>
          <p:nvPr>
            <p:ph idx="101" type="body" hasCustomPrompt="1"/>
          </p:nvPr>
        </p:nvSpPr>
        <p:spPr>
          <a:xfrm>
            <a:off x="731520" y="3611880"/>
            <a:ext cx="6035040" cy="1463040"/>
          </a:xfrm>
          <a:prstGeom prst="rect">
            <a:avLst/>
          </a:prstGeom>
          <a:noFill/>
          <a:ln/>
        </p:spPr>
        <p:txBody>
          <a:bodyPr wrap="square" lIns="0" tIns="0" rIns="0" bIns="0" rtlCol="0" anchor="t"/>
          <a:lstStyle/>
          <a:p>
            <a:pPr algn="l" indent="0" marL="0">
              <a:buNone/>
            </a:pPr>
            <a:r>
              <a:rPr lang="en-US" sz="2000" dirty="0">
                <a:solidFill>
                  <a:schemeClr val="bg2"/>
                </a:solidFill>
              </a:rPr>
              <a:t>@alfresco/adf-generators 1.0.4: la forma oficial actual de crear una app ADF nueva.</a:t>
            </a:r>
            <a:endParaRPr lang="en-US" sz="2000" dirty="0"/>
          </a:p>
        </p:txBody>
      </p:sp>
      <p:sp>
        <p:nvSpPr>
          <p:cNvPr id="4" name="seccion-circulo"/>
          <p:cNvSpPr/>
          <p:nvPr/>
        </p:nvSpPr>
        <p:spPr>
          <a:xfrm>
            <a:off x="731520" y="1051560"/>
            <a:ext cx="1005840" cy="1005840"/>
          </a:xfrm>
          <a:prstGeom prst="ellipse">
            <a:avLst/>
          </a:prstGeom>
          <a:solidFill>
            <a:schemeClr val="accent3"/>
          </a:solidFill>
          <a:ln/>
        </p:spPr>
      </p:sp>
      <p:pic>
        <p:nvPicPr>
          <p:cNvPr id="5" name="seccion-icono" descr="preencoded.png">    </p:cNvPr>
          <p:cNvPicPr>
            <a:picLocks noChangeAspect="1"/>
          </p:cNvPicPr>
          <p:nvPr/>
        </p:nvPicPr>
        <p:blipFill>
          <a:blip r:embed="rId1"/>
          <a:stretch>
            <a:fillRect/>
          </a:stretch>
        </p:blipFill>
        <p:spPr>
          <a:xfrm>
            <a:off x="982980" y="1303020"/>
            <a:ext cx="502920" cy="502920"/>
          </a:xfrm>
          <a:prstGeom prst="rect">
            <a:avLst/>
          </a:prstGeom>
        </p:spPr>
      </p:pic>
      <p:sp>
        <p:nvSpPr>
          <p:cNvPr id="6" name="seccion-dato"/>
          <p:cNvSpPr/>
          <p:nvPr/>
        </p:nvSpPr>
        <p:spPr>
          <a:xfrm>
            <a:off x="7498080" y="1828800"/>
            <a:ext cx="3931920" cy="3200400"/>
          </a:xfrm>
          <a:prstGeom prst="roundRect">
            <a:avLst>
              <a:gd name="adj" fmla="val 4286"/>
            </a:avLst>
          </a:prstGeom>
          <a:solidFill>
            <a:schemeClr val="accent3"/>
          </a:solidFill>
          <a:ln/>
        </p:spPr>
      </p:sp>
      <p:sp>
        <p:nvSpPr>
          <p:cNvPr id="7" name="Text 4"/>
          <p:cNvSpPr txBox="1"/>
          <p:nvPr/>
        </p:nvSpPr>
        <p:spPr>
          <a:xfrm>
            <a:off x="7680960" y="2103120"/>
            <a:ext cx="3566160" cy="1737360"/>
          </a:xfrm>
          <a:prstGeom prst="rect">
            <a:avLst/>
          </a:prstGeom>
          <a:no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Angular 19</a:t>
            </a:r>
            <a:endParaRPr lang="en-US" sz="4000" dirty="0"/>
          </a:p>
        </p:txBody>
      </p:sp>
      <p:sp>
        <p:nvSpPr>
          <p:cNvPr id="8" name="Text 5"/>
          <p:cNvSpPr txBox="1"/>
          <p:nvPr/>
        </p:nvSpPr>
        <p:spPr>
          <a:xfrm>
            <a:off x="7680960" y="3840480"/>
            <a:ext cx="3566160" cy="1005840"/>
          </a:xfrm>
          <a:prstGeom prst="rect">
            <a:avLst/>
          </a:prstGeom>
          <a:noFill/>
          <a:ln/>
        </p:spPr>
        <p:txBody>
          <a:bodyPr wrap="square" lIns="0" tIns="0" rIns="0" bIns="0" rtlCol="0" anchor="t"/>
          <a:lstStyle/>
          <a:p>
            <a:pPr algn="ctr" indent="0" marL="0">
              <a:buNone/>
            </a:pPr>
            <a:r>
              <a:rPr lang="en-US" sz="1600" dirty="0">
                <a:solidFill>
                  <a:schemeClr val="bg1"/>
                </a:solidFill>
              </a:rPr>
              <a:t>ADF 8.0 · Node 24.11.1+ · npm 11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Generador Nx: crear el workspace y la app</a:t>
            </a:r>
            <a:endParaRPr lang="en-US" sz="3400" dirty="0"/>
          </a:p>
        </p:txBody>
      </p:sp>
      <p:sp>
        <p:nvSpPr>
          <p:cNvPr id="3" name="nxcrear-fondo"/>
          <p:cNvSpPr/>
          <p:nvPr/>
        </p:nvSpPr>
        <p:spPr>
          <a:xfrm>
            <a:off x="548640" y="1417320"/>
            <a:ext cx="7498080" cy="4663440"/>
          </a:xfrm>
          <a:prstGeom prst="roundRect">
            <a:avLst>
              <a:gd name="adj" fmla="val 1569"/>
            </a:avLst>
          </a:prstGeom>
          <a:solidFill>
            <a:schemeClr val="tx2"/>
          </a:solidFill>
          <a:ln/>
        </p:spPr>
      </p:sp>
      <p:sp>
        <p:nvSpPr>
          <p:cNvPr id="4" name="nxcrear-codigo"/>
          <p:cNvSpPr txBox="1"/>
          <p:nvPr/>
        </p:nvSpPr>
        <p:spPr>
          <a:xfrm>
            <a:off x="777240" y="1581912"/>
            <a:ext cx="7040880" cy="43342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24</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create-nx-workspace@latest adf-workspace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--preset=apps --nxCloud=skip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--packageManager=npm --no-interactive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adf-workspace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nx add @alfresco/adf-generators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nx g @alfresco/adf-generators:template-app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--name=template --template=acs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--authType=BASIC --provider=ECM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--no-interactive</a:t>
            </a:r>
            <a:endParaRPr lang="en-US" sz="1400" dirty="0"/>
          </a:p>
        </p:txBody>
      </p:sp>
      <p:sp>
        <p:nvSpPr>
          <p:cNvPr id="5" name="Text 3"/>
          <p:cNvSpPr txBox="1"/>
          <p:nvPr/>
        </p:nvSpPr>
        <p:spPr>
          <a:xfrm>
            <a:off x="8412480" y="1417320"/>
            <a:ext cx="3200400" cy="457200"/>
          </a:xfrm>
          <a:prstGeom prst="rect">
            <a:avLst/>
          </a:prstGeom>
          <a:noFill/>
          <a:ln/>
        </p:spPr>
        <p:txBody>
          <a:bodyPr wrap="square" lIns="0" tIns="0" rIns="0" bIns="0" rtlCol="0" anchor="ctr"/>
          <a:lstStyle/>
          <a:p>
            <a:pPr indent="0" marL="0">
              <a:buNone/>
            </a:pPr>
            <a:r>
              <a:rPr lang="en-US" sz="2000" b="1" dirty="0">
                <a:solidFill>
                  <a:schemeClr val="tx2"/>
                </a:solidFill>
              </a:rPr>
              <a:t>Opciones</a:t>
            </a:r>
            <a:endParaRPr lang="en-US" sz="2000" dirty="0"/>
          </a:p>
        </p:txBody>
      </p:sp>
      <p:sp>
        <p:nvSpPr>
          <p:cNvPr id="6" name="nxopt---template"/>
          <p:cNvSpPr/>
          <p:nvPr/>
        </p:nvSpPr>
        <p:spPr>
          <a:xfrm>
            <a:off x="8412480" y="1965960"/>
            <a:ext cx="3200400" cy="1188720"/>
          </a:xfrm>
          <a:prstGeom prst="roundRect">
            <a:avLst>
              <a:gd name="adj" fmla="val 7692"/>
            </a:avLst>
          </a:prstGeom>
          <a:solidFill>
            <a:schemeClr val="bg2"/>
          </a:solidFill>
          <a:ln/>
        </p:spPr>
      </p:sp>
      <p:sp>
        <p:nvSpPr>
          <p:cNvPr id="7" name="Text 5"/>
          <p:cNvSpPr txBox="1"/>
          <p:nvPr/>
        </p:nvSpPr>
        <p:spPr>
          <a:xfrm>
            <a:off x="8595360" y="2103120"/>
            <a:ext cx="28346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ourier New" pitchFamily="34" charset="0"/>
                <a:ea typeface="Courier New" pitchFamily="34" charset="-122"/>
                <a:cs typeface="Courier New" pitchFamily="34" charset="-120"/>
              </a:rPr>
              <a:t>--template</a:t>
            </a:r>
            <a:endParaRPr lang="en-US" sz="1600" dirty="0"/>
          </a:p>
        </p:txBody>
      </p:sp>
      <p:sp>
        <p:nvSpPr>
          <p:cNvPr id="8" name="Text 6"/>
          <p:cNvSpPr txBox="1"/>
          <p:nvPr/>
        </p:nvSpPr>
        <p:spPr>
          <a:xfrm>
            <a:off x="8595360" y="2468880"/>
            <a:ext cx="2834640" cy="594360"/>
          </a:xfrm>
          <a:prstGeom prst="rect">
            <a:avLst/>
          </a:prstGeom>
          <a:noFill/>
          <a:ln/>
        </p:spPr>
        <p:txBody>
          <a:bodyPr wrap="square" lIns="0" tIns="0" rIns="0" bIns="0" rtlCol="0" anchor="t"/>
          <a:lstStyle/>
          <a:p>
            <a:pPr indent="0" marL="0">
              <a:buNone/>
            </a:pPr>
            <a:r>
              <a:rPr lang="en-US" sz="1400" dirty="0">
                <a:solidFill>
                  <a:schemeClr val="tx1"/>
                </a:solidFill>
              </a:rPr>
              <a:t>empty, acs, aps, acs-aps, automate, apa, acs-apa</a:t>
            </a:r>
            <a:endParaRPr lang="en-US" sz="1400" dirty="0"/>
          </a:p>
        </p:txBody>
      </p:sp>
      <p:sp>
        <p:nvSpPr>
          <p:cNvPr id="9" name="nxopt---authType"/>
          <p:cNvSpPr/>
          <p:nvPr/>
        </p:nvSpPr>
        <p:spPr>
          <a:xfrm>
            <a:off x="8412480" y="3337560"/>
            <a:ext cx="3200400" cy="1188720"/>
          </a:xfrm>
          <a:prstGeom prst="roundRect">
            <a:avLst>
              <a:gd name="adj" fmla="val 7692"/>
            </a:avLst>
          </a:prstGeom>
          <a:solidFill>
            <a:schemeClr val="bg2"/>
          </a:solidFill>
          <a:ln/>
        </p:spPr>
      </p:sp>
      <p:sp>
        <p:nvSpPr>
          <p:cNvPr id="10" name="Text 8"/>
          <p:cNvSpPr txBox="1"/>
          <p:nvPr/>
        </p:nvSpPr>
        <p:spPr>
          <a:xfrm>
            <a:off x="8595360" y="3474720"/>
            <a:ext cx="28346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ourier New" pitchFamily="34" charset="0"/>
                <a:ea typeface="Courier New" pitchFamily="34" charset="-122"/>
                <a:cs typeface="Courier New" pitchFamily="34" charset="-120"/>
              </a:rPr>
              <a:t>--authType</a:t>
            </a:r>
            <a:endParaRPr lang="en-US" sz="1600" dirty="0"/>
          </a:p>
        </p:txBody>
      </p:sp>
      <p:sp>
        <p:nvSpPr>
          <p:cNvPr id="11" name="Text 9"/>
          <p:cNvSpPr txBox="1"/>
          <p:nvPr/>
        </p:nvSpPr>
        <p:spPr>
          <a:xfrm>
            <a:off x="8595360" y="3840480"/>
            <a:ext cx="2834640" cy="594360"/>
          </a:xfrm>
          <a:prstGeom prst="rect">
            <a:avLst/>
          </a:prstGeom>
          <a:noFill/>
          <a:ln/>
        </p:spPr>
        <p:txBody>
          <a:bodyPr wrap="square" lIns="0" tIns="0" rIns="0" bIns="0" rtlCol="0" anchor="t"/>
          <a:lstStyle/>
          <a:p>
            <a:pPr indent="0" marL="0">
              <a:buNone/>
            </a:pPr>
            <a:r>
              <a:rPr lang="en-US" sz="1400" dirty="0">
                <a:solidFill>
                  <a:schemeClr val="tx1"/>
                </a:solidFill>
              </a:rPr>
              <a:t>BASIC u OAUTH</a:t>
            </a:r>
            <a:endParaRPr lang="en-US" sz="1400" dirty="0"/>
          </a:p>
        </p:txBody>
      </p:sp>
      <p:sp>
        <p:nvSpPr>
          <p:cNvPr id="12" name="nxopt---provider"/>
          <p:cNvSpPr/>
          <p:nvPr/>
        </p:nvSpPr>
        <p:spPr>
          <a:xfrm>
            <a:off x="8412480" y="4709160"/>
            <a:ext cx="3200400" cy="1188720"/>
          </a:xfrm>
          <a:prstGeom prst="roundRect">
            <a:avLst>
              <a:gd name="adj" fmla="val 7692"/>
            </a:avLst>
          </a:prstGeom>
          <a:solidFill>
            <a:schemeClr val="bg2"/>
          </a:solidFill>
          <a:ln/>
        </p:spPr>
      </p:sp>
      <p:sp>
        <p:nvSpPr>
          <p:cNvPr id="13" name="Text 11"/>
          <p:cNvSpPr txBox="1"/>
          <p:nvPr/>
        </p:nvSpPr>
        <p:spPr>
          <a:xfrm>
            <a:off x="8595360" y="4846320"/>
            <a:ext cx="28346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ourier New" pitchFamily="34" charset="0"/>
                <a:ea typeface="Courier New" pitchFamily="34" charset="-122"/>
                <a:cs typeface="Courier New" pitchFamily="34" charset="-120"/>
              </a:rPr>
              <a:t>--provider</a:t>
            </a:r>
            <a:endParaRPr lang="en-US" sz="1600" dirty="0"/>
          </a:p>
        </p:txBody>
      </p:sp>
      <p:sp>
        <p:nvSpPr>
          <p:cNvPr id="14" name="Text 12"/>
          <p:cNvSpPr txBox="1"/>
          <p:nvPr/>
        </p:nvSpPr>
        <p:spPr>
          <a:xfrm>
            <a:off x="8595360" y="5212080"/>
            <a:ext cx="2834640" cy="594360"/>
          </a:xfrm>
          <a:prstGeom prst="rect">
            <a:avLst/>
          </a:prstGeom>
          <a:noFill/>
          <a:ln/>
        </p:spPr>
        <p:txBody>
          <a:bodyPr wrap="square" lIns="0" tIns="0" rIns="0" bIns="0" rtlCol="0" anchor="t"/>
          <a:lstStyle/>
          <a:p>
            <a:pPr indent="0" marL="0">
              <a:buNone/>
            </a:pPr>
            <a:r>
              <a:rPr lang="en-US" sz="1400" dirty="0">
                <a:solidFill>
                  <a:schemeClr val="tx1"/>
                </a:solidFill>
              </a:rPr>
              <a:t>ECM, BPM o ALL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Generador Nx: configurar y ejecutar</a:t>
            </a:r>
            <a:endParaRPr lang="en-US" sz="3400" dirty="0"/>
          </a:p>
        </p:txBody>
      </p:sp>
      <p:sp>
        <p:nvSpPr>
          <p:cNvPr id="3" name="nxproxy-fondo"/>
          <p:cNvSpPr/>
          <p:nvPr/>
        </p:nvSpPr>
        <p:spPr>
          <a:xfrm>
            <a:off x="548640" y="1417320"/>
            <a:ext cx="5486400" cy="2194560"/>
          </a:xfrm>
          <a:prstGeom prst="roundRect">
            <a:avLst>
              <a:gd name="adj" fmla="val 3333"/>
            </a:avLst>
          </a:prstGeom>
          <a:solidFill>
            <a:schemeClr val="tx2"/>
          </a:solidFill>
          <a:ln/>
        </p:spPr>
      </p:sp>
      <p:sp>
        <p:nvSpPr>
          <p:cNvPr id="4" name="nxproxy-codigo"/>
          <p:cNvSpPr txBox="1"/>
          <p:nvPr/>
        </p:nvSpPr>
        <p:spPr>
          <a:xfrm>
            <a:off x="777240" y="1581912"/>
            <a:ext cx="5029200" cy="186537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template\proxy.conf.js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const ecmHost = 'http://localhost:8080';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const bpmHost = '';   // solo con APS</a:t>
            </a:r>
            <a:endParaRPr lang="en-US" sz="1400" dirty="0"/>
          </a:p>
        </p:txBody>
      </p:sp>
      <p:sp>
        <p:nvSpPr>
          <p:cNvPr id="5" name="nxrun-fondo"/>
          <p:cNvSpPr/>
          <p:nvPr/>
        </p:nvSpPr>
        <p:spPr>
          <a:xfrm>
            <a:off x="548640" y="3886200"/>
            <a:ext cx="5486400" cy="2194560"/>
          </a:xfrm>
          <a:prstGeom prst="roundRect">
            <a:avLst>
              <a:gd name="adj" fmla="val 3333"/>
            </a:avLst>
          </a:prstGeom>
          <a:solidFill>
            <a:schemeClr val="tx2"/>
          </a:solidFill>
          <a:ln/>
        </p:spPr>
      </p:sp>
      <p:sp>
        <p:nvSpPr>
          <p:cNvPr id="6" name="nxrun-codigo"/>
          <p:cNvSpPr txBox="1"/>
          <p:nvPr/>
        </p:nvSpPr>
        <p:spPr>
          <a:xfrm>
            <a:off x="777240" y="4050792"/>
            <a:ext cx="5029200" cy="186537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template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install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~2 min, aviso ERESOLVE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start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nx serve template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run build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nx build template</a:t>
            </a:r>
            <a:endParaRPr lang="en-US" sz="1400" dirty="0"/>
          </a:p>
        </p:txBody>
      </p:sp>
      <p:sp>
        <p:nvSpPr>
          <p:cNvPr id="7" name="Text 5"/>
          <p:cNvSpPr txBox="1"/>
          <p:nvPr/>
        </p:nvSpPr>
        <p:spPr>
          <a:xfrm>
            <a:off x="6400800" y="1417320"/>
            <a:ext cx="5212080" cy="457200"/>
          </a:xfrm>
          <a:prstGeom prst="rect">
            <a:avLst/>
          </a:prstGeom>
          <a:noFill/>
          <a:ln/>
        </p:spPr>
        <p:txBody>
          <a:bodyPr wrap="square" lIns="0" tIns="0" rIns="0" bIns="0" rtlCol="0" anchor="ctr"/>
          <a:lstStyle/>
          <a:p>
            <a:pPr indent="0" marL="0">
              <a:buNone/>
            </a:pPr>
            <a:r>
              <a:rPr lang="en-US" sz="2000" b="1" dirty="0">
                <a:solidFill>
                  <a:schemeClr val="tx2"/>
                </a:solidFill>
              </a:rPr>
              <a:t>La app generada</a:t>
            </a:r>
            <a:endParaRPr lang="en-US" sz="2000" dirty="0"/>
          </a:p>
        </p:txBody>
      </p:sp>
      <p:sp>
        <p:nvSpPr>
          <p:cNvPr id="8" name="Text 6"/>
          <p:cNvSpPr txBox="1"/>
          <p:nvPr/>
        </p:nvSpPr>
        <p:spPr>
          <a:xfrm>
            <a:off x="6400800" y="1965960"/>
            <a:ext cx="5212080" cy="41148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Es un proyecto npm propio dentro del workspace (Nx 21 + Angular 19)</a:t>
            </a:r>
            <a:endParaRPr lang="en-US" sz="1600" dirty="0"/>
          </a:p>
          <a:p>
            <a:pPr marL="342900" indent="-342900">
              <a:spcAft>
                <a:spcPts val="1000"/>
              </a:spcAft>
              <a:buSzPct val="100000"/>
              <a:buChar char="•"/>
            </a:pPr>
            <a:r>
              <a:rPr lang="en-US" sz="1600" dirty="0">
                <a:solidFill>
                  <a:schemeClr val="tx1"/>
                </a:solidFill>
              </a:rPr>
              <a:t>app.config.ts standalone con importProvidersFrom(AuthModule, CoreModule, ContentModule)</a:t>
            </a:r>
            <a:endParaRPr lang="en-US" sz="1600" dirty="0"/>
          </a:p>
          <a:p>
            <a:pPr marL="342900" indent="-342900">
              <a:spcAft>
                <a:spcPts val="1000"/>
              </a:spcAft>
              <a:buSzPct val="100000"/>
              <a:buChar char="•"/>
            </a:pPr>
            <a:r>
              <a:rPr lang="en-US" sz="1600" dirty="0">
                <a:solidFill>
                  <a:schemeClr val="tx1"/>
                </a:solidFill>
              </a:rPr>
              <a:t>Rutas: login, home, documents, files/:nodeId/view</a:t>
            </a:r>
            <a:endParaRPr lang="en-US" sz="1600" dirty="0"/>
          </a:p>
          <a:p>
            <a:pPr marL="342900" indent="-342900">
              <a:spcAft>
                <a:spcPts val="1000"/>
              </a:spcAft>
              <a:buSzPct val="100000"/>
              <a:buChar char="•"/>
            </a:pPr>
            <a:r>
              <a:rPr lang="en-US" sz="1600" dirty="0">
                <a:solidFill>
                  <a:schemeClr val="tx1"/>
                </a:solidFill>
              </a:rPr>
              <a:t>Layout con menú lateral (adf-sidenav-layout)</a:t>
            </a:r>
            <a:endParaRPr lang="en-US" sz="1600" dirty="0"/>
          </a:p>
          <a:p>
            <a:pPr marL="342900" indent="-342900">
              <a:spcAft>
                <a:spcPts val="1000"/>
              </a:spcAft>
              <a:buSzPct val="100000"/>
              <a:buChar char="•"/>
            </a:pPr>
            <a:r>
              <a:rPr lang="en-US" sz="1600" dirty="0">
                <a:solidFill>
                  <a:schemeClr val="tx1"/>
                </a:solidFill>
              </a:rPr>
              <a:t>Tema en theme.scss, colors.scss, variables.scss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Tres trampas de la documentación oficial</a:t>
            </a:r>
            <a:endParaRPr lang="en-US" sz="3400" dirty="0"/>
          </a:p>
        </p:txBody>
      </p:sp>
      <p:sp>
        <p:nvSpPr>
          <p:cNvPr id="3" name="trampa-Falta @alfresco"/>
          <p:cNvSpPr/>
          <p:nvPr/>
        </p:nvSpPr>
        <p:spPr>
          <a:xfrm>
            <a:off x="548640" y="1417320"/>
            <a:ext cx="3520440" cy="4663440"/>
          </a:xfrm>
          <a:prstGeom prst="roundRect">
            <a:avLst>
              <a:gd name="adj" fmla="val 2597"/>
            </a:avLst>
          </a:prstGeom>
          <a:solidFill>
            <a:schemeClr val="bg2"/>
          </a:solidFill>
          <a:ln/>
        </p:spPr>
      </p:sp>
      <p:sp>
        <p:nvSpPr>
          <p:cNvPr id="4" name="trampa-Falta @alfresco-circulo"/>
          <p:cNvSpPr/>
          <p:nvPr/>
        </p:nvSpPr>
        <p:spPr>
          <a:xfrm>
            <a:off x="822960" y="1691640"/>
            <a:ext cx="731520" cy="731520"/>
          </a:xfrm>
          <a:prstGeom prst="ellipse">
            <a:avLst/>
          </a:prstGeom>
          <a:solidFill>
            <a:schemeClr val="accent5"/>
          </a:solidFill>
          <a:ln/>
        </p:spPr>
      </p:sp>
      <p:pic>
        <p:nvPicPr>
          <p:cNvPr id="5" name="trampa-Falta @alfresco-icono"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822960" y="2606040"/>
            <a:ext cx="2971800" cy="457200"/>
          </a:xfrm>
          <a:prstGeom prst="rect">
            <a:avLst/>
          </a:prstGeom>
          <a:noFill/>
          <a:ln/>
        </p:spPr>
        <p:txBody>
          <a:bodyPr wrap="square" lIns="0" tIns="0" rIns="0" bIns="0" rtlCol="0" anchor="ctr"/>
          <a:lstStyle/>
          <a:p>
            <a:pPr indent="0" marL="0">
              <a:buNone/>
            </a:pPr>
            <a:r>
              <a:rPr lang="en-US" sz="2000" b="1" dirty="0">
                <a:solidFill>
                  <a:schemeClr val="tx2"/>
                </a:solidFill>
              </a:rPr>
              <a:t>Falta @alfresco</a:t>
            </a:r>
            <a:endParaRPr lang="en-US" sz="2000" dirty="0"/>
          </a:p>
        </p:txBody>
      </p:sp>
      <p:sp>
        <p:nvSpPr>
          <p:cNvPr id="7" name="Text 4"/>
          <p:cNvSpPr txBox="1"/>
          <p:nvPr/>
        </p:nvSpPr>
        <p:spPr>
          <a:xfrm>
            <a:off x="822960" y="3108960"/>
            <a:ext cx="2971800" cy="640080"/>
          </a:xfrm>
          <a:prstGeom prst="rect">
            <a:avLst/>
          </a:prstGeom>
          <a:noFill/>
          <a:ln/>
        </p:spPr>
        <p:txBody>
          <a:bodyPr wrap="square" lIns="0" tIns="0" rIns="0" bIns="0" rtlCol="0" anchor="t"/>
          <a:lstStyle/>
          <a:p>
            <a:pPr indent="0" marL="0">
              <a:buNone/>
            </a:pPr>
            <a:r>
              <a:rPr lang="en-US" sz="1400" dirty="0">
                <a:solidFill>
                  <a:schemeClr val="tx1"/>
                </a:solidFill>
              </a:rPr>
              <a:t>El blog y docs.hyland.com dicen:</a:t>
            </a:r>
            <a:endParaRPr lang="en-US" sz="1400" dirty="0"/>
          </a:p>
        </p:txBody>
      </p:sp>
      <p:sp>
        <p:nvSpPr>
          <p:cNvPr id="8" name="Text 5"/>
          <p:cNvSpPr txBox="1"/>
          <p:nvPr/>
        </p:nvSpPr>
        <p:spPr>
          <a:xfrm>
            <a:off x="777240" y="3749040"/>
            <a:ext cx="3063240" cy="73152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nx generate</a:t>
            </a:r>
            <a:endParaRPr lang="en-US" sz="1300" dirty="0"/>
          </a:p>
          <a:p>
            <a:pPr indent="0" marL="0">
              <a:buNone/>
            </a:pPr>
            <a:r>
              <a:rPr lang="en-US" sz="1300" dirty="0">
                <a:solidFill>
                  <a:schemeClr val="accent5"/>
                </a:solidFill>
                <a:latin typeface="Courier New" pitchFamily="34" charset="0"/>
                <a:ea typeface="Courier New" pitchFamily="34" charset="-122"/>
                <a:cs typeface="Courier New" pitchFamily="34" charset="-120"/>
              </a:rPr>
              <a:t>/adf-generators:...</a:t>
            </a:r>
            <a:endParaRPr lang="en-US" sz="1300" dirty="0"/>
          </a:p>
        </p:txBody>
      </p:sp>
      <p:sp>
        <p:nvSpPr>
          <p:cNvPr id="9" name="Text 6"/>
          <p:cNvSpPr txBox="1"/>
          <p:nvPr/>
        </p:nvSpPr>
        <p:spPr>
          <a:xfrm>
            <a:off x="822960" y="4526280"/>
            <a:ext cx="2971800" cy="1371600"/>
          </a:xfrm>
          <a:prstGeom prst="rect">
            <a:avLst/>
          </a:prstGeom>
          <a:noFill/>
          <a:ln/>
        </p:spPr>
        <p:txBody>
          <a:bodyPr wrap="square" lIns="0" tIns="0" rIns="0" bIns="0" rtlCol="0" anchor="t"/>
          <a:lstStyle/>
          <a:p>
            <a:pPr indent="0" marL="0">
              <a:buNone/>
            </a:pPr>
            <a:r>
              <a:rPr lang="en-US" sz="1400" dirty="0">
                <a:solidFill>
                  <a:schemeClr val="tx1"/>
                </a:solidFill>
              </a:rPr>
              <a:t>Correcto: @alfresco/adf-generators:template-app</a:t>
            </a:r>
            <a:endParaRPr lang="en-US" sz="1400" dirty="0"/>
          </a:p>
        </p:txBody>
      </p:sp>
      <p:sp>
        <p:nvSpPr>
          <p:cNvPr id="10" name="trampa-build-angular sobra"/>
          <p:cNvSpPr/>
          <p:nvPr/>
        </p:nvSpPr>
        <p:spPr>
          <a:xfrm>
            <a:off x="4320540" y="1417320"/>
            <a:ext cx="3520440" cy="4663440"/>
          </a:xfrm>
          <a:prstGeom prst="roundRect">
            <a:avLst>
              <a:gd name="adj" fmla="val 2597"/>
            </a:avLst>
          </a:prstGeom>
          <a:solidFill>
            <a:schemeClr val="bg2"/>
          </a:solidFill>
          <a:ln/>
        </p:spPr>
      </p:sp>
      <p:sp>
        <p:nvSpPr>
          <p:cNvPr id="11" name="trampa-build-angular sobra-circulo"/>
          <p:cNvSpPr/>
          <p:nvPr/>
        </p:nvSpPr>
        <p:spPr>
          <a:xfrm>
            <a:off x="4594860" y="1691640"/>
            <a:ext cx="731520" cy="731520"/>
          </a:xfrm>
          <a:prstGeom prst="ellipse">
            <a:avLst/>
          </a:prstGeom>
          <a:solidFill>
            <a:schemeClr val="accent5"/>
          </a:solidFill>
          <a:ln/>
        </p:spPr>
      </p:sp>
      <p:pic>
        <p:nvPicPr>
          <p:cNvPr id="12" name="trampa-build-angular sobra-icono" descr="preencoded.png">    </p:cNvPr>
          <p:cNvPicPr>
            <a:picLocks noChangeAspect="1"/>
          </p:cNvPicPr>
          <p:nvPr/>
        </p:nvPicPr>
        <p:blipFill>
          <a:blip r:embed="rId2"/>
          <a:stretch>
            <a:fillRect/>
          </a:stretch>
        </p:blipFill>
        <p:spPr>
          <a:xfrm>
            <a:off x="4777740" y="1874520"/>
            <a:ext cx="365760" cy="365760"/>
          </a:xfrm>
          <a:prstGeom prst="rect">
            <a:avLst/>
          </a:prstGeom>
        </p:spPr>
      </p:pic>
      <p:sp>
        <p:nvSpPr>
          <p:cNvPr id="13" name="Text 9"/>
          <p:cNvSpPr txBox="1"/>
          <p:nvPr/>
        </p:nvSpPr>
        <p:spPr>
          <a:xfrm>
            <a:off x="4594860" y="2606040"/>
            <a:ext cx="2971800" cy="457200"/>
          </a:xfrm>
          <a:prstGeom prst="rect">
            <a:avLst/>
          </a:prstGeom>
          <a:noFill/>
          <a:ln/>
        </p:spPr>
        <p:txBody>
          <a:bodyPr wrap="square" lIns="0" tIns="0" rIns="0" bIns="0" rtlCol="0" anchor="ctr"/>
          <a:lstStyle/>
          <a:p>
            <a:pPr indent="0" marL="0">
              <a:buNone/>
            </a:pPr>
            <a:r>
              <a:rPr lang="en-US" sz="2000" b="1" dirty="0">
                <a:solidFill>
                  <a:schemeClr val="tx2"/>
                </a:solidFill>
              </a:rPr>
              <a:t>build-angular sobra</a:t>
            </a:r>
            <a:endParaRPr lang="en-US" sz="2000" dirty="0"/>
          </a:p>
        </p:txBody>
      </p:sp>
      <p:sp>
        <p:nvSpPr>
          <p:cNvPr id="14" name="Text 10"/>
          <p:cNvSpPr txBox="1"/>
          <p:nvPr/>
        </p:nvSpPr>
        <p:spPr>
          <a:xfrm>
            <a:off x="4594860" y="3108960"/>
            <a:ext cx="2971800" cy="640080"/>
          </a:xfrm>
          <a:prstGeom prst="rect">
            <a:avLst/>
          </a:prstGeom>
          <a:noFill/>
          <a:ln/>
        </p:spPr>
        <p:txBody>
          <a:bodyPr wrap="square" lIns="0" tIns="0" rIns="0" bIns="0" rtlCol="0" anchor="t"/>
          <a:lstStyle/>
          <a:p>
            <a:pPr indent="0" marL="0">
              <a:buNone/>
            </a:pPr>
            <a:r>
              <a:rPr lang="en-US" sz="1400" dirty="0">
                <a:solidFill>
                  <a:schemeClr val="tx1"/>
                </a:solidFill>
              </a:rPr>
              <a:t>Indican instalar antes:</a:t>
            </a:r>
            <a:endParaRPr lang="en-US" sz="1400" dirty="0"/>
          </a:p>
        </p:txBody>
      </p:sp>
      <p:sp>
        <p:nvSpPr>
          <p:cNvPr id="15" name="Text 11"/>
          <p:cNvSpPr txBox="1"/>
          <p:nvPr/>
        </p:nvSpPr>
        <p:spPr>
          <a:xfrm>
            <a:off x="4549140" y="3749040"/>
            <a:ext cx="3063240" cy="73152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npm i -D</a:t>
            </a:r>
            <a:endParaRPr lang="en-US" sz="1300" dirty="0"/>
          </a:p>
          <a:p>
            <a:pPr indent="0" marL="0">
              <a:buNone/>
            </a:pPr>
            <a:r>
              <a:rPr lang="en-US" sz="1300" dirty="0">
                <a:solidFill>
                  <a:schemeClr val="accent5"/>
                </a:solidFill>
                <a:latin typeface="Courier New" pitchFamily="34" charset="0"/>
                <a:ea typeface="Courier New" pitchFamily="34" charset="-122"/>
                <a:cs typeface="Courier New" pitchFamily="34" charset="-120"/>
              </a:rPr>
              <a:t>@angular-devkit/build-angular</a:t>
            </a:r>
            <a:endParaRPr lang="en-US" sz="1300" dirty="0"/>
          </a:p>
        </p:txBody>
      </p:sp>
      <p:sp>
        <p:nvSpPr>
          <p:cNvPr id="16" name="Text 12"/>
          <p:cNvSpPr txBox="1"/>
          <p:nvPr/>
        </p:nvSpPr>
        <p:spPr>
          <a:xfrm>
            <a:off x="4594860" y="4526280"/>
            <a:ext cx="2971800" cy="1371600"/>
          </a:xfrm>
          <a:prstGeom prst="rect">
            <a:avLst/>
          </a:prstGeom>
          <a:noFill/>
          <a:ln/>
        </p:spPr>
        <p:txBody>
          <a:bodyPr wrap="square" lIns="0" tIns="0" rIns="0" bIns="0" rtlCol="0" anchor="t"/>
          <a:lstStyle/>
          <a:p>
            <a:pPr indent="0" marL="0">
              <a:buNone/>
            </a:pPr>
            <a:r>
              <a:rPr lang="en-US" sz="1400" dirty="0">
                <a:solidFill>
                  <a:schemeClr val="tx1"/>
                </a:solidFill>
              </a:rPr>
              <a:t>El template ya lo trae (19.2.15). Sin versión instala la última y rompe todo.</a:t>
            </a:r>
            <a:endParaRPr lang="en-US" sz="1400" dirty="0"/>
          </a:p>
        </p:txBody>
      </p:sp>
      <p:sp>
        <p:nvSpPr>
          <p:cNvPr id="17" name="trampa-Node 22 o 24"/>
          <p:cNvSpPr/>
          <p:nvPr/>
        </p:nvSpPr>
        <p:spPr>
          <a:xfrm>
            <a:off x="8092440" y="1417320"/>
            <a:ext cx="3520440" cy="4663440"/>
          </a:xfrm>
          <a:prstGeom prst="roundRect">
            <a:avLst>
              <a:gd name="adj" fmla="val 2597"/>
            </a:avLst>
          </a:prstGeom>
          <a:solidFill>
            <a:schemeClr val="bg2"/>
          </a:solidFill>
          <a:ln/>
        </p:spPr>
      </p:sp>
      <p:sp>
        <p:nvSpPr>
          <p:cNvPr id="18" name="trampa-Node 22 o 24-circulo"/>
          <p:cNvSpPr/>
          <p:nvPr/>
        </p:nvSpPr>
        <p:spPr>
          <a:xfrm>
            <a:off x="8366760" y="1691640"/>
            <a:ext cx="731520" cy="731520"/>
          </a:xfrm>
          <a:prstGeom prst="ellipse">
            <a:avLst/>
          </a:prstGeom>
          <a:solidFill>
            <a:schemeClr val="accent5"/>
          </a:solidFill>
          <a:ln/>
        </p:spPr>
      </p:sp>
      <p:pic>
        <p:nvPicPr>
          <p:cNvPr id="19" name="trampa-Node 22 o 24-icono" descr="preencoded.png">    </p:cNvPr>
          <p:cNvPicPr>
            <a:picLocks noChangeAspect="1"/>
          </p:cNvPicPr>
          <p:nvPr/>
        </p:nvPicPr>
        <p:blipFill>
          <a:blip r:embed="rId3"/>
          <a:stretch>
            <a:fillRect/>
          </a:stretch>
        </p:blipFill>
        <p:spPr>
          <a:xfrm>
            <a:off x="8549640" y="1874520"/>
            <a:ext cx="365760" cy="365760"/>
          </a:xfrm>
          <a:prstGeom prst="rect">
            <a:avLst/>
          </a:prstGeom>
        </p:spPr>
      </p:pic>
      <p:sp>
        <p:nvSpPr>
          <p:cNvPr id="20" name="Text 15"/>
          <p:cNvSpPr txBox="1"/>
          <p:nvPr/>
        </p:nvSpPr>
        <p:spPr>
          <a:xfrm>
            <a:off x="8366760" y="2606040"/>
            <a:ext cx="2971800" cy="457200"/>
          </a:xfrm>
          <a:prstGeom prst="rect">
            <a:avLst/>
          </a:prstGeom>
          <a:noFill/>
          <a:ln/>
        </p:spPr>
        <p:txBody>
          <a:bodyPr wrap="square" lIns="0" tIns="0" rIns="0" bIns="0" rtlCol="0" anchor="ctr"/>
          <a:lstStyle/>
          <a:p>
            <a:pPr indent="0" marL="0">
              <a:buNone/>
            </a:pPr>
            <a:r>
              <a:rPr lang="en-US" sz="2000" b="1" dirty="0">
                <a:solidFill>
                  <a:schemeClr val="tx2"/>
                </a:solidFill>
              </a:rPr>
              <a:t>Node 22 o 24</a:t>
            </a:r>
            <a:endParaRPr lang="en-US" sz="2000" dirty="0"/>
          </a:p>
        </p:txBody>
      </p:sp>
      <p:sp>
        <p:nvSpPr>
          <p:cNvPr id="21" name="Text 16"/>
          <p:cNvSpPr txBox="1"/>
          <p:nvPr/>
        </p:nvSpPr>
        <p:spPr>
          <a:xfrm>
            <a:off x="8366760" y="3108960"/>
            <a:ext cx="2971800" cy="640080"/>
          </a:xfrm>
          <a:prstGeom prst="rect">
            <a:avLst/>
          </a:prstGeom>
          <a:noFill/>
          <a:ln/>
        </p:spPr>
        <p:txBody>
          <a:bodyPr wrap="square" lIns="0" tIns="0" rIns="0" bIns="0" rtlCol="0" anchor="t"/>
          <a:lstStyle/>
          <a:p>
            <a:pPr indent="0" marL="0">
              <a:buNone/>
            </a:pPr>
            <a:r>
              <a:rPr lang="en-US" sz="1400" dirty="0">
                <a:solidFill>
                  <a:schemeClr val="tx1"/>
                </a:solidFill>
              </a:rPr>
              <a:t>El blog pide Node 22.x; el .nvmrc del repo pide:</a:t>
            </a:r>
            <a:endParaRPr lang="en-US" sz="1400" dirty="0"/>
          </a:p>
        </p:txBody>
      </p:sp>
      <p:sp>
        <p:nvSpPr>
          <p:cNvPr id="22" name="Text 17"/>
          <p:cNvSpPr txBox="1"/>
          <p:nvPr/>
        </p:nvSpPr>
        <p:spPr>
          <a:xfrm>
            <a:off x="8321040" y="3749040"/>
            <a:ext cx="3063240" cy="731520"/>
          </a:xfrm>
          <a:prstGeom prst="rect">
            <a:avLst/>
          </a:prstGeom>
          <a:noFill/>
          <a:ln/>
        </p:spPr>
        <p:txBody>
          <a:bodyPr wrap="square" lIns="0" tIns="0" rIns="0" bIns="0" rtlCol="0" anchor="t"/>
          <a:lstStyle/>
          <a:p>
            <a:pPr indent="0" marL="0">
              <a:buNone/>
            </a:pPr>
            <a:r>
              <a:rPr lang="en-US" sz="1300" dirty="0">
                <a:solidFill>
                  <a:schemeClr val="accent5"/>
                </a:solidFill>
                <a:latin typeface="Courier New" pitchFamily="34" charset="0"/>
                <a:ea typeface="Courier New" pitchFamily="34" charset="-122"/>
                <a:cs typeface="Courier New" pitchFamily="34" charset="-120"/>
              </a:rPr>
              <a:t>24.11.1</a:t>
            </a:r>
            <a:endParaRPr lang="en-US" sz="1300" dirty="0"/>
          </a:p>
        </p:txBody>
      </p:sp>
      <p:sp>
        <p:nvSpPr>
          <p:cNvPr id="23" name="Text 18"/>
          <p:cNvSpPr txBox="1"/>
          <p:nvPr/>
        </p:nvSpPr>
        <p:spPr>
          <a:xfrm>
            <a:off x="8366760" y="4526280"/>
            <a:ext cx="2971800" cy="1371600"/>
          </a:xfrm>
          <a:prstGeom prst="rect">
            <a:avLst/>
          </a:prstGeom>
          <a:noFill/>
          <a:ln/>
        </p:spPr>
        <p:txBody>
          <a:bodyPr wrap="square" lIns="0" tIns="0" rIns="0" bIns="0" rtlCol="0" anchor="t"/>
          <a:lstStyle/>
          <a:p>
            <a:pPr indent="0" marL="0">
              <a:buNone/>
            </a:pPr>
            <a:r>
              <a:rPr lang="en-US" sz="1400" dirty="0">
                <a:solidFill>
                  <a:schemeClr val="tx1"/>
                </a:solidFill>
              </a:rPr>
              <a:t>Probado de punta a punta solo con Node 24.19.0.</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035040" cy="1188720"/>
          </a:xfrm>
          <a:prstGeom prst="rect">
            <a:avLst/>
          </a:prstGeom>
          <a:noFill/>
          <a:ln/>
        </p:spPr>
        <p:txBody>
          <a:bodyPr wrap="square" lIns="0" tIns="0" rIns="0" bIns="0" rtlCol="0" anchor="b"/>
          <a:lstStyle/>
          <a:p>
            <a:pPr algn="l" indent="0" marL="0">
              <a:buNone/>
            </a:pPr>
            <a:r>
              <a:rPr lang="en-US" sz="4000" b="1" dirty="0">
                <a:solidFill>
                  <a:schemeClr val="bg1"/>
                </a:solidFill>
              </a:rPr>
              <a:t>3 · ACA</a:t>
            </a:r>
            <a:endParaRPr lang="en-US" sz="4000" dirty="0"/>
          </a:p>
        </p:txBody>
      </p:sp>
      <p:sp>
        <p:nvSpPr>
          <p:cNvPr id="3" name="Text 0"/>
          <p:cNvSpPr/>
          <p:nvPr>
            <p:ph idx="101" type="body" hasCustomPrompt="1"/>
          </p:nvPr>
        </p:nvSpPr>
        <p:spPr>
          <a:xfrm>
            <a:off x="731520" y="3611880"/>
            <a:ext cx="6035040" cy="1463040"/>
          </a:xfrm>
          <a:prstGeom prst="rect">
            <a:avLst/>
          </a:prstGeom>
          <a:noFill/>
          <a:ln/>
        </p:spPr>
        <p:txBody>
          <a:bodyPr wrap="square" lIns="0" tIns="0" rIns="0" bIns="0" rtlCol="0" anchor="t"/>
          <a:lstStyle/>
          <a:p>
            <a:pPr algn="l" indent="0" marL="0">
              <a:buNone/>
            </a:pPr>
            <a:r>
              <a:rPr lang="en-US" sz="2000" dirty="0">
                <a:solidFill>
                  <a:schemeClr val="bg2"/>
                </a:solidFill>
              </a:rPr>
              <a:t>Alfresco Content App: la aplicación de referencia, extensible con plugins.</a:t>
            </a:r>
            <a:endParaRPr lang="en-US" sz="2000" dirty="0"/>
          </a:p>
        </p:txBody>
      </p:sp>
      <p:sp>
        <p:nvSpPr>
          <p:cNvPr id="4" name="seccion-circulo"/>
          <p:cNvSpPr/>
          <p:nvPr/>
        </p:nvSpPr>
        <p:spPr>
          <a:xfrm>
            <a:off x="731520" y="1051560"/>
            <a:ext cx="1005840" cy="1005840"/>
          </a:xfrm>
          <a:prstGeom prst="ellipse">
            <a:avLst/>
          </a:prstGeom>
          <a:solidFill>
            <a:schemeClr val="accent2"/>
          </a:solidFill>
          <a:ln/>
        </p:spPr>
      </p:sp>
      <p:pic>
        <p:nvPicPr>
          <p:cNvPr id="5" name="seccion-icono" descr="preencoded.png">    </p:cNvPr>
          <p:cNvPicPr>
            <a:picLocks noChangeAspect="1"/>
          </p:cNvPicPr>
          <p:nvPr/>
        </p:nvPicPr>
        <p:blipFill>
          <a:blip r:embed="rId1"/>
          <a:stretch>
            <a:fillRect/>
          </a:stretch>
        </p:blipFill>
        <p:spPr>
          <a:xfrm>
            <a:off x="982980" y="1303020"/>
            <a:ext cx="502920" cy="502920"/>
          </a:xfrm>
          <a:prstGeom prst="rect">
            <a:avLst/>
          </a:prstGeom>
        </p:spPr>
      </p:pic>
      <p:sp>
        <p:nvSpPr>
          <p:cNvPr id="6" name="seccion-dato"/>
          <p:cNvSpPr/>
          <p:nvPr/>
        </p:nvSpPr>
        <p:spPr>
          <a:xfrm>
            <a:off x="7498080" y="1828800"/>
            <a:ext cx="3931920" cy="3200400"/>
          </a:xfrm>
          <a:prstGeom prst="roundRect">
            <a:avLst>
              <a:gd name="adj" fmla="val 4286"/>
            </a:avLst>
          </a:prstGeom>
          <a:solidFill>
            <a:schemeClr val="accent2"/>
          </a:solidFill>
          <a:ln/>
        </p:spPr>
      </p:sp>
      <p:sp>
        <p:nvSpPr>
          <p:cNvPr id="7" name="Text 4"/>
          <p:cNvSpPr txBox="1"/>
          <p:nvPr/>
        </p:nvSpPr>
        <p:spPr>
          <a:xfrm>
            <a:off x="7680960" y="2103120"/>
            <a:ext cx="3566160" cy="1737360"/>
          </a:xfrm>
          <a:prstGeom prst="rect">
            <a:avLst/>
          </a:prstGeom>
          <a:no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Angular 20</a:t>
            </a:r>
            <a:endParaRPr lang="en-US" sz="4000" dirty="0"/>
          </a:p>
        </p:txBody>
      </p:sp>
      <p:sp>
        <p:nvSpPr>
          <p:cNvPr id="8" name="Text 5"/>
          <p:cNvSpPr txBox="1"/>
          <p:nvPr/>
        </p:nvSpPr>
        <p:spPr>
          <a:xfrm>
            <a:off x="7680960" y="3840480"/>
            <a:ext cx="3566160" cy="1005840"/>
          </a:xfrm>
          <a:prstGeom prst="rect">
            <a:avLst/>
          </a:prstGeom>
          <a:noFill/>
          <a:ln/>
        </p:spPr>
        <p:txBody>
          <a:bodyPr wrap="square" lIns="0" tIns="0" rIns="0" bIns="0" rtlCol="0" anchor="t"/>
          <a:lstStyle/>
          <a:p>
            <a:pPr algn="ctr" indent="0" marL="0">
              <a:buNone/>
            </a:pPr>
            <a:r>
              <a:rPr lang="en-US" sz="1600" dirty="0">
                <a:solidFill>
                  <a:schemeClr val="bg1"/>
                </a:solidFill>
              </a:rPr>
              <a:t>ACA 8.0.0 · ADF 9.0 · Node 24.13.1+ (master: Angular 21 + pnpm)</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ACA 8.0.0 (estable) y master (lo más nuevo)</a:t>
            </a:r>
            <a:endParaRPr lang="en-US" sz="3400" dirty="0"/>
          </a:p>
        </p:txBody>
      </p:sp>
      <p:sp>
        <p:nvSpPr>
          <p:cNvPr id="3" name="aca800-chip"/>
          <p:cNvSpPr/>
          <p:nvPr/>
        </p:nvSpPr>
        <p:spPr>
          <a:xfrm>
            <a:off x="548640" y="1371600"/>
            <a:ext cx="3108960" cy="347472"/>
          </a:xfrm>
          <a:prstGeom prst="roundRect">
            <a:avLst>
              <a:gd name="adj" fmla="val 50000"/>
            </a:avLst>
          </a:prstGeom>
          <a:solidFill>
            <a:schemeClr val="accent2"/>
          </a:solidFill>
          <a:ln/>
        </p:spPr>
      </p:sp>
      <p:sp>
        <p:nvSpPr>
          <p:cNvPr id="4" name="aca800-chip-texto"/>
          <p:cNvSpPr txBox="1"/>
          <p:nvPr/>
        </p:nvSpPr>
        <p:spPr>
          <a:xfrm>
            <a:off x="548640" y="1371600"/>
            <a:ext cx="3108960" cy="347472"/>
          </a:xfrm>
          <a:prstGeom prst="rect">
            <a:avLst/>
          </a:prstGeom>
          <a:noFill/>
          <a:ln/>
        </p:spPr>
        <p:txBody>
          <a:bodyPr wrap="square" lIns="0" tIns="0" rIns="0" bIns="0" rtlCol="0" anchor="ctr"/>
          <a:lstStyle/>
          <a:p>
            <a:pPr algn="ctr" indent="0" marL="0">
              <a:buNone/>
            </a:pPr>
            <a:r>
              <a:rPr lang="en-US" sz="1200" b="1" dirty="0">
                <a:solidFill>
                  <a:schemeClr val="bg1"/>
                </a:solidFill>
              </a:rPr>
              <a:t>8.0.0 · Angular 20 · npm</a:t>
            </a:r>
            <a:endParaRPr lang="en-US" sz="1200" dirty="0"/>
          </a:p>
        </p:txBody>
      </p:sp>
      <p:sp>
        <p:nvSpPr>
          <p:cNvPr id="5" name="aca800-fondo"/>
          <p:cNvSpPr/>
          <p:nvPr/>
        </p:nvSpPr>
        <p:spPr>
          <a:xfrm>
            <a:off x="548640" y="1874520"/>
            <a:ext cx="5394960" cy="4206240"/>
          </a:xfrm>
          <a:prstGeom prst="roundRect">
            <a:avLst>
              <a:gd name="adj" fmla="val 1739"/>
            </a:avLst>
          </a:prstGeom>
          <a:solidFill>
            <a:schemeClr val="tx2"/>
          </a:solidFill>
          <a:ln/>
        </p:spPr>
      </p:sp>
      <p:sp>
        <p:nvSpPr>
          <p:cNvPr id="6" name="aca800-codigo"/>
          <p:cNvSpPr txBox="1"/>
          <p:nvPr/>
        </p:nvSpPr>
        <p:spPr>
          <a:xfrm>
            <a:off x="777240" y="2039112"/>
            <a:ext cx="4937760" cy="38770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24</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git clone --depth 1 --branch 8.0.0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https://github.com/Alfresco/`</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alfresco-content-app.git aca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aca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Set-Content .env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'BASE_URL="http://localhost:8080"'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install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~40 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start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nx serve content-ce</a:t>
            </a:r>
            <a:endParaRPr lang="en-US" sz="1400" dirty="0"/>
          </a:p>
        </p:txBody>
      </p:sp>
      <p:sp>
        <p:nvSpPr>
          <p:cNvPr id="7" name="acamaster-chip"/>
          <p:cNvSpPr/>
          <p:nvPr/>
        </p:nvSpPr>
        <p:spPr>
          <a:xfrm>
            <a:off x="6217920" y="1371600"/>
            <a:ext cx="3291840" cy="347472"/>
          </a:xfrm>
          <a:prstGeom prst="roundRect">
            <a:avLst>
              <a:gd name="adj" fmla="val 50000"/>
            </a:avLst>
          </a:prstGeom>
          <a:solidFill>
            <a:schemeClr val="accent3"/>
          </a:solidFill>
          <a:ln/>
        </p:spPr>
      </p:sp>
      <p:sp>
        <p:nvSpPr>
          <p:cNvPr id="8" name="acamaster-chip-texto"/>
          <p:cNvSpPr txBox="1"/>
          <p:nvPr/>
        </p:nvSpPr>
        <p:spPr>
          <a:xfrm>
            <a:off x="6217920" y="1371600"/>
            <a:ext cx="3291840" cy="347472"/>
          </a:xfrm>
          <a:prstGeom prst="rect">
            <a:avLst/>
          </a:prstGeom>
          <a:noFill/>
          <a:ln/>
        </p:spPr>
        <p:txBody>
          <a:bodyPr wrap="square" lIns="0" tIns="0" rIns="0" bIns="0" rtlCol="0" anchor="ctr"/>
          <a:lstStyle/>
          <a:p>
            <a:pPr algn="ctr" indent="0" marL="0">
              <a:buNone/>
            </a:pPr>
            <a:r>
              <a:rPr lang="en-US" sz="1200" b="1" dirty="0">
                <a:solidFill>
                  <a:schemeClr val="bg1"/>
                </a:solidFill>
              </a:rPr>
              <a:t>master · Angular 21 · pnpm</a:t>
            </a:r>
            <a:endParaRPr lang="en-US" sz="1200" dirty="0"/>
          </a:p>
        </p:txBody>
      </p:sp>
      <p:sp>
        <p:nvSpPr>
          <p:cNvPr id="9" name="acamaster-fondo"/>
          <p:cNvSpPr/>
          <p:nvPr/>
        </p:nvSpPr>
        <p:spPr>
          <a:xfrm>
            <a:off x="6217920" y="1874520"/>
            <a:ext cx="5394960" cy="4206240"/>
          </a:xfrm>
          <a:prstGeom prst="roundRect">
            <a:avLst>
              <a:gd name="adj" fmla="val 1739"/>
            </a:avLst>
          </a:prstGeom>
          <a:solidFill>
            <a:schemeClr val="tx2"/>
          </a:solidFill>
          <a:ln/>
        </p:spPr>
      </p:sp>
      <p:sp>
        <p:nvSpPr>
          <p:cNvPr id="10" name="acamaster-codigo"/>
          <p:cNvSpPr txBox="1"/>
          <p:nvPr/>
        </p:nvSpPr>
        <p:spPr>
          <a:xfrm>
            <a:off x="6446520" y="2039112"/>
            <a:ext cx="4937760" cy="38770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24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&gt;= 24.13.1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corepack enable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activa pnpm 11</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git clone --depth 1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https://github.com/Alfresco/`</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alfresco-content-app.git aca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aca</a:t>
            </a:r>
            <a:endParaRPr lang="en-US" sz="1400" dirty="0"/>
          </a:p>
          <a:p>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mismo .env con BASE_URL</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pnpm install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npm queda bloqueado</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pnpm start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La guía oficial de ACA está desactualizada</a:t>
            </a:r>
            <a:endParaRPr lang="en-US" sz="3400" dirty="0"/>
          </a:p>
        </p:txBody>
      </p:sp>
      <p:graphicFrame>
        <p:nvGraphicFramePr>
          <p:cNvPr id="17" name="hyland-tabla"/>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63040"/>
                <a:gridCol w="4572000"/>
                <a:gridCol w="5029200"/>
              </a:tblGrid>
              <a:tr h="548640">
                <a:tc>
                  <a:txBody>
                    <a:bodyPr/>
                    <a:lstStyle/>
                    <a:p>
                      <a:pPr indent="0" marL="0">
                        <a:buNone/>
                      </a:pP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600" b="1" dirty="0">
                          <a:solidFill>
                            <a:srgbClr val="FFFFFF"/>
                          </a:solidFill>
                        </a:rPr>
                        <a:t>Guía de Hyland</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600" b="1" dirty="0">
                          <a:solidFill>
                            <a:srgbClr val="FFFFFF"/>
                          </a:solidFill>
                        </a:rPr>
                        <a:t>Realidad (probado)</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r>
              <a:tr h="685800">
                <a:tc>
                  <a:txBody>
                    <a:bodyPr/>
                    <a:lstStyle/>
                    <a:p>
                      <a:pPr indent="0" marL="0">
                        <a:buNone/>
                      </a:pPr>
                      <a:r>
                        <a:rPr lang="en-US" sz="1600" b="1" dirty="0">
                          <a:solidFill>
                            <a:srgbClr val="1B2631"/>
                          </a:solidFill>
                        </a:rPr>
                        <a:t>Node</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18.x</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18 para ACA 4.x/5.x · 24.13.1+ para ACA 8</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85800">
                <a:tc>
                  <a:txBody>
                    <a:bodyPr/>
                    <a:lstStyle/>
                    <a:p>
                      <a:pPr indent="0" marL="0">
                        <a:buNone/>
                      </a:pPr>
                      <a:r>
                        <a:rPr lang="en-US" sz="1600" b="1" dirty="0">
                          <a:solidFill>
                            <a:srgbClr val="1B2631"/>
                          </a:solidFill>
                        </a:rPr>
                        <a:t>Gestor</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npm</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npm hasta 8.0.0 · pnpm en master</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1005840">
                <a:tc>
                  <a:txBody>
                    <a:bodyPr/>
                    <a:lstStyle/>
                    <a:p>
                      <a:pPr indent="0" marL="0">
                        <a:buNone/>
                      </a:pPr>
                      <a:r>
                        <a:rPr lang="en-US" sz="1600" b="1" dirty="0">
                          <a:solidFill>
                            <a:srgbClr val="1B2631"/>
                          </a:solidFill>
                        </a:rPr>
                        <a:t>.env</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APP_CONFIG_ECM_HOST, APP_CONFIG_PLUGIN_AOS, APP_CONFIG_PLUGIN_CONTENT_SERVICE</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Solo BASE_URL (4.4.1, 5.3.0, 8.0.0 y master)</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4" name="hyland-nota"/>
          <p:cNvSpPr/>
          <p:nvPr/>
        </p:nvSpPr>
        <p:spPr>
          <a:xfrm>
            <a:off x="548640" y="4572000"/>
            <a:ext cx="11064240" cy="1508760"/>
          </a:xfrm>
          <a:prstGeom prst="roundRect">
            <a:avLst>
              <a:gd name="adj" fmla="val 6061"/>
            </a:avLst>
          </a:prstGeom>
          <a:solidFill>
            <a:schemeClr val="bg2"/>
          </a:solidFill>
          <a:ln/>
        </p:spPr>
      </p:sp>
      <p:sp>
        <p:nvSpPr>
          <p:cNvPr id="5" name="hyland-nota-circulo"/>
          <p:cNvSpPr/>
          <p:nvPr/>
        </p:nvSpPr>
        <p:spPr>
          <a:xfrm>
            <a:off x="822960" y="4937760"/>
            <a:ext cx="731520" cy="731520"/>
          </a:xfrm>
          <a:prstGeom prst="ellipse">
            <a:avLst/>
          </a:prstGeom>
          <a:solidFill>
            <a:schemeClr val="accent3"/>
          </a:solidFill>
          <a:ln/>
        </p:spPr>
      </p:sp>
      <p:pic>
        <p:nvPicPr>
          <p:cNvPr id="6" name="hyland-nota-icono" descr="preencoded.png">    </p:cNvPr>
          <p:cNvPicPr>
            <a:picLocks noChangeAspect="1"/>
          </p:cNvPicPr>
          <p:nvPr/>
        </p:nvPicPr>
        <p:blipFill>
          <a:blip r:embed="rId1"/>
          <a:stretch>
            <a:fillRect/>
          </a:stretch>
        </p:blipFill>
        <p:spPr>
          <a:xfrm>
            <a:off x="1005840" y="5120640"/>
            <a:ext cx="365760" cy="365760"/>
          </a:xfrm>
          <a:prstGeom prst="rect">
            <a:avLst/>
          </a:prstGeom>
        </p:spPr>
      </p:pic>
      <p:sp>
        <p:nvSpPr>
          <p:cNvPr id="7" name="Text 3"/>
          <p:cNvSpPr txBox="1"/>
          <p:nvPr/>
        </p:nvSpPr>
        <p:spPr>
          <a:xfrm>
            <a:off x="1828800" y="4754880"/>
            <a:ext cx="9509760" cy="1143000"/>
          </a:xfrm>
          <a:prstGeom prst="rect">
            <a:avLst/>
          </a:prstGeom>
          <a:noFill/>
          <a:ln/>
        </p:spPr>
        <p:txBody>
          <a:bodyPr wrap="square" lIns="0" tIns="0" rIns="0" bIns="0" rtlCol="0" anchor="ctr"/>
          <a:lstStyle/>
          <a:p>
            <a:pPr indent="0" marL="0">
              <a:buNone/>
            </a:pPr>
            <a:r>
              <a:rPr lang="en-US" sz="1600" b="1" dirty="0">
                <a:solidFill>
                  <a:schemeClr val="tx2"/>
                </a:solidFill>
              </a:rPr>
              <a:t>En la consola aparece «error loading discovery document». </a:t>
            </a:r>
            <a:pPr indent="0" marL="0">
              <a:buNone/>
            </a:pPr>
            <a:r>
              <a:rPr lang="en-US" sz="1600" dirty="0">
                <a:solidFill>
                  <a:schemeClr val="tx1"/>
                </a:solidFill>
              </a:rPr>
              <a:t>Es normal: ACA intenta leer la configuración OAuth de un Keycloak que no existe. Con authType BASIC no afecta al login.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Extender ACA sin tocar su código</a:t>
            </a:r>
            <a:endParaRPr lang="en-US" sz="3400" dirty="0"/>
          </a:p>
        </p:txBody>
      </p:sp>
      <p:sp>
        <p:nvSpPr>
          <p:cNvPr id="3" name="acaarbol-fondo"/>
          <p:cNvSpPr/>
          <p:nvPr/>
        </p:nvSpPr>
        <p:spPr>
          <a:xfrm>
            <a:off x="548640" y="1417320"/>
            <a:ext cx="5760720" cy="4663440"/>
          </a:xfrm>
          <a:prstGeom prst="roundRect">
            <a:avLst>
              <a:gd name="adj" fmla="val 1569"/>
            </a:avLst>
          </a:prstGeom>
          <a:solidFill>
            <a:schemeClr val="tx2"/>
          </a:solidFill>
          <a:ln/>
        </p:spPr>
      </p:sp>
      <p:sp>
        <p:nvSpPr>
          <p:cNvPr id="4" name="acaarbol-codigo"/>
          <p:cNvSpPr txBox="1"/>
          <p:nvPr/>
        </p:nvSpPr>
        <p:spPr>
          <a:xfrm>
            <a:off x="777240" y="1581912"/>
            <a:ext cx="5303520" cy="43342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aca/</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.env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BASE_URL</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app/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proxy.conf.js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src/</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app.config.json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app/extensions.module.ts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projects/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aca-content/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funciones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 assets/app.extensions.json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 aca-shared/</a:t>
            </a:r>
            <a:endParaRPr lang="en-US" sz="1400" dirty="0"/>
          </a:p>
        </p:txBody>
      </p:sp>
      <p:sp>
        <p:nvSpPr>
          <p:cNvPr id="5" name="Text 3"/>
          <p:cNvSpPr txBox="1"/>
          <p:nvPr/>
        </p:nvSpPr>
        <p:spPr>
          <a:xfrm>
            <a:off x="6675120" y="1417320"/>
            <a:ext cx="4937760" cy="457200"/>
          </a:xfrm>
          <a:prstGeom prst="rect">
            <a:avLst/>
          </a:prstGeom>
          <a:noFill/>
          <a:ln/>
        </p:spPr>
        <p:txBody>
          <a:bodyPr wrap="square" lIns="0" tIns="0" rIns="0" bIns="0" rtlCol="0" anchor="ctr"/>
          <a:lstStyle/>
          <a:p>
            <a:pPr indent="0" marL="0">
              <a:buNone/>
            </a:pPr>
            <a:r>
              <a:rPr lang="en-US" sz="2000" b="1" dirty="0">
                <a:solidFill>
                  <a:schemeClr val="tx2"/>
                </a:solidFill>
              </a:rPr>
              <a:t>Crear una extensión</a:t>
            </a:r>
            <a:endParaRPr lang="en-US" sz="2000" dirty="0"/>
          </a:p>
        </p:txBody>
      </p:sp>
      <p:sp>
        <p:nvSpPr>
          <p:cNvPr id="6" name="acaext-fondo"/>
          <p:cNvSpPr/>
          <p:nvPr/>
        </p:nvSpPr>
        <p:spPr>
          <a:xfrm>
            <a:off x="6675120" y="1920240"/>
            <a:ext cx="4937760" cy="1920240"/>
          </a:xfrm>
          <a:prstGeom prst="roundRect">
            <a:avLst>
              <a:gd name="adj" fmla="val 3810"/>
            </a:avLst>
          </a:prstGeom>
          <a:solidFill>
            <a:schemeClr val="tx2"/>
          </a:solidFill>
          <a:ln/>
        </p:spPr>
      </p:sp>
      <p:sp>
        <p:nvSpPr>
          <p:cNvPr id="7" name="acaext-codigo"/>
          <p:cNvSpPr txBox="1"/>
          <p:nvPr/>
        </p:nvSpPr>
        <p:spPr>
          <a:xfrm>
            <a:off x="6903720" y="2084832"/>
            <a:ext cx="4480560" cy="15910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nx add @alfresco/aca-generators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nx g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@alfresco/aca-generators:aca-extension</a:t>
            </a:r>
            <a:endParaRPr lang="en-US" sz="1400" dirty="0"/>
          </a:p>
        </p:txBody>
      </p:sp>
      <p:sp>
        <p:nvSpPr>
          <p:cNvPr id="8" name="Text 6"/>
          <p:cNvSpPr txBox="1"/>
          <p:nvPr/>
        </p:nvSpPr>
        <p:spPr>
          <a:xfrm>
            <a:off x="6675120" y="4069080"/>
            <a:ext cx="493776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Crea projects/ext y registra la librería</a:t>
            </a:r>
            <a:endParaRPr lang="en-US" sz="1500" dirty="0"/>
          </a:p>
          <a:p>
            <a:pPr marL="342900" indent="-342900">
              <a:spcAft>
                <a:spcPts val="600"/>
              </a:spcAft>
              <a:buSzPct val="100000"/>
              <a:buChar char="•"/>
            </a:pPr>
            <a:r>
              <a:rPr lang="en-US" sz="1500" dirty="0">
                <a:solidFill>
                  <a:schemeClr val="tx1"/>
                </a:solidFill>
              </a:rPr>
              <a:t>Nuevo ítem de menú que lleva a #/ext</a:t>
            </a:r>
            <a:endParaRPr lang="en-US" sz="1500" dirty="0"/>
          </a:p>
          <a:p>
            <a:pPr marL="342900" indent="-342900">
              <a:spcAft>
                <a:spcPts val="600"/>
              </a:spcAft>
              <a:buSzPct val="100000"/>
              <a:buChar char="•"/>
            </a:pPr>
            <a:r>
              <a:rPr lang="en-US" sz="1500" dirty="0">
                <a:solidFill>
                  <a:schemeClr val="tx1"/>
                </a:solidFill>
              </a:rPr>
              <a:t>Rutas, acciones y reglas se declaran en JSON</a:t>
            </a:r>
            <a:endParaRPr lang="en-US" sz="1500" dirty="0"/>
          </a:p>
        </p:txBody>
      </p:sp>
      <p:sp>
        <p:nvSpPr>
          <p:cNvPr id="9" name="Text 7"/>
          <p:cNvSpPr txBox="1"/>
          <p:nvPr/>
        </p:nvSpPr>
        <p:spPr>
          <a:xfrm>
            <a:off x="6675120" y="5623560"/>
            <a:ext cx="4937760" cy="411480"/>
          </a:xfrm>
          <a:prstGeom prst="rect">
            <a:avLst/>
          </a:prstGeom>
          <a:noFill/>
          <a:ln/>
        </p:spPr>
        <p:txBody>
          <a:bodyPr wrap="square" lIns="0" tIns="0" rIns="0" bIns="0" rtlCol="0" anchor="ctr"/>
          <a:lstStyle/>
          <a:p>
            <a:pPr indent="0" marL="0">
              <a:buNone/>
            </a:pPr>
            <a:r>
              <a:rPr lang="en-US" sz="1300" i="1" dirty="0">
                <a:solidFill>
                  <a:schemeClr val="accent6"/>
                </a:solidFill>
              </a:rPr>
              <a:t>Pasos del README del generador; no probado en el curso.</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035040" cy="1188720"/>
          </a:xfrm>
          <a:prstGeom prst="rect">
            <a:avLst/>
          </a:prstGeom>
          <a:noFill/>
          <a:ln/>
        </p:spPr>
        <p:txBody>
          <a:bodyPr wrap="square" lIns="0" tIns="0" rIns="0" bIns="0" rtlCol="0" anchor="b"/>
          <a:lstStyle/>
          <a:p>
            <a:pPr algn="l" indent="0" marL="0">
              <a:buNone/>
            </a:pPr>
            <a:r>
              <a:rPr lang="en-US" sz="4000" b="1" dirty="0">
                <a:solidFill>
                  <a:schemeClr val="bg1"/>
                </a:solidFill>
              </a:rPr>
              <a:t>4 · ADF a mano</a:t>
            </a:r>
            <a:endParaRPr lang="en-US" sz="4000" dirty="0"/>
          </a:p>
        </p:txBody>
      </p:sp>
      <p:sp>
        <p:nvSpPr>
          <p:cNvPr id="3" name="Text 0"/>
          <p:cNvSpPr/>
          <p:nvPr>
            <p:ph idx="101" type="body" hasCustomPrompt="1"/>
          </p:nvPr>
        </p:nvSpPr>
        <p:spPr>
          <a:xfrm>
            <a:off x="731520" y="3611880"/>
            <a:ext cx="6035040" cy="1463040"/>
          </a:xfrm>
          <a:prstGeom prst="rect">
            <a:avLst/>
          </a:prstGeom>
          <a:noFill/>
          <a:ln/>
        </p:spPr>
        <p:txBody>
          <a:bodyPr wrap="square" lIns="0" tIns="0" rIns="0" bIns="0" rtlCol="0" anchor="t"/>
          <a:lstStyle/>
          <a:p>
            <a:pPr algn="l" indent="0" marL="0">
              <a:buNone/>
            </a:pPr>
            <a:r>
              <a:rPr lang="en-US" sz="2000" dirty="0">
                <a:solidFill>
                  <a:schemeClr val="bg2"/>
                </a:solidFill>
              </a:rPr>
              <a:t>Agregar ADF a un proyecto Angular nuevo o existente. Única opción para la última versión de Angular.</a:t>
            </a:r>
            <a:endParaRPr lang="en-US" sz="2000" dirty="0"/>
          </a:p>
        </p:txBody>
      </p:sp>
      <p:sp>
        <p:nvSpPr>
          <p:cNvPr id="4" name="seccion-circulo"/>
          <p:cNvSpPr/>
          <p:nvPr/>
        </p:nvSpPr>
        <p:spPr>
          <a:xfrm>
            <a:off x="731520" y="1051560"/>
            <a:ext cx="1005840" cy="1005840"/>
          </a:xfrm>
          <a:prstGeom prst="ellipse">
            <a:avLst/>
          </a:prstGeom>
          <a:solidFill>
            <a:schemeClr val="accent1"/>
          </a:solidFill>
          <a:ln/>
        </p:spPr>
      </p:sp>
      <p:pic>
        <p:nvPicPr>
          <p:cNvPr id="5" name="seccion-icono" descr="preencoded.png">    </p:cNvPr>
          <p:cNvPicPr>
            <a:picLocks noChangeAspect="1"/>
          </p:cNvPicPr>
          <p:nvPr/>
        </p:nvPicPr>
        <p:blipFill>
          <a:blip r:embed="rId1"/>
          <a:stretch>
            <a:fillRect/>
          </a:stretch>
        </p:blipFill>
        <p:spPr>
          <a:xfrm>
            <a:off x="982980" y="1303020"/>
            <a:ext cx="502920" cy="502920"/>
          </a:xfrm>
          <a:prstGeom prst="rect">
            <a:avLst/>
          </a:prstGeom>
        </p:spPr>
      </p:pic>
      <p:sp>
        <p:nvSpPr>
          <p:cNvPr id="6" name="seccion-dato"/>
          <p:cNvSpPr/>
          <p:nvPr/>
        </p:nvSpPr>
        <p:spPr>
          <a:xfrm>
            <a:off x="7498080" y="1828800"/>
            <a:ext cx="3931920" cy="3200400"/>
          </a:xfrm>
          <a:prstGeom prst="roundRect">
            <a:avLst>
              <a:gd name="adj" fmla="val 4286"/>
            </a:avLst>
          </a:prstGeom>
          <a:solidFill>
            <a:schemeClr val="accent1"/>
          </a:solidFill>
          <a:ln/>
        </p:spPr>
      </p:sp>
      <p:sp>
        <p:nvSpPr>
          <p:cNvPr id="7" name="Text 4"/>
          <p:cNvSpPr txBox="1"/>
          <p:nvPr/>
        </p:nvSpPr>
        <p:spPr>
          <a:xfrm>
            <a:off x="7680960" y="2103120"/>
            <a:ext cx="3566160" cy="1737360"/>
          </a:xfrm>
          <a:prstGeom prst="rect">
            <a:avLst/>
          </a:prstGeom>
          <a:noFill/>
          <a:ln/>
        </p:spPr>
        <p:txBody>
          <a:bodyPr wrap="square" lIns="0" tIns="0" rIns="0" bIns="0" rtlCol="0" anchor="ctr"/>
          <a:lstStyle/>
          <a:p>
            <a:pPr algn="ctr" indent="0" marL="0">
              <a:buNone/>
            </a:pPr>
            <a:r>
              <a:rPr lang="en-US" sz="4000" b="1" dirty="0">
                <a:solidFill>
                  <a:schemeClr val="bg1"/>
                </a:solidFill>
                <a:latin typeface="Arial" pitchFamily="34" charset="0"/>
                <a:ea typeface="Arial" pitchFamily="34" charset="-122"/>
                <a:cs typeface="Arial" pitchFamily="34" charset="-120"/>
              </a:rPr>
              <a:t>Angular 22</a:t>
            </a:r>
            <a:endParaRPr lang="en-US" sz="4000" dirty="0"/>
          </a:p>
        </p:txBody>
      </p:sp>
      <p:sp>
        <p:nvSpPr>
          <p:cNvPr id="8" name="Text 5"/>
          <p:cNvSpPr txBox="1"/>
          <p:nvPr/>
        </p:nvSpPr>
        <p:spPr>
          <a:xfrm>
            <a:off x="7680960" y="3840480"/>
            <a:ext cx="3566160" cy="1005840"/>
          </a:xfrm>
          <a:prstGeom prst="rect">
            <a:avLst/>
          </a:prstGeom>
          <a:noFill/>
          <a:ln/>
        </p:spPr>
        <p:txBody>
          <a:bodyPr wrap="square" lIns="0" tIns="0" rIns="0" bIns="0" rtlCol="0" anchor="t"/>
          <a:lstStyle/>
          <a:p>
            <a:pPr algn="ctr" indent="0" marL="0">
              <a:buNone/>
            </a:pPr>
            <a:r>
              <a:rPr lang="en-US" sz="1600" dirty="0">
                <a:solidFill>
                  <a:schemeClr val="bg1"/>
                </a:solidFill>
              </a:rPr>
              <a:t>ADF 9.0.0 · Node 24.15+ · npm 11</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Angular 22: crear el proyecto e instalar ADF</a:t>
            </a:r>
            <a:endParaRPr lang="en-US" sz="3400" dirty="0"/>
          </a:p>
        </p:txBody>
      </p:sp>
      <p:sp>
        <p:nvSpPr>
          <p:cNvPr id="3" name="mancrear-fondo"/>
          <p:cNvSpPr/>
          <p:nvPr/>
        </p:nvSpPr>
        <p:spPr>
          <a:xfrm>
            <a:off x="548640" y="1417320"/>
            <a:ext cx="7589520" cy="4663440"/>
          </a:xfrm>
          <a:prstGeom prst="roundRect">
            <a:avLst>
              <a:gd name="adj" fmla="val 1569"/>
            </a:avLst>
          </a:prstGeom>
          <a:solidFill>
            <a:schemeClr val="tx2"/>
          </a:solidFill>
          <a:ln/>
        </p:spPr>
      </p:sp>
      <p:sp>
        <p:nvSpPr>
          <p:cNvPr id="4" name="mancrear-codigo"/>
          <p:cNvSpPr txBox="1"/>
          <p:nvPr/>
        </p:nvSpPr>
        <p:spPr>
          <a:xfrm>
            <a:off x="777240" y="1581912"/>
            <a:ext cx="7132320" cy="43342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nvm use 24                      </a:t>
            </a:r>
            <a:pPr indent="0" marL="0">
              <a:spcAft>
                <a:spcPts val="200"/>
              </a:spcAft>
              <a:buNone/>
            </a:pPr>
            <a:r>
              <a:rPr lang="en-US" sz="1400" dirty="0">
                <a:solidFill>
                  <a:schemeClr val="accent1"/>
                </a:solidFill>
                <a:latin typeface="Courier New" pitchFamily="34" charset="0"/>
                <a:ea typeface="Courier New" pitchFamily="34" charset="-122"/>
                <a:cs typeface="Courier New" pitchFamily="34" charset="-120"/>
              </a:rPr>
              <a:t># &gt;= 24.15</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@angular/cli@latest new mi-app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--style=scss --ssr=false --ai-config=none</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cd mi-app</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"legacy-peer-deps=true" | Out-File .npmrc</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npx ng add @angular/material@22</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npm install @alfresco/adf-core@9.0.0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@alfresco/adf-extensions@9.0.0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@alfresco/js-api@10.0.0 @ngx-translate/core@17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@angular/animations@22 zone.js ...</a:t>
            </a:r>
            <a:endParaRPr lang="en-US" sz="1400" dirty="0"/>
          </a:p>
        </p:txBody>
      </p:sp>
      <p:sp>
        <p:nvSpPr>
          <p:cNvPr id="5" name="manwhy-legacy-peer-deps"/>
          <p:cNvSpPr/>
          <p:nvPr/>
        </p:nvSpPr>
        <p:spPr>
          <a:xfrm>
            <a:off x="8503920" y="1417320"/>
            <a:ext cx="3108960" cy="1417320"/>
          </a:xfrm>
          <a:prstGeom prst="roundRect">
            <a:avLst>
              <a:gd name="adj" fmla="val 6452"/>
            </a:avLst>
          </a:prstGeom>
          <a:solidFill>
            <a:schemeClr val="bg2"/>
          </a:solidFill>
          <a:ln/>
        </p:spPr>
      </p:sp>
      <p:sp>
        <p:nvSpPr>
          <p:cNvPr id="6" name="Text 4"/>
          <p:cNvSpPr txBox="1"/>
          <p:nvPr/>
        </p:nvSpPr>
        <p:spPr>
          <a:xfrm>
            <a:off x="8686800" y="1554480"/>
            <a:ext cx="2743200" cy="4114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legacy-peer-deps</a:t>
            </a:r>
            <a:endParaRPr lang="en-US" sz="1600" dirty="0"/>
          </a:p>
        </p:txBody>
      </p:sp>
      <p:sp>
        <p:nvSpPr>
          <p:cNvPr id="7" name="Text 5"/>
          <p:cNvSpPr txBox="1"/>
          <p:nvPr/>
        </p:nvSpPr>
        <p:spPr>
          <a:xfrm>
            <a:off x="8686800" y="1965960"/>
            <a:ext cx="2743200" cy="731520"/>
          </a:xfrm>
          <a:prstGeom prst="rect">
            <a:avLst/>
          </a:prstGeom>
          <a:noFill/>
          <a:ln/>
        </p:spPr>
        <p:txBody>
          <a:bodyPr wrap="square" lIns="0" tIns="0" rIns="0" bIns="0" rtlCol="0" anchor="t"/>
          <a:lstStyle/>
          <a:p>
            <a:pPr indent="0" marL="0">
              <a:buNone/>
            </a:pPr>
            <a:r>
              <a:rPr lang="en-US" sz="1400" dirty="0">
                <a:solidFill>
                  <a:schemeClr val="tx1"/>
                </a:solidFill>
              </a:rPr>
              <a:t>peers de ADF desalineados (ERESOLVE)</a:t>
            </a:r>
            <a:endParaRPr lang="en-US" sz="1400" dirty="0"/>
          </a:p>
        </p:txBody>
      </p:sp>
      <p:sp>
        <p:nvSpPr>
          <p:cNvPr id="8" name="manwhy-ng add material"/>
          <p:cNvSpPr/>
          <p:nvPr/>
        </p:nvSpPr>
        <p:spPr>
          <a:xfrm>
            <a:off x="8503920" y="3040380"/>
            <a:ext cx="3108960" cy="1417320"/>
          </a:xfrm>
          <a:prstGeom prst="roundRect">
            <a:avLst>
              <a:gd name="adj" fmla="val 6452"/>
            </a:avLst>
          </a:prstGeom>
          <a:solidFill>
            <a:schemeClr val="bg2"/>
          </a:solidFill>
          <a:ln/>
        </p:spPr>
      </p:sp>
      <p:sp>
        <p:nvSpPr>
          <p:cNvPr id="9" name="Text 7"/>
          <p:cNvSpPr txBox="1"/>
          <p:nvPr/>
        </p:nvSpPr>
        <p:spPr>
          <a:xfrm>
            <a:off x="8686800" y="3177540"/>
            <a:ext cx="2743200" cy="4114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ng add material</a:t>
            </a:r>
            <a:endParaRPr lang="en-US" sz="1600" dirty="0"/>
          </a:p>
        </p:txBody>
      </p:sp>
      <p:sp>
        <p:nvSpPr>
          <p:cNvPr id="10" name="Text 8"/>
          <p:cNvSpPr txBox="1"/>
          <p:nvPr/>
        </p:nvSpPr>
        <p:spPr>
          <a:xfrm>
            <a:off x="8686800" y="3589020"/>
            <a:ext cx="2743200" cy="731520"/>
          </a:xfrm>
          <a:prstGeom prst="rect">
            <a:avLst/>
          </a:prstGeom>
          <a:noFill/>
          <a:ln/>
        </p:spPr>
        <p:txBody>
          <a:bodyPr wrap="square" lIns="0" tIns="0" rIns="0" bIns="0" rtlCol="0" anchor="t"/>
          <a:lstStyle/>
          <a:p>
            <a:pPr indent="0" marL="0">
              <a:buNone/>
            </a:pPr>
            <a:r>
              <a:rPr lang="en-US" sz="1400" dirty="0">
                <a:solidFill>
                  <a:schemeClr val="tx1"/>
                </a:solidFill>
              </a:rPr>
              <a:t>tema, Roboto y Material Icons</a:t>
            </a:r>
            <a:endParaRPr lang="en-US" sz="1400" dirty="0"/>
          </a:p>
        </p:txBody>
      </p:sp>
      <p:sp>
        <p:nvSpPr>
          <p:cNvPr id="11" name="manwhy-zone.js"/>
          <p:cNvSpPr/>
          <p:nvPr/>
        </p:nvSpPr>
        <p:spPr>
          <a:xfrm>
            <a:off x="8503920" y="4663440"/>
            <a:ext cx="3108960" cy="1417320"/>
          </a:xfrm>
          <a:prstGeom prst="roundRect">
            <a:avLst>
              <a:gd name="adj" fmla="val 6452"/>
            </a:avLst>
          </a:prstGeom>
          <a:solidFill>
            <a:schemeClr val="bg2"/>
          </a:solidFill>
          <a:ln/>
        </p:spPr>
      </p:sp>
      <p:sp>
        <p:nvSpPr>
          <p:cNvPr id="12" name="Text 10"/>
          <p:cNvSpPr txBox="1"/>
          <p:nvPr/>
        </p:nvSpPr>
        <p:spPr>
          <a:xfrm>
            <a:off x="8686800" y="4800600"/>
            <a:ext cx="2743200" cy="41148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zone.js</a:t>
            </a:r>
            <a:endParaRPr lang="en-US" sz="1600" dirty="0"/>
          </a:p>
        </p:txBody>
      </p:sp>
      <p:sp>
        <p:nvSpPr>
          <p:cNvPr id="13" name="Text 11"/>
          <p:cNvSpPr txBox="1"/>
          <p:nvPr/>
        </p:nvSpPr>
        <p:spPr>
          <a:xfrm>
            <a:off x="8686800" y="5212080"/>
            <a:ext cx="2743200" cy="731520"/>
          </a:xfrm>
          <a:prstGeom prst="rect">
            <a:avLst/>
          </a:prstGeom>
          <a:noFill/>
          <a:ln/>
        </p:spPr>
        <p:txBody>
          <a:bodyPr wrap="square" lIns="0" tIns="0" rIns="0" bIns="0" rtlCol="0" anchor="t"/>
          <a:lstStyle/>
          <a:p>
            <a:pPr indent="0" marL="0">
              <a:buNone/>
            </a:pPr>
            <a:r>
              <a:rPr lang="en-US" sz="1400" dirty="0">
                <a:solidFill>
                  <a:schemeClr val="tx1"/>
                </a:solidFill>
              </a:rPr>
              <a:t>Angular 21+ nace sin zone.js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Angular 22: configurar ADF 9</a:t>
            </a:r>
            <a:endParaRPr lang="en-US" sz="3400" dirty="0"/>
          </a:p>
        </p:txBody>
      </p:sp>
      <p:sp>
        <p:nvSpPr>
          <p:cNvPr id="3" name="manconfig-fondo"/>
          <p:cNvSpPr/>
          <p:nvPr/>
        </p:nvSpPr>
        <p:spPr>
          <a:xfrm>
            <a:off x="548640" y="1417320"/>
            <a:ext cx="6583680" cy="4663440"/>
          </a:xfrm>
          <a:prstGeom prst="roundRect">
            <a:avLst>
              <a:gd name="adj" fmla="val 1569"/>
            </a:avLst>
          </a:prstGeom>
          <a:solidFill>
            <a:schemeClr val="tx2"/>
          </a:solidFill>
          <a:ln/>
        </p:spPr>
      </p:sp>
      <p:sp>
        <p:nvSpPr>
          <p:cNvPr id="4" name="manconfig-codigo"/>
          <p:cNvSpPr txBox="1"/>
          <p:nvPr/>
        </p:nvSpPr>
        <p:spPr>
          <a:xfrm>
            <a:off x="777240" y="1581912"/>
            <a:ext cx="6126480" cy="4334256"/>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src/app/app.config.ts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export const appConfig: ApplicationConfig =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providers: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provideZoneChangeDetection(),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provideRouter(routes),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provideAnimations(),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provideAppConfig(),   // /app.config.json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provideI18N(),        // traducciones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provideCoreAuth()     // BASIC u OAuth</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7498080" y="1417320"/>
            <a:ext cx="4114800" cy="457200"/>
          </a:xfrm>
          <a:prstGeom prst="rect">
            <a:avLst/>
          </a:prstGeom>
          <a:noFill/>
          <a:ln/>
        </p:spPr>
        <p:txBody>
          <a:bodyPr wrap="square" lIns="0" tIns="0" rIns="0" bIns="0" rtlCol="0" anchor="ctr"/>
          <a:lstStyle/>
          <a:p>
            <a:pPr indent="0" marL="0">
              <a:buNone/>
            </a:pPr>
            <a:r>
              <a:rPr lang="en-US" sz="2000" b="1" dirty="0">
                <a:solidFill>
                  <a:schemeClr val="tx2"/>
                </a:solidFill>
              </a:rPr>
              <a:t>Además</a:t>
            </a:r>
            <a:endParaRPr lang="en-US" sz="2000" dirty="0"/>
          </a:p>
        </p:txBody>
      </p:sp>
      <p:pic>
        <p:nvPicPr>
          <p:cNvPr id="6" name="check-2.15" descr="preencoded.png">    </p:cNvPr>
          <p:cNvPicPr>
            <a:picLocks noChangeAspect="1"/>
          </p:cNvPicPr>
          <p:nvPr/>
        </p:nvPicPr>
        <p:blipFill>
          <a:blip r:embed="rId1"/>
          <a:stretch>
            <a:fillRect/>
          </a:stretch>
        </p:blipFill>
        <p:spPr>
          <a:xfrm>
            <a:off x="7498080" y="2029968"/>
            <a:ext cx="292608" cy="292608"/>
          </a:xfrm>
          <a:prstGeom prst="rect">
            <a:avLst/>
          </a:prstGeom>
        </p:spPr>
      </p:pic>
      <p:sp>
        <p:nvSpPr>
          <p:cNvPr id="7" name="Text 4"/>
          <p:cNvSpPr txBox="1"/>
          <p:nvPr/>
        </p:nvSpPr>
        <p:spPr>
          <a:xfrm>
            <a:off x="7909560" y="1965960"/>
            <a:ext cx="3703320" cy="420624"/>
          </a:xfrm>
          <a:prstGeom prst="rect">
            <a:avLst/>
          </a:prstGeom>
          <a:noFill/>
          <a:ln/>
        </p:spPr>
        <p:txBody>
          <a:bodyPr wrap="square" lIns="0" tIns="0" rIns="0" bIns="0" rtlCol="0" anchor="ctr"/>
          <a:lstStyle/>
          <a:p>
            <a:pPr indent="0" marL="0">
              <a:buNone/>
            </a:pPr>
            <a:r>
              <a:rPr lang="en-US" sz="1500" dirty="0">
                <a:solidFill>
                  <a:schemeClr val="tx1"/>
                </a:solidFill>
              </a:rPr>
              <a:t>angular.json → polyfills: ["zone.js"]</a:t>
            </a:r>
            <a:endParaRPr lang="en-US" sz="1500" dirty="0"/>
          </a:p>
        </p:txBody>
      </p:sp>
      <p:pic>
        <p:nvPicPr>
          <p:cNvPr id="8" name="check-2.87" descr="preencoded.png">    </p:cNvPr>
          <p:cNvPicPr>
            <a:picLocks noChangeAspect="1"/>
          </p:cNvPicPr>
          <p:nvPr/>
        </p:nvPicPr>
        <p:blipFill>
          <a:blip r:embed="rId2"/>
          <a:stretch>
            <a:fillRect/>
          </a:stretch>
        </p:blipFill>
        <p:spPr>
          <a:xfrm>
            <a:off x="7498080" y="2688336"/>
            <a:ext cx="292608" cy="292608"/>
          </a:xfrm>
          <a:prstGeom prst="rect">
            <a:avLst/>
          </a:prstGeom>
        </p:spPr>
      </p:pic>
      <p:sp>
        <p:nvSpPr>
          <p:cNvPr id="9" name="Text 5"/>
          <p:cNvSpPr txBox="1"/>
          <p:nvPr/>
        </p:nvSpPr>
        <p:spPr>
          <a:xfrm>
            <a:off x="7909560" y="2624328"/>
            <a:ext cx="3703320" cy="420624"/>
          </a:xfrm>
          <a:prstGeom prst="rect">
            <a:avLst/>
          </a:prstGeom>
          <a:noFill/>
          <a:ln/>
        </p:spPr>
        <p:txBody>
          <a:bodyPr wrap="square" lIns="0" tIns="0" rIns="0" bIns="0" rtlCol="0" anchor="ctr"/>
          <a:lstStyle/>
          <a:p>
            <a:pPr indent="0" marL="0">
              <a:buNone/>
            </a:pPr>
            <a:r>
              <a:rPr lang="en-US" sz="1500" dirty="0">
                <a:solidFill>
                  <a:schemeClr val="tx1"/>
                </a:solidFill>
              </a:rPr>
              <a:t>public/app.config.json con ecmHost y authType</a:t>
            </a:r>
            <a:endParaRPr lang="en-US" sz="1500" dirty="0"/>
          </a:p>
        </p:txBody>
      </p:sp>
      <p:pic>
        <p:nvPicPr>
          <p:cNvPr id="10" name="check-3.59" descr="preencoded.png">    </p:cNvPr>
          <p:cNvPicPr>
            <a:picLocks noChangeAspect="1"/>
          </p:cNvPicPr>
          <p:nvPr/>
        </p:nvPicPr>
        <p:blipFill>
          <a:blip r:embed="rId3"/>
          <a:stretch>
            <a:fillRect/>
          </a:stretch>
        </p:blipFill>
        <p:spPr>
          <a:xfrm>
            <a:off x="7498080" y="3346704"/>
            <a:ext cx="292608" cy="292608"/>
          </a:xfrm>
          <a:prstGeom prst="rect">
            <a:avLst/>
          </a:prstGeom>
        </p:spPr>
      </p:pic>
      <p:sp>
        <p:nvSpPr>
          <p:cNvPr id="11" name="Text 6"/>
          <p:cNvSpPr txBox="1"/>
          <p:nvPr/>
        </p:nvSpPr>
        <p:spPr>
          <a:xfrm>
            <a:off x="7909560" y="3282696"/>
            <a:ext cx="3703320" cy="420624"/>
          </a:xfrm>
          <a:prstGeom prst="rect">
            <a:avLst/>
          </a:prstGeom>
          <a:noFill/>
          <a:ln/>
        </p:spPr>
        <p:txBody>
          <a:bodyPr wrap="square" lIns="0" tIns="0" rIns="0" bIns="0" rtlCol="0" anchor="ctr"/>
          <a:lstStyle/>
          <a:p>
            <a:pPr indent="0" marL="0">
              <a:buNone/>
            </a:pPr>
            <a:r>
              <a:rPr lang="en-US" sz="1500" dirty="0">
                <a:solidFill>
                  <a:schemeClr val="tx1"/>
                </a:solidFill>
              </a:rPr>
              <a:t>Assets de adf-core/bundles/assets</a:t>
            </a:r>
            <a:endParaRPr lang="en-US" sz="1500" dirty="0"/>
          </a:p>
        </p:txBody>
      </p:sp>
      <p:pic>
        <p:nvPicPr>
          <p:cNvPr id="12" name="check-4.31" descr="preencoded.png">    </p:cNvPr>
          <p:cNvPicPr>
            <a:picLocks noChangeAspect="1"/>
          </p:cNvPicPr>
          <p:nvPr/>
        </p:nvPicPr>
        <p:blipFill>
          <a:blip r:embed="rId4"/>
          <a:stretch>
            <a:fillRect/>
          </a:stretch>
        </p:blipFill>
        <p:spPr>
          <a:xfrm>
            <a:off x="7498080" y="4005072"/>
            <a:ext cx="292608" cy="292608"/>
          </a:xfrm>
          <a:prstGeom prst="rect">
            <a:avLst/>
          </a:prstGeom>
        </p:spPr>
      </p:pic>
      <p:sp>
        <p:nvSpPr>
          <p:cNvPr id="13" name="Text 7"/>
          <p:cNvSpPr txBox="1"/>
          <p:nvPr/>
        </p:nvSpPr>
        <p:spPr>
          <a:xfrm>
            <a:off x="7909560" y="3941064"/>
            <a:ext cx="3703320" cy="420624"/>
          </a:xfrm>
          <a:prstGeom prst="rect">
            <a:avLst/>
          </a:prstGeom>
          <a:noFill/>
          <a:ln/>
        </p:spPr>
        <p:txBody>
          <a:bodyPr wrap="square" lIns="0" tIns="0" rIns="0" bIns="0" rtlCol="0" anchor="ctr"/>
          <a:lstStyle/>
          <a:p>
            <a:pPr indent="0" marL="0">
              <a:buNone/>
            </a:pPr>
            <a:r>
              <a:rPr lang="en-US" sz="1500" dirty="0">
                <a:solidFill>
                  <a:schemeClr val="tx1"/>
                </a:solidFill>
              </a:rPr>
              <a:t>proxy.conf.json → /alfresco a :8080</a:t>
            </a:r>
            <a:endParaRPr lang="en-US" sz="1500" dirty="0"/>
          </a:p>
        </p:txBody>
      </p:sp>
      <p:pic>
        <p:nvPicPr>
          <p:cNvPr id="14" name="check-5.029999999999999" descr="preencoded.png">    </p:cNvPr>
          <p:cNvPicPr>
            <a:picLocks noChangeAspect="1"/>
          </p:cNvPicPr>
          <p:nvPr/>
        </p:nvPicPr>
        <p:blipFill>
          <a:blip r:embed="rId5"/>
          <a:stretch>
            <a:fillRect/>
          </a:stretch>
        </p:blipFill>
        <p:spPr>
          <a:xfrm>
            <a:off x="7498080" y="4663440"/>
            <a:ext cx="292608" cy="292608"/>
          </a:xfrm>
          <a:prstGeom prst="rect">
            <a:avLst/>
          </a:prstGeom>
        </p:spPr>
      </p:pic>
      <p:sp>
        <p:nvSpPr>
          <p:cNvPr id="15" name="Text 8"/>
          <p:cNvSpPr txBox="1"/>
          <p:nvPr/>
        </p:nvSpPr>
        <p:spPr>
          <a:xfrm>
            <a:off x="7909560" y="4599432"/>
            <a:ext cx="3703320" cy="420624"/>
          </a:xfrm>
          <a:prstGeom prst="rect">
            <a:avLst/>
          </a:prstGeom>
          <a:noFill/>
          <a:ln/>
        </p:spPr>
        <p:txBody>
          <a:bodyPr wrap="square" lIns="0" tIns="0" rIns="0" bIns="0" rtlCol="0" anchor="ctr"/>
          <a:lstStyle/>
          <a:p>
            <a:pPr indent="0" marL="0">
              <a:buNone/>
            </a:pPr>
            <a:r>
              <a:rPr lang="en-US" sz="1500" dirty="0">
                <a:solidFill>
                  <a:schemeClr val="tx1"/>
                </a:solidFill>
              </a:rPr>
              <a:t>Subir el budget de producción (ADF &gt; 1 MB)</a:t>
            </a:r>
            <a:endParaRPr lang="en-US" sz="1500" dirty="0"/>
          </a:p>
        </p:txBody>
      </p:sp>
      <p:pic>
        <p:nvPicPr>
          <p:cNvPr id="16" name="check-5.749999999999999" descr="preencoded.png">    </p:cNvPr>
          <p:cNvPicPr>
            <a:picLocks noChangeAspect="1"/>
          </p:cNvPicPr>
          <p:nvPr/>
        </p:nvPicPr>
        <p:blipFill>
          <a:blip r:embed="rId6"/>
          <a:stretch>
            <a:fillRect/>
          </a:stretch>
        </p:blipFill>
        <p:spPr>
          <a:xfrm>
            <a:off x="7498080" y="5321808"/>
            <a:ext cx="292608" cy="292608"/>
          </a:xfrm>
          <a:prstGeom prst="rect">
            <a:avLst/>
          </a:prstGeom>
        </p:spPr>
      </p:pic>
      <p:sp>
        <p:nvSpPr>
          <p:cNvPr id="17" name="Text 9"/>
          <p:cNvSpPr txBox="1"/>
          <p:nvPr/>
        </p:nvSpPr>
        <p:spPr>
          <a:xfrm>
            <a:off x="7909560" y="5257800"/>
            <a:ext cx="3703320" cy="420624"/>
          </a:xfrm>
          <a:prstGeom prst="rect">
            <a:avLst/>
          </a:prstGeom>
          <a:noFill/>
          <a:ln/>
        </p:spPr>
        <p:txBody>
          <a:bodyPr wrap="square" lIns="0" tIns="0" rIns="0" bIns="0" rtlCol="0" anchor="ctr"/>
          <a:lstStyle/>
          <a:p>
            <a:pPr indent="0" marL="0">
              <a:buNone/>
            </a:pPr>
            <a:r>
              <a:rPr lang="en-US" sz="1500" dirty="0">
                <a:solidFill>
                  <a:schemeClr val="tx1"/>
                </a:solidFill>
              </a:rPr>
              <a:t>Componente: imports: [LoginComponent]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Cinco errores reales y su solución</a:t>
            </a:r>
            <a:endParaRPr lang="en-US" sz="3400" dirty="0"/>
          </a:p>
        </p:txBody>
      </p:sp>
      <p:sp>
        <p:nvSpPr>
          <p:cNvPr id="3" name="error-1.5"/>
          <p:cNvSpPr/>
          <p:nvPr/>
        </p:nvSpPr>
        <p:spPr>
          <a:xfrm>
            <a:off x="548640" y="1371600"/>
            <a:ext cx="11064240" cy="841248"/>
          </a:xfrm>
          <a:prstGeom prst="roundRect">
            <a:avLst>
              <a:gd name="adj" fmla="val 10870"/>
            </a:avLst>
          </a:prstGeom>
          <a:solidFill>
            <a:schemeClr val="bg2"/>
          </a:solidFill>
          <a:ln/>
        </p:spPr>
      </p:sp>
      <p:pic>
        <p:nvPicPr>
          <p:cNvPr id="4" name="error-icono-1.5" descr="preencoded.png">    </p:cNvPr>
          <p:cNvPicPr>
            <a:picLocks noChangeAspect="1"/>
          </p:cNvPicPr>
          <p:nvPr/>
        </p:nvPicPr>
        <p:blipFill>
          <a:blip r:embed="rId1"/>
          <a:stretch>
            <a:fillRect/>
          </a:stretch>
        </p:blipFill>
        <p:spPr>
          <a:xfrm>
            <a:off x="777240" y="1609344"/>
            <a:ext cx="365760" cy="365760"/>
          </a:xfrm>
          <a:prstGeom prst="rect">
            <a:avLst/>
          </a:prstGeom>
        </p:spPr>
      </p:pic>
      <p:sp>
        <p:nvSpPr>
          <p:cNvPr id="5" name="Text 2"/>
          <p:cNvSpPr txBox="1"/>
          <p:nvPr/>
        </p:nvSpPr>
        <p:spPr>
          <a:xfrm>
            <a:off x="1325880" y="1371600"/>
            <a:ext cx="5120640" cy="841248"/>
          </a:xfrm>
          <a:prstGeom prst="rect">
            <a:avLst/>
          </a:prstGeom>
          <a:noFill/>
          <a:ln/>
        </p:spPr>
        <p:txBody>
          <a:bodyPr wrap="square" lIns="0" tIns="0" rIns="0" bIns="0" rtlCol="0" anchor="ctr"/>
          <a:lstStyle/>
          <a:p>
            <a:pPr indent="0" marL="0">
              <a:buNone/>
            </a:pPr>
            <a:r>
              <a:rPr lang="en-US" sz="1500" b="1" dirty="0">
                <a:solidFill>
                  <a:schemeClr val="tx2"/>
                </a:solidFill>
              </a:rPr>
              <a:t>Página en blanco + «app.config.json contains validation errors»</a:t>
            </a:r>
            <a:endParaRPr lang="en-US" sz="1500" dirty="0"/>
          </a:p>
        </p:txBody>
      </p:sp>
      <p:sp>
        <p:nvSpPr>
          <p:cNvPr id="6" name="Text 3"/>
          <p:cNvSpPr txBox="1"/>
          <p:nvPr/>
        </p:nvSpPr>
        <p:spPr>
          <a:xfrm>
            <a:off x="6583680" y="1371600"/>
            <a:ext cx="4846320" cy="841248"/>
          </a:xfrm>
          <a:prstGeom prst="rect">
            <a:avLst/>
          </a:prstGeom>
          <a:noFill/>
          <a:ln/>
        </p:spPr>
        <p:txBody>
          <a:bodyPr wrap="square" lIns="0" tIns="0" rIns="0" bIns="0" rtlCol="0" anchor="ctr"/>
          <a:lstStyle/>
          <a:p>
            <a:pPr indent="0" marL="0">
              <a:buNone/>
            </a:pPr>
            <a:r>
              <a:rPr lang="en-US" sz="1500" dirty="0">
                <a:solidFill>
                  <a:schemeClr val="tx1"/>
                </a:solidFill>
              </a:rPr>
              <a:t>El archivo no está en la raíz: Angular 14–17 en src/ (y en assets), 18+ en public/</a:t>
            </a:r>
            <a:endParaRPr lang="en-US" sz="1500" dirty="0"/>
          </a:p>
        </p:txBody>
      </p:sp>
      <p:sp>
        <p:nvSpPr>
          <p:cNvPr id="7" name="error-2.54"/>
          <p:cNvSpPr/>
          <p:nvPr/>
        </p:nvSpPr>
        <p:spPr>
          <a:xfrm>
            <a:off x="548640" y="2322576"/>
            <a:ext cx="11064240" cy="841248"/>
          </a:xfrm>
          <a:prstGeom prst="roundRect">
            <a:avLst>
              <a:gd name="adj" fmla="val 10870"/>
            </a:avLst>
          </a:prstGeom>
          <a:solidFill>
            <a:schemeClr val="bg2"/>
          </a:solidFill>
          <a:ln/>
        </p:spPr>
      </p:sp>
      <p:pic>
        <p:nvPicPr>
          <p:cNvPr id="8" name="error-icono-2.54" descr="preencoded.png">    </p:cNvPr>
          <p:cNvPicPr>
            <a:picLocks noChangeAspect="1"/>
          </p:cNvPicPr>
          <p:nvPr/>
        </p:nvPicPr>
        <p:blipFill>
          <a:blip r:embed="rId2"/>
          <a:stretch>
            <a:fillRect/>
          </a:stretch>
        </p:blipFill>
        <p:spPr>
          <a:xfrm>
            <a:off x="777240" y="2560320"/>
            <a:ext cx="365760" cy="365760"/>
          </a:xfrm>
          <a:prstGeom prst="rect">
            <a:avLst/>
          </a:prstGeom>
        </p:spPr>
      </p:pic>
      <p:sp>
        <p:nvSpPr>
          <p:cNvPr id="9" name="Text 5"/>
          <p:cNvSpPr txBox="1"/>
          <p:nvPr/>
        </p:nvSpPr>
        <p:spPr>
          <a:xfrm>
            <a:off x="1325880" y="2322576"/>
            <a:ext cx="5120640" cy="841248"/>
          </a:xfrm>
          <a:prstGeom prst="rect">
            <a:avLst/>
          </a:prstGeom>
          <a:noFill/>
          <a:ln/>
        </p:spPr>
        <p:txBody>
          <a:bodyPr wrap="square" lIns="0" tIns="0" rIns="0" bIns="0" rtlCol="0" anchor="ctr"/>
          <a:lstStyle/>
          <a:p>
            <a:pPr indent="0" marL="0">
              <a:buNone/>
            </a:pPr>
            <a:r>
              <a:rPr lang="en-US" sz="1500" b="1" dirty="0">
                <a:solidFill>
                  <a:schemeClr val="tx2"/>
                </a:solidFill>
              </a:rPr>
              <a:t>NullInjectorError: No provider for RedirectAuthService</a:t>
            </a:r>
            <a:endParaRPr lang="en-US" sz="1500" dirty="0"/>
          </a:p>
        </p:txBody>
      </p:sp>
      <p:sp>
        <p:nvSpPr>
          <p:cNvPr id="10" name="Text 6"/>
          <p:cNvSpPr txBox="1"/>
          <p:nvPr/>
        </p:nvSpPr>
        <p:spPr>
          <a:xfrm>
            <a:off x="6583680" y="2322576"/>
            <a:ext cx="4846320" cy="841248"/>
          </a:xfrm>
          <a:prstGeom prst="rect">
            <a:avLst/>
          </a:prstGeom>
          <a:noFill/>
          <a:ln/>
        </p:spPr>
        <p:txBody>
          <a:bodyPr wrap="square" lIns="0" tIns="0" rIns="0" bIns="0" rtlCol="0" anchor="ctr"/>
          <a:lstStyle/>
          <a:p>
            <a:pPr indent="0" marL="0">
              <a:buNone/>
            </a:pPr>
            <a:r>
              <a:rPr lang="en-US" sz="1500" dirty="0">
                <a:solidFill>
                  <a:schemeClr val="tx1"/>
                </a:solidFill>
              </a:rPr>
              <a:t>ADF 6/7: falta AuthModule.forRoot({ useHash: true })</a:t>
            </a:r>
            <a:endParaRPr lang="en-US" sz="1500" dirty="0"/>
          </a:p>
        </p:txBody>
      </p:sp>
      <p:sp>
        <p:nvSpPr>
          <p:cNvPr id="11" name="error-3.58"/>
          <p:cNvSpPr/>
          <p:nvPr/>
        </p:nvSpPr>
        <p:spPr>
          <a:xfrm>
            <a:off x="548640" y="3273552"/>
            <a:ext cx="11064240" cy="841248"/>
          </a:xfrm>
          <a:prstGeom prst="roundRect">
            <a:avLst>
              <a:gd name="adj" fmla="val 10870"/>
            </a:avLst>
          </a:prstGeom>
          <a:solidFill>
            <a:schemeClr val="bg2"/>
          </a:solidFill>
          <a:ln/>
        </p:spPr>
      </p:sp>
      <p:pic>
        <p:nvPicPr>
          <p:cNvPr id="12" name="error-icono-3.58" descr="preencoded.png">    </p:cNvPr>
          <p:cNvPicPr>
            <a:picLocks noChangeAspect="1"/>
          </p:cNvPicPr>
          <p:nvPr/>
        </p:nvPicPr>
        <p:blipFill>
          <a:blip r:embed="rId3"/>
          <a:stretch>
            <a:fillRect/>
          </a:stretch>
        </p:blipFill>
        <p:spPr>
          <a:xfrm>
            <a:off x="777240" y="3511296"/>
            <a:ext cx="365760" cy="365760"/>
          </a:xfrm>
          <a:prstGeom prst="rect">
            <a:avLst/>
          </a:prstGeom>
        </p:spPr>
      </p:pic>
      <p:sp>
        <p:nvSpPr>
          <p:cNvPr id="13" name="Text 8"/>
          <p:cNvSpPr txBox="1"/>
          <p:nvPr/>
        </p:nvSpPr>
        <p:spPr>
          <a:xfrm>
            <a:off x="1325880" y="3273552"/>
            <a:ext cx="5120640" cy="841248"/>
          </a:xfrm>
          <a:prstGeom prst="rect">
            <a:avLst/>
          </a:prstGeom>
          <a:noFill/>
          <a:ln/>
        </p:spPr>
        <p:txBody>
          <a:bodyPr wrap="square" lIns="0" tIns="0" rIns="0" bIns="0" rtlCol="0" anchor="ctr"/>
          <a:lstStyle/>
          <a:p>
            <a:pPr indent="0" marL="0">
              <a:buNone/>
            </a:pPr>
            <a:r>
              <a:rPr lang="en-US" sz="1500" b="1" dirty="0">
                <a:solidFill>
                  <a:schemeClr val="tx2"/>
                </a:solidFill>
              </a:rPr>
              <a:t>Errores TS dentro de node_modules (Angular 14/16)</a:t>
            </a:r>
            <a:endParaRPr lang="en-US" sz="1500" dirty="0"/>
          </a:p>
        </p:txBody>
      </p:sp>
      <p:sp>
        <p:nvSpPr>
          <p:cNvPr id="14" name="Text 9"/>
          <p:cNvSpPr txBox="1"/>
          <p:nvPr/>
        </p:nvSpPr>
        <p:spPr>
          <a:xfrm>
            <a:off x="6583680" y="3273552"/>
            <a:ext cx="4846320" cy="841248"/>
          </a:xfrm>
          <a:prstGeom prst="rect">
            <a:avLst/>
          </a:prstGeom>
          <a:noFill/>
          <a:ln/>
        </p:spPr>
        <p:txBody>
          <a:bodyPr wrap="square" lIns="0" tIns="0" rIns="0" bIns="0" rtlCol="0" anchor="ctr"/>
          <a:lstStyle/>
          <a:p>
            <a:pPr indent="0" marL="0">
              <a:buNone/>
            </a:pPr>
            <a:r>
              <a:rPr lang="en-US" sz="1500" dirty="0">
                <a:solidFill>
                  <a:schemeClr val="tx1"/>
                </a:solidFill>
              </a:rPr>
              <a:t>skipLibCheck: true; en Angular 14 además @types/node@16</a:t>
            </a:r>
            <a:endParaRPr lang="en-US" sz="1500" dirty="0"/>
          </a:p>
        </p:txBody>
      </p:sp>
      <p:sp>
        <p:nvSpPr>
          <p:cNvPr id="15" name="error-4.62"/>
          <p:cNvSpPr/>
          <p:nvPr/>
        </p:nvSpPr>
        <p:spPr>
          <a:xfrm>
            <a:off x="548640" y="4224528"/>
            <a:ext cx="11064240" cy="841248"/>
          </a:xfrm>
          <a:prstGeom prst="roundRect">
            <a:avLst>
              <a:gd name="adj" fmla="val 10870"/>
            </a:avLst>
          </a:prstGeom>
          <a:solidFill>
            <a:schemeClr val="bg2"/>
          </a:solidFill>
          <a:ln/>
        </p:spPr>
      </p:sp>
      <p:pic>
        <p:nvPicPr>
          <p:cNvPr id="16" name="error-icono-4.62" descr="preencoded.png">    </p:cNvPr>
          <p:cNvPicPr>
            <a:picLocks noChangeAspect="1"/>
          </p:cNvPicPr>
          <p:nvPr/>
        </p:nvPicPr>
        <p:blipFill>
          <a:blip r:embed="rId4"/>
          <a:stretch>
            <a:fillRect/>
          </a:stretch>
        </p:blipFill>
        <p:spPr>
          <a:xfrm>
            <a:off x="777240" y="4462272"/>
            <a:ext cx="365760" cy="365760"/>
          </a:xfrm>
          <a:prstGeom prst="rect">
            <a:avLst/>
          </a:prstGeom>
        </p:spPr>
      </p:pic>
      <p:sp>
        <p:nvSpPr>
          <p:cNvPr id="17" name="Text 11"/>
          <p:cNvSpPr txBox="1"/>
          <p:nvPr/>
        </p:nvSpPr>
        <p:spPr>
          <a:xfrm>
            <a:off x="1325880" y="4224528"/>
            <a:ext cx="5120640" cy="841248"/>
          </a:xfrm>
          <a:prstGeom prst="rect">
            <a:avLst/>
          </a:prstGeom>
          <a:noFill/>
          <a:ln/>
        </p:spPr>
        <p:txBody>
          <a:bodyPr wrap="square" lIns="0" tIns="0" rIns="0" bIns="0" rtlCol="0" anchor="ctr"/>
          <a:lstStyle/>
          <a:p>
            <a:pPr indent="0" marL="0">
              <a:buNone/>
            </a:pPr>
            <a:r>
              <a:rPr lang="en-US" sz="1500" b="1" dirty="0">
                <a:solidFill>
                  <a:schemeClr val="tx2"/>
                </a:solidFill>
              </a:rPr>
              <a:t>bundle initial exceeded maximum budget</a:t>
            </a:r>
            <a:endParaRPr lang="en-US" sz="1500" dirty="0"/>
          </a:p>
        </p:txBody>
      </p:sp>
      <p:sp>
        <p:nvSpPr>
          <p:cNvPr id="18" name="Text 12"/>
          <p:cNvSpPr txBox="1"/>
          <p:nvPr/>
        </p:nvSpPr>
        <p:spPr>
          <a:xfrm>
            <a:off x="6583680" y="4224528"/>
            <a:ext cx="4846320" cy="841248"/>
          </a:xfrm>
          <a:prstGeom prst="rect">
            <a:avLst/>
          </a:prstGeom>
          <a:noFill/>
          <a:ln/>
        </p:spPr>
        <p:txBody>
          <a:bodyPr wrap="square" lIns="0" tIns="0" rIns="0" bIns="0" rtlCol="0" anchor="ctr"/>
          <a:lstStyle/>
          <a:p>
            <a:pPr indent="0" marL="0">
              <a:buNone/>
            </a:pPr>
            <a:r>
              <a:rPr lang="en-US" sz="1500" dirty="0">
                <a:solidFill>
                  <a:schemeClr val="tx1"/>
                </a:solidFill>
              </a:rPr>
              <a:t>Subir los budgets de producción en angular.json</a:t>
            </a:r>
            <a:endParaRPr lang="en-US" sz="1500" dirty="0"/>
          </a:p>
        </p:txBody>
      </p:sp>
      <p:sp>
        <p:nvSpPr>
          <p:cNvPr id="19" name="error-5.66"/>
          <p:cNvSpPr/>
          <p:nvPr/>
        </p:nvSpPr>
        <p:spPr>
          <a:xfrm>
            <a:off x="548640" y="5175504"/>
            <a:ext cx="11064240" cy="841248"/>
          </a:xfrm>
          <a:prstGeom prst="roundRect">
            <a:avLst>
              <a:gd name="adj" fmla="val 10870"/>
            </a:avLst>
          </a:prstGeom>
          <a:solidFill>
            <a:schemeClr val="bg2"/>
          </a:solidFill>
          <a:ln/>
        </p:spPr>
      </p:sp>
      <p:pic>
        <p:nvPicPr>
          <p:cNvPr id="20" name="error-icono-5.66" descr="preencoded.png">    </p:cNvPr>
          <p:cNvPicPr>
            <a:picLocks noChangeAspect="1"/>
          </p:cNvPicPr>
          <p:nvPr/>
        </p:nvPicPr>
        <p:blipFill>
          <a:blip r:embed="rId5"/>
          <a:stretch>
            <a:fillRect/>
          </a:stretch>
        </p:blipFill>
        <p:spPr>
          <a:xfrm>
            <a:off x="777240" y="5413248"/>
            <a:ext cx="365760" cy="365760"/>
          </a:xfrm>
          <a:prstGeom prst="rect">
            <a:avLst/>
          </a:prstGeom>
        </p:spPr>
      </p:pic>
      <p:sp>
        <p:nvSpPr>
          <p:cNvPr id="21" name="Text 14"/>
          <p:cNvSpPr txBox="1"/>
          <p:nvPr/>
        </p:nvSpPr>
        <p:spPr>
          <a:xfrm>
            <a:off x="1325880" y="5175504"/>
            <a:ext cx="5120640" cy="841248"/>
          </a:xfrm>
          <a:prstGeom prst="rect">
            <a:avLst/>
          </a:prstGeom>
          <a:noFill/>
          <a:ln/>
        </p:spPr>
        <p:txBody>
          <a:bodyPr wrap="square" lIns="0" tIns="0" rIns="0" bIns="0" rtlCol="0" anchor="ctr"/>
          <a:lstStyle/>
          <a:p>
            <a:pPr indent="0" marL="0">
              <a:buNone/>
            </a:pPr>
            <a:r>
              <a:rPr lang="en-US" sz="1500" b="1" dirty="0">
                <a:solidFill>
                  <a:schemeClr val="tx2"/>
                </a:solidFill>
              </a:rPr>
              <a:t>Se ve el texto «visibility» en vez del ícono</a:t>
            </a:r>
            <a:endParaRPr lang="en-US" sz="1500" dirty="0"/>
          </a:p>
        </p:txBody>
      </p:sp>
      <p:sp>
        <p:nvSpPr>
          <p:cNvPr id="22" name="Text 15"/>
          <p:cNvSpPr txBox="1"/>
          <p:nvPr/>
        </p:nvSpPr>
        <p:spPr>
          <a:xfrm>
            <a:off x="6583680" y="5175504"/>
            <a:ext cx="4846320" cy="841248"/>
          </a:xfrm>
          <a:prstGeom prst="rect">
            <a:avLst/>
          </a:prstGeom>
          <a:noFill/>
          <a:ln/>
        </p:spPr>
        <p:txBody>
          <a:bodyPr wrap="square" lIns="0" tIns="0" rIns="0" bIns="0" rtlCol="0" anchor="ctr"/>
          <a:lstStyle/>
          <a:p>
            <a:pPr indent="0" marL="0">
              <a:buNone/>
            </a:pPr>
            <a:r>
              <a:rPr lang="en-US" sz="1500" dirty="0">
                <a:solidFill>
                  <a:schemeClr val="tx1"/>
                </a:solidFill>
              </a:rPr>
              <a:t>Falta Material Icons: ng add @angular/material o el &lt;link&gt;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¿Qué camino elegir?</a:t>
            </a:r>
            <a:endParaRPr lang="en-US" sz="3400" dirty="0"/>
          </a:p>
        </p:txBody>
      </p:sp>
      <p:graphicFrame>
        <p:nvGraphicFramePr>
          <p:cNvPr id="23" name="comparativa"/>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554480"/>
                <a:gridCol w="2103120"/>
                <a:gridCol w="2377440"/>
                <a:gridCol w="2514600"/>
                <a:gridCol w="2514600"/>
              </a:tblGrid>
              <a:tr h="548640">
                <a:tc>
                  <a:txBody>
                    <a:bodyPr/>
                    <a:lstStyle/>
                    <a:p>
                      <a:pPr indent="0" marL="0">
                        <a:buNone/>
                      </a:pP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600" b="1" dirty="0">
                          <a:solidFill>
                            <a:srgbClr val="FFFFFF"/>
                          </a:solidFill>
                        </a:rPr>
                        <a:t>Yeoman</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600" b="1" dirty="0">
                          <a:solidFill>
                            <a:srgbClr val="FFFFFF"/>
                          </a:solidFill>
                        </a:rPr>
                        <a:t>Generador Nx</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600" b="1" dirty="0">
                          <a:solidFill>
                            <a:srgbClr val="FFFFFF"/>
                          </a:solidFill>
                        </a:rPr>
                        <a:t>ACA</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c>
                  <a:txBody>
                    <a:bodyPr/>
                    <a:lstStyle/>
                    <a:p>
                      <a:pPr indent="0" marL="0">
                        <a:buNone/>
                      </a:pPr>
                      <a:r>
                        <a:rPr lang="en-US" sz="1600" b="1" dirty="0">
                          <a:solidFill>
                            <a:srgbClr val="FFFFFF"/>
                          </a:solidFill>
                        </a:rPr>
                        <a:t>ADF a mano</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rgbClr val="0B3142"/>
                    </a:solidFill>
                  </a:tcPr>
                </a:tc>
              </a:tr>
              <a:tr h="685800">
                <a:tc>
                  <a:txBody>
                    <a:bodyPr/>
                    <a:lstStyle/>
                    <a:p>
                      <a:pPr indent="0" marL="0">
                        <a:buNone/>
                      </a:pPr>
                      <a:r>
                        <a:rPr lang="en-US" sz="1600" b="1" dirty="0">
                          <a:solidFill>
                            <a:srgbClr val="1B2631"/>
                          </a:solidFill>
                        </a:rPr>
                        <a:t>Angular</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14</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19</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20 (master: 21)</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14 a 22</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85800">
                <a:tc>
                  <a:txBody>
                    <a:bodyPr/>
                    <a:lstStyle/>
                    <a:p>
                      <a:pPr indent="0" marL="0">
                        <a:buNone/>
                      </a:pPr>
                      <a:r>
                        <a:rPr lang="en-US" sz="1600" b="1" dirty="0">
                          <a:solidFill>
                            <a:srgbClr val="1B2631"/>
                          </a:solidFill>
                        </a:rPr>
                        <a:t>ADF</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6.1</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8.0</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9.0</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6.9.1 a 9.0.0</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85800">
                <a:tc>
                  <a:txBody>
                    <a:bodyPr/>
                    <a:lstStyle/>
                    <a:p>
                      <a:pPr indent="0" marL="0">
                        <a:buNone/>
                      </a:pPr>
                      <a:r>
                        <a:rPr lang="en-US" sz="1600" b="1" dirty="0">
                          <a:solidFill>
                            <a:srgbClr val="1B2631"/>
                          </a:solidFill>
                        </a:rPr>
                        <a:t>Node</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16.20.2</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24.11.1+</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24.13.1+</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16 a 24.15+</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685800">
                <a:tc>
                  <a:txBody>
                    <a:bodyPr/>
                    <a:lstStyle/>
                    <a:p>
                      <a:pPr indent="0" marL="0">
                        <a:buNone/>
                      </a:pPr>
                      <a:r>
                        <a:rPr lang="en-US" sz="1600" b="1" dirty="0">
                          <a:solidFill>
                            <a:srgbClr val="1B2631"/>
                          </a:solidFill>
                        </a:rPr>
                        <a:t>Gestor</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npm 8</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npm 11</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npm (master: pnpm)</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npm + legacy-peer-deps</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868680">
                <a:tc>
                  <a:txBody>
                    <a:bodyPr/>
                    <a:lstStyle/>
                    <a:p>
                      <a:pPr indent="0" marL="0">
                        <a:buNone/>
                      </a:pPr>
                      <a:r>
                        <a:rPr lang="en-US" sz="1600" b="1" dirty="0">
                          <a:solidFill>
                            <a:srgbClr val="1B2631"/>
                          </a:solidFill>
                        </a:rPr>
                        <a:t>Usar para</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Proyectos heredados</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App ADF nueva</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Gestor documental completo</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600" dirty="0">
                          <a:solidFill>
                            <a:srgbClr val="1B2631"/>
                          </a:solidFill>
                        </a:rPr>
                        <a:t>Proyecto Angular existente</a:t>
                      </a:r>
                      <a:endParaRPr lang="en-US" sz="1600" dirty="0"/>
                    </a:p>
                  </a:txBody>
                  <a:tcPr marL="109728" marR="109728" marT="0" marB="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4" name="Text 1"/>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600" i="1" dirty="0">
                <a:solidFill>
                  <a:schemeClr val="tx2"/>
                </a:solidFill>
              </a:rPr>
              <a:t>Regla práctica: miren la versión de Angular del proyecto y busquen su fila en la matriz de versiones.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035040" cy="1188720"/>
          </a:xfrm>
          <a:prstGeom prst="rect">
            <a:avLst/>
          </a:prstGeom>
          <a:noFill/>
          <a:ln/>
        </p:spPr>
        <p:txBody>
          <a:bodyPr wrap="square" lIns="0" tIns="0" rIns="0" bIns="0" rtlCol="0" anchor="b"/>
          <a:lstStyle/>
          <a:p>
            <a:pPr algn="l" indent="0" marL="0">
              <a:buNone/>
            </a:pPr>
            <a:r>
              <a:rPr lang="en-US" sz="4000" b="1" dirty="0">
                <a:solidFill>
                  <a:schemeClr val="bg1"/>
                </a:solidFill>
              </a:rPr>
              <a:t>Para seguir aprendiendo</a:t>
            </a:r>
            <a:endParaRPr lang="en-US" sz="4000" dirty="0"/>
          </a:p>
        </p:txBody>
      </p:sp>
      <p:sp>
        <p:nvSpPr>
          <p:cNvPr id="3" name="Text 0"/>
          <p:cNvSpPr/>
          <p:nvPr>
            <p:ph idx="101" type="body" hasCustomPrompt="1"/>
          </p:nvPr>
        </p:nvSpPr>
        <p:spPr>
          <a:xfrm>
            <a:off x="731520" y="3611880"/>
            <a:ext cx="6035040" cy="1463040"/>
          </a:xfrm>
          <a:prstGeom prst="rect">
            <a:avLst/>
          </a:prstGeom>
          <a:noFill/>
          <a:ln/>
        </p:spPr>
        <p:txBody>
          <a:bodyPr wrap="square" lIns="0" tIns="0" rIns="0" bIns="0" rtlCol="0" anchor="t"/>
          <a:lstStyle/>
          <a:p>
            <a:pPr algn="l" indent="0" marL="0">
              <a:buNone/>
            </a:pPr>
            <a:r>
              <a:rPr lang="en-US" sz="2000" dirty="0">
                <a:solidFill>
                  <a:schemeClr val="bg2"/>
                </a:solidFill>
              </a:rPr>
              <a:t>Todo el material está en el repositorio alfresco-adf-onboarding</a:t>
            </a:r>
            <a:endParaRPr lang="en-US" sz="2000" dirty="0"/>
          </a:p>
        </p:txBody>
      </p:sp>
      <p:sp>
        <p:nvSpPr>
          <p:cNvPr id="4" name="recurso-docs/00–11-circulo"/>
          <p:cNvSpPr/>
          <p:nvPr/>
        </p:nvSpPr>
        <p:spPr>
          <a:xfrm>
            <a:off x="7132320" y="914400"/>
            <a:ext cx="685800" cy="685800"/>
          </a:xfrm>
          <a:prstGeom prst="ellipse">
            <a:avLst/>
          </a:prstGeom>
          <a:solidFill>
            <a:schemeClr val="accent1"/>
          </a:solidFill>
          <a:ln/>
        </p:spPr>
      </p:sp>
      <p:pic>
        <p:nvPicPr>
          <p:cNvPr id="5" name="recurso-docs/00–11-icono" descr="preencoded.png">    </p:cNvPr>
          <p:cNvPicPr>
            <a:picLocks noChangeAspect="1"/>
          </p:cNvPicPr>
          <p:nvPr/>
        </p:nvPicPr>
        <p:blipFill>
          <a:blip r:embed="rId1"/>
          <a:stretch>
            <a:fillRect/>
          </a:stretch>
        </p:blipFill>
        <p:spPr>
          <a:xfrm>
            <a:off x="7303770" y="1085850"/>
            <a:ext cx="342900" cy="342900"/>
          </a:xfrm>
          <a:prstGeom prst="rect">
            <a:avLst/>
          </a:prstGeom>
        </p:spPr>
      </p:pic>
      <p:sp>
        <p:nvSpPr>
          <p:cNvPr id="6" name="Text 3"/>
          <p:cNvSpPr txBox="1"/>
          <p:nvPr/>
        </p:nvSpPr>
        <p:spPr>
          <a:xfrm>
            <a:off x="8001000" y="896112"/>
            <a:ext cx="3657600" cy="384048"/>
          </a:xfrm>
          <a:prstGeom prst="rect">
            <a:avLst/>
          </a:prstGeom>
          <a:noFill/>
          <a:ln/>
        </p:spPr>
        <p:txBody>
          <a:bodyPr wrap="square" lIns="0" tIns="0" rIns="0" bIns="0" rtlCol="0" anchor="ctr"/>
          <a:lstStyle/>
          <a:p>
            <a:pPr indent="0" marL="0">
              <a:buNone/>
            </a:pPr>
            <a:r>
              <a:rPr lang="en-US" sz="1800" b="1" dirty="0">
                <a:solidFill>
                  <a:schemeClr val="bg1"/>
                </a:solidFill>
              </a:rPr>
              <a:t>docs/00–11</a:t>
            </a:r>
            <a:endParaRPr lang="en-US" sz="1800" dirty="0"/>
          </a:p>
        </p:txBody>
      </p:sp>
      <p:sp>
        <p:nvSpPr>
          <p:cNvPr id="7" name="Text 4"/>
          <p:cNvSpPr txBox="1"/>
          <p:nvPr/>
        </p:nvSpPr>
        <p:spPr>
          <a:xfrm>
            <a:off x="8001000" y="1280160"/>
            <a:ext cx="3657600" cy="731520"/>
          </a:xfrm>
          <a:prstGeom prst="rect">
            <a:avLst/>
          </a:prstGeom>
          <a:noFill/>
          <a:ln/>
        </p:spPr>
        <p:txBody>
          <a:bodyPr wrap="square" lIns="0" tIns="0" rIns="0" bIns="0" rtlCol="0" anchor="t"/>
          <a:lstStyle/>
          <a:p>
            <a:pPr indent="0" marL="0">
              <a:buNone/>
            </a:pPr>
            <a:r>
              <a:rPr lang="en-US" sz="1400" dirty="0">
                <a:solidFill>
                  <a:schemeClr val="bg2"/>
                </a:solidFill>
              </a:rPr>
              <a:t>Guía completa por versión de Angular</a:t>
            </a:r>
            <a:endParaRPr lang="en-US" sz="1400" dirty="0"/>
          </a:p>
        </p:txBody>
      </p:sp>
      <p:sp>
        <p:nvSpPr>
          <p:cNvPr id="8" name="recurso-Tutorial mini app-circulo"/>
          <p:cNvSpPr/>
          <p:nvPr/>
        </p:nvSpPr>
        <p:spPr>
          <a:xfrm>
            <a:off x="7132320" y="2240280"/>
            <a:ext cx="685800" cy="685800"/>
          </a:xfrm>
          <a:prstGeom prst="ellipse">
            <a:avLst/>
          </a:prstGeom>
          <a:solidFill>
            <a:schemeClr val="accent1"/>
          </a:solidFill>
          <a:ln/>
        </p:spPr>
      </p:sp>
      <p:pic>
        <p:nvPicPr>
          <p:cNvPr id="9" name="recurso-Tutorial mini app-icono" descr="preencoded.png">    </p:cNvPr>
          <p:cNvPicPr>
            <a:picLocks noChangeAspect="1"/>
          </p:cNvPicPr>
          <p:nvPr/>
        </p:nvPicPr>
        <p:blipFill>
          <a:blip r:embed="rId2"/>
          <a:stretch>
            <a:fillRect/>
          </a:stretch>
        </p:blipFill>
        <p:spPr>
          <a:xfrm>
            <a:off x="7303770" y="2411730"/>
            <a:ext cx="342900" cy="342900"/>
          </a:xfrm>
          <a:prstGeom prst="rect">
            <a:avLst/>
          </a:prstGeom>
        </p:spPr>
      </p:pic>
      <p:sp>
        <p:nvSpPr>
          <p:cNvPr id="10" name="Text 6"/>
          <p:cNvSpPr txBox="1"/>
          <p:nvPr/>
        </p:nvSpPr>
        <p:spPr>
          <a:xfrm>
            <a:off x="8001000" y="2221992"/>
            <a:ext cx="3657600" cy="384048"/>
          </a:xfrm>
          <a:prstGeom prst="rect">
            <a:avLst/>
          </a:prstGeom>
          <a:noFill/>
          <a:ln/>
        </p:spPr>
        <p:txBody>
          <a:bodyPr wrap="square" lIns="0" tIns="0" rIns="0" bIns="0" rtlCol="0" anchor="ctr"/>
          <a:lstStyle/>
          <a:p>
            <a:pPr indent="0" marL="0">
              <a:buNone/>
            </a:pPr>
            <a:r>
              <a:rPr lang="en-US" sz="1800" b="1" dirty="0">
                <a:solidFill>
                  <a:schemeClr val="bg1"/>
                </a:solidFill>
              </a:rPr>
              <a:t>Tutorial mini app</a:t>
            </a:r>
            <a:endParaRPr lang="en-US" sz="1800" dirty="0"/>
          </a:p>
        </p:txBody>
      </p:sp>
      <p:sp>
        <p:nvSpPr>
          <p:cNvPr id="11" name="Text 7"/>
          <p:cNvSpPr txBox="1"/>
          <p:nvPr/>
        </p:nvSpPr>
        <p:spPr>
          <a:xfrm>
            <a:off x="8001000" y="2606040"/>
            <a:ext cx="3657600" cy="731520"/>
          </a:xfrm>
          <a:prstGeom prst="rect">
            <a:avLst/>
          </a:prstGeom>
          <a:noFill/>
          <a:ln/>
        </p:spPr>
        <p:txBody>
          <a:bodyPr wrap="square" lIns="0" tIns="0" rIns="0" bIns="0" rtlCol="0" anchor="t"/>
          <a:lstStyle/>
          <a:p>
            <a:pPr indent="0" marL="0">
              <a:buNone/>
            </a:pPr>
            <a:r>
              <a:rPr lang="en-US" sz="1400" dirty="0">
                <a:solidFill>
                  <a:schemeClr val="bg2"/>
                </a:solidFill>
              </a:rPr>
              <a:t>Login → documentos → visor (Angular 20 + ADF 9)</a:t>
            </a:r>
            <a:endParaRPr lang="en-US" sz="1400" dirty="0"/>
          </a:p>
        </p:txBody>
      </p:sp>
      <p:sp>
        <p:nvSpPr>
          <p:cNvPr id="12" name="recurso-scripts/-circulo"/>
          <p:cNvSpPr/>
          <p:nvPr/>
        </p:nvSpPr>
        <p:spPr>
          <a:xfrm>
            <a:off x="7132320" y="3566160"/>
            <a:ext cx="685800" cy="685800"/>
          </a:xfrm>
          <a:prstGeom prst="ellipse">
            <a:avLst/>
          </a:prstGeom>
          <a:solidFill>
            <a:schemeClr val="accent1"/>
          </a:solidFill>
          <a:ln/>
        </p:spPr>
      </p:sp>
      <p:pic>
        <p:nvPicPr>
          <p:cNvPr id="13" name="recurso-scripts/-icono" descr="preencoded.png">    </p:cNvPr>
          <p:cNvPicPr>
            <a:picLocks noChangeAspect="1"/>
          </p:cNvPicPr>
          <p:nvPr/>
        </p:nvPicPr>
        <p:blipFill>
          <a:blip r:embed="rId3"/>
          <a:stretch>
            <a:fillRect/>
          </a:stretch>
        </p:blipFill>
        <p:spPr>
          <a:xfrm>
            <a:off x="7303770" y="3737610"/>
            <a:ext cx="342900" cy="342900"/>
          </a:xfrm>
          <a:prstGeom prst="rect">
            <a:avLst/>
          </a:prstGeom>
        </p:spPr>
      </p:pic>
      <p:sp>
        <p:nvSpPr>
          <p:cNvPr id="14" name="Text 9"/>
          <p:cNvSpPr txBox="1"/>
          <p:nvPr/>
        </p:nvSpPr>
        <p:spPr>
          <a:xfrm>
            <a:off x="8001000" y="3547872"/>
            <a:ext cx="3657600" cy="384048"/>
          </a:xfrm>
          <a:prstGeom prst="rect">
            <a:avLst/>
          </a:prstGeom>
          <a:noFill/>
          <a:ln/>
        </p:spPr>
        <p:txBody>
          <a:bodyPr wrap="square" lIns="0" tIns="0" rIns="0" bIns="0" rtlCol="0" anchor="ctr"/>
          <a:lstStyle/>
          <a:p>
            <a:pPr indent="0" marL="0">
              <a:buNone/>
            </a:pPr>
            <a:r>
              <a:rPr lang="en-US" sz="1800" b="1" dirty="0">
                <a:solidFill>
                  <a:schemeClr val="bg1"/>
                </a:solidFill>
              </a:rPr>
              <a:t>scripts/</a:t>
            </a:r>
            <a:endParaRPr lang="en-US" sz="1800" dirty="0"/>
          </a:p>
        </p:txBody>
      </p:sp>
      <p:sp>
        <p:nvSpPr>
          <p:cNvPr id="15" name="Text 10"/>
          <p:cNvSpPr txBox="1"/>
          <p:nvPr/>
        </p:nvSpPr>
        <p:spPr>
          <a:xfrm>
            <a:off x="8001000" y="3931920"/>
            <a:ext cx="3657600" cy="731520"/>
          </a:xfrm>
          <a:prstGeom prst="rect">
            <a:avLst/>
          </a:prstGeom>
          <a:noFill/>
          <a:ln/>
        </p:spPr>
        <p:txBody>
          <a:bodyPr wrap="square" lIns="0" tIns="0" rIns="0" bIns="0" rtlCol="0" anchor="t"/>
          <a:lstStyle/>
          <a:p>
            <a:pPr indent="0" marL="0">
              <a:buNone/>
            </a:pPr>
            <a:r>
              <a:rPr lang="en-US" sz="1400" dirty="0">
                <a:solidFill>
                  <a:schemeClr val="bg2"/>
                </a:solidFill>
              </a:rPr>
              <a:t>probar-angular-adf.sh y probar-aca.sh</a:t>
            </a:r>
            <a:endParaRPr lang="en-US" sz="1400" dirty="0"/>
          </a:p>
        </p:txBody>
      </p:sp>
      <p:sp>
        <p:nvSpPr>
          <p:cNvPr id="16" name="recurso-Repos oficiales-circulo"/>
          <p:cNvSpPr/>
          <p:nvPr/>
        </p:nvSpPr>
        <p:spPr>
          <a:xfrm>
            <a:off x="7132320" y="4892040"/>
            <a:ext cx="685800" cy="685800"/>
          </a:xfrm>
          <a:prstGeom prst="ellipse">
            <a:avLst/>
          </a:prstGeom>
          <a:solidFill>
            <a:schemeClr val="accent1"/>
          </a:solidFill>
          <a:ln/>
        </p:spPr>
      </p:sp>
      <p:pic>
        <p:nvPicPr>
          <p:cNvPr id="17" name="recurso-Repos oficiales-icono" descr="preencoded.png">    </p:cNvPr>
          <p:cNvPicPr>
            <a:picLocks noChangeAspect="1"/>
          </p:cNvPicPr>
          <p:nvPr/>
        </p:nvPicPr>
        <p:blipFill>
          <a:blip r:embed="rId4"/>
          <a:stretch>
            <a:fillRect/>
          </a:stretch>
        </p:blipFill>
        <p:spPr>
          <a:xfrm>
            <a:off x="7303770" y="5063490"/>
            <a:ext cx="342900" cy="342900"/>
          </a:xfrm>
          <a:prstGeom prst="rect">
            <a:avLst/>
          </a:prstGeom>
        </p:spPr>
      </p:pic>
      <p:sp>
        <p:nvSpPr>
          <p:cNvPr id="18" name="Text 12"/>
          <p:cNvSpPr txBox="1"/>
          <p:nvPr/>
        </p:nvSpPr>
        <p:spPr>
          <a:xfrm>
            <a:off x="8001000" y="4873752"/>
            <a:ext cx="3657600" cy="384048"/>
          </a:xfrm>
          <a:prstGeom prst="rect">
            <a:avLst/>
          </a:prstGeom>
          <a:noFill/>
          <a:ln/>
        </p:spPr>
        <p:txBody>
          <a:bodyPr wrap="square" lIns="0" tIns="0" rIns="0" bIns="0" rtlCol="0" anchor="ctr"/>
          <a:lstStyle/>
          <a:p>
            <a:pPr indent="0" marL="0">
              <a:buNone/>
            </a:pPr>
            <a:r>
              <a:rPr lang="en-US" sz="1800" b="1" dirty="0">
                <a:solidFill>
                  <a:schemeClr val="bg1"/>
                </a:solidFill>
              </a:rPr>
              <a:t>Repos oficiales</a:t>
            </a:r>
            <a:endParaRPr lang="en-US" sz="1800" dirty="0"/>
          </a:p>
        </p:txBody>
      </p:sp>
      <p:sp>
        <p:nvSpPr>
          <p:cNvPr id="19" name="Text 13"/>
          <p:cNvSpPr txBox="1"/>
          <p:nvPr/>
        </p:nvSpPr>
        <p:spPr>
          <a:xfrm>
            <a:off x="8001000" y="5257800"/>
            <a:ext cx="3657600" cy="731520"/>
          </a:xfrm>
          <a:prstGeom prst="rect">
            <a:avLst/>
          </a:prstGeom>
          <a:noFill/>
          <a:ln/>
        </p:spPr>
        <p:txBody>
          <a:bodyPr wrap="square" lIns="0" tIns="0" rIns="0" bIns="0" rtlCol="0" anchor="t"/>
          <a:lstStyle/>
          <a:p>
            <a:pPr indent="0" marL="0">
              <a:buNone/>
            </a:pPr>
            <a:r>
              <a:rPr lang="en-US" sz="1400" dirty="0">
                <a:solidFill>
                  <a:schemeClr val="bg2"/>
                </a:solidFill>
              </a:rPr>
              <a:t>alfresco-ng2-components · alfresco-content-app · alfresco-front-end-generators</a:t>
            </a:r>
            <a:endParaRPr lang="en-US" sz="1400" dirty="0"/>
          </a:p>
        </p:txBody>
      </p:sp>
    </p:spTree>
  </p:cSld>
  <p:clrMapOvr>
    <a:masterClrMapping/>
  </p:clrMapOvr>
</p:sld>
</file>

<file path=ppt/theme/theme1.xml><?xml version="1.0" encoding="utf-8"?>
<a:theme xmlns:a="http://schemas.openxmlformats.org/drawingml/2006/main" name="Onboarding ADF">
  <a:themeElements>
    <a:clrScheme name="Onboarding ADF">
      <a:dk1>
        <a:srgbClr val="1B2631"/>
      </a:dk1>
      <a:lt1>
        <a:srgbClr val="FFFFFF"/>
      </a:lt1>
      <a:dk2>
        <a:srgbClr val="0B3142"/>
      </a:dk2>
      <a:lt2>
        <a:srgbClr val="EAF1F4"/>
      </a:lt2>
      <a:accent1>
        <a:srgbClr val="F28C28"/>
      </a:accent1>
      <a:accent2>
        <a:srgbClr val="2E9E5B"/>
      </a:accent2>
      <a:accent3>
        <a:srgbClr val="2B7CC1"/>
      </a:accent3>
      <a:accent4>
        <a:srgbClr val="8E5BB5"/>
      </a:accent4>
      <a:accent5>
        <a:srgbClr val="D64545"/>
      </a:accent5>
      <a:accent6>
        <a:srgbClr val="6B7A86"/>
      </a:accent6>
      <a:hlink>
        <a:srgbClr val="2B7CC1"/>
      </a:hlink>
      <a:folHlink>
        <a:srgbClr val="8E5BB5"/>
      </a:folHlink>
    </a:clrScheme>
    <a:fontScheme name="Onboarding ADF">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Cómo iniciar un proyecto Alfresco ADF</dc:title>
  <dc:subject>PptxGenJS Presentation</dc:subject>
  <dc:creator>Onboarding ADF</dc:creator>
  <cp:lastModifiedBy>Onboarding ADF</cp:lastModifiedBy>
  <cp:revision>1</cp:revision>
  <dcterms:created xsi:type="dcterms:W3CDTF">2026-10-11T05:31:28Z</dcterms:created>
  <dcterms:modified xsi:type="dcterms:W3CDTF">2026-10-11T05:31:28Z</dcterms:modified>
</cp:coreProperties>
</file>